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Alatsi" charset="1" panose="00000500000000000000"/>
      <p:regular r:id="rId31"/>
    </p:embeddedFont>
    <p:embeddedFont>
      <p:font typeface="Canva Sans" charset="1" panose="020B0503030501040103"/>
      <p:regular r:id="rId32"/>
    </p:embeddedFont>
    <p:embeddedFont>
      <p:font typeface="Canva Sans Bold" charset="1" panose="020B0803030501040103"/>
      <p:regular r:id="rId33"/>
    </p:embeddedFont>
    <p:embeddedFont>
      <p:font typeface="Chewy" charset="1" panose="02000000000000000000"/>
      <p:regular r:id="rId34"/>
    </p:embeddedFont>
    <p:embeddedFont>
      <p:font typeface="Abhaya Libre Italics" charset="1" panose="02000503000000000000"/>
      <p:regular r:id="rId35"/>
    </p:embeddedFont>
    <p:embeddedFont>
      <p:font typeface="Abhaya Libre" charset="1" panose="02000503000000000000"/>
      <p:regular r:id="rId36"/>
    </p:embeddedFont>
    <p:embeddedFont>
      <p:font typeface="Canva Sans Bold Italics" charset="1" panose="020B0803030501040103"/>
      <p:regular r:id="rId37"/>
    </p:embeddedFont>
    <p:embeddedFont>
      <p:font typeface="Canva Sans Italics" charset="1" panose="020B0503030501040103"/>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0.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26.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svg" Type="http://schemas.openxmlformats.org/officeDocument/2006/relationships/image"/><Relationship Id="rId4" Target="../media/image27.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4F2FD"/>
        </a:solidFill>
      </p:bgPr>
    </p:bg>
    <p:spTree>
      <p:nvGrpSpPr>
        <p:cNvPr id="1" name=""/>
        <p:cNvGrpSpPr/>
        <p:nvPr/>
      </p:nvGrpSpPr>
      <p:grpSpPr>
        <a:xfrm>
          <a:off x="0" y="0"/>
          <a:ext cx="0" cy="0"/>
          <a:chOff x="0" y="0"/>
          <a:chExt cx="0" cy="0"/>
        </a:xfrm>
      </p:grpSpPr>
      <p:grpSp>
        <p:nvGrpSpPr>
          <p:cNvPr name="Group 2" id="2"/>
          <p:cNvGrpSpPr/>
          <p:nvPr/>
        </p:nvGrpSpPr>
        <p:grpSpPr>
          <a:xfrm rot="0">
            <a:off x="2088471" y="0"/>
            <a:ext cx="2119542" cy="10287000"/>
            <a:chOff x="0" y="0"/>
            <a:chExt cx="558233" cy="2709333"/>
          </a:xfrm>
        </p:grpSpPr>
        <p:sp>
          <p:nvSpPr>
            <p:cNvPr name="Freeform 3" id="3"/>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66BDEE"/>
            </a:solidFill>
          </p:spPr>
        </p:sp>
        <p:sp>
          <p:nvSpPr>
            <p:cNvPr name="TextBox 4" id="4"/>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0"/>
            <a:ext cx="2119542" cy="10287000"/>
            <a:chOff x="0" y="0"/>
            <a:chExt cx="558233" cy="2709333"/>
          </a:xfrm>
        </p:grpSpPr>
        <p:sp>
          <p:nvSpPr>
            <p:cNvPr name="Freeform 6" id="6"/>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1993E9"/>
            </a:solidFill>
          </p:spPr>
        </p:sp>
        <p:sp>
          <p:nvSpPr>
            <p:cNvPr name="TextBox 7" id="7"/>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31071" y="0"/>
            <a:ext cx="2119542" cy="10287000"/>
            <a:chOff x="0" y="0"/>
            <a:chExt cx="558233" cy="2709333"/>
          </a:xfrm>
        </p:grpSpPr>
        <p:sp>
          <p:nvSpPr>
            <p:cNvPr name="Freeform 9" id="9"/>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246FCC"/>
            </a:solidFill>
          </p:spPr>
        </p:sp>
        <p:sp>
          <p:nvSpPr>
            <p:cNvPr name="TextBox 10" id="10"/>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5322291" y="3289427"/>
            <a:ext cx="11591608" cy="2920683"/>
          </a:xfrm>
          <a:prstGeom prst="rect">
            <a:avLst/>
          </a:prstGeom>
        </p:spPr>
        <p:txBody>
          <a:bodyPr anchor="t" rtlCol="false" tIns="0" lIns="0" bIns="0" rIns="0">
            <a:spAutoFit/>
          </a:bodyPr>
          <a:lstStyle/>
          <a:p>
            <a:pPr algn="ctr">
              <a:lnSpc>
                <a:spcPts val="5820"/>
              </a:lnSpc>
            </a:pPr>
            <a:r>
              <a:rPr lang="en-US" sz="6000">
                <a:solidFill>
                  <a:srgbClr val="000000"/>
                </a:solidFill>
                <a:latin typeface="Alatsi"/>
                <a:ea typeface="Alatsi"/>
                <a:cs typeface="Alatsi"/>
                <a:sym typeface="Alatsi"/>
              </a:rPr>
              <a:t>SKIP-YOLO: DOMESTIC GARBAGE DETECTION USING DEEP LEARNING IN COMPLEX MULTI-SCENES</a:t>
            </a:r>
          </a:p>
          <a:p>
            <a:pPr algn="ctr">
              <a:lnSpc>
                <a:spcPts val="5335"/>
              </a:lnSpc>
            </a:pPr>
          </a:p>
        </p:txBody>
      </p:sp>
      <p:sp>
        <p:nvSpPr>
          <p:cNvPr name="Freeform 12" id="12"/>
          <p:cNvSpPr/>
          <p:nvPr/>
        </p:nvSpPr>
        <p:spPr>
          <a:xfrm flipH="false" flipV="false" rot="0">
            <a:off x="12646898" y="-21019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4712890" y="8725001"/>
            <a:ext cx="11591608" cy="533299"/>
          </a:xfrm>
          <a:prstGeom prst="rect">
            <a:avLst/>
          </a:prstGeom>
        </p:spPr>
        <p:txBody>
          <a:bodyPr anchor="t" rtlCol="false" tIns="0" lIns="0" bIns="0" rIns="0">
            <a:spAutoFit/>
          </a:bodyPr>
          <a:lstStyle/>
          <a:p>
            <a:pPr algn="ctr">
              <a:lnSpc>
                <a:spcPts val="4376"/>
              </a:lnSpc>
            </a:pPr>
            <a:r>
              <a:rPr lang="en-US" sz="3126">
                <a:solidFill>
                  <a:srgbClr val="000000"/>
                </a:solidFill>
                <a:latin typeface="Alatsi"/>
                <a:ea typeface="Alatsi"/>
                <a:cs typeface="Alatsi"/>
                <a:sym typeface="Alatsi"/>
              </a:rPr>
              <a:t>Daffodil International University | Spring 2026</a:t>
            </a:r>
          </a:p>
        </p:txBody>
      </p:sp>
      <p:sp>
        <p:nvSpPr>
          <p:cNvPr name="Freeform 14" id="14"/>
          <p:cNvSpPr/>
          <p:nvPr/>
        </p:nvSpPr>
        <p:spPr>
          <a:xfrm flipH="false" flipV="false" rot="0">
            <a:off x="11118095" y="9258300"/>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5" id="1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4F2FD"/>
        </a:solidFill>
      </p:bgPr>
    </p:bg>
    <p:spTree>
      <p:nvGrpSpPr>
        <p:cNvPr id="1" name=""/>
        <p:cNvGrpSpPr/>
        <p:nvPr/>
      </p:nvGrpSpPr>
      <p:grpSpPr>
        <a:xfrm>
          <a:off x="0" y="0"/>
          <a:ext cx="0" cy="0"/>
          <a:chOff x="0" y="0"/>
          <a:chExt cx="0" cy="0"/>
        </a:xfrm>
      </p:grpSpPr>
      <p:sp>
        <p:nvSpPr>
          <p:cNvPr name="TextBox 2" id="2"/>
          <p:cNvSpPr txBox="true"/>
          <p:nvPr/>
        </p:nvSpPr>
        <p:spPr>
          <a:xfrm rot="0">
            <a:off x="908965" y="1656728"/>
            <a:ext cx="16230600" cy="821055"/>
          </a:xfrm>
          <a:prstGeom prst="rect">
            <a:avLst/>
          </a:prstGeom>
        </p:spPr>
        <p:txBody>
          <a:bodyPr anchor="t" rtlCol="false" tIns="0" lIns="0" bIns="0" rIns="0">
            <a:spAutoFit/>
          </a:bodyPr>
          <a:lstStyle/>
          <a:p>
            <a:pPr algn="ctr">
              <a:lnSpc>
                <a:spcPts val="6719"/>
              </a:lnSpc>
            </a:pPr>
            <a:r>
              <a:rPr lang="en-US" sz="4800">
                <a:solidFill>
                  <a:srgbClr val="000000"/>
                </a:solidFill>
                <a:latin typeface="Alatsi"/>
                <a:ea typeface="Alatsi"/>
                <a:cs typeface="Alatsi"/>
                <a:sym typeface="Alatsi"/>
              </a:rPr>
              <a:t>65_A , GROUP-02</a:t>
            </a:r>
          </a:p>
        </p:txBody>
      </p:sp>
      <p:sp>
        <p:nvSpPr>
          <p:cNvPr name="TextBox 3" id="3"/>
          <p:cNvSpPr txBox="true"/>
          <p:nvPr/>
        </p:nvSpPr>
        <p:spPr>
          <a:xfrm rot="0">
            <a:off x="5696358" y="8781232"/>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Daffodil International University | 2026</a:t>
            </a:r>
          </a:p>
        </p:txBody>
      </p:sp>
      <p:grpSp>
        <p:nvGrpSpPr>
          <p:cNvPr name="Group 4" id="4"/>
          <p:cNvGrpSpPr/>
          <p:nvPr/>
        </p:nvGrpSpPr>
        <p:grpSpPr>
          <a:xfrm rot="0">
            <a:off x="1390722" y="3102810"/>
            <a:ext cx="7362681" cy="4628769"/>
            <a:chOff x="0" y="0"/>
            <a:chExt cx="1939142" cy="1219100"/>
          </a:xfrm>
        </p:grpSpPr>
        <p:sp>
          <p:nvSpPr>
            <p:cNvPr name="Freeform 5" id="5"/>
            <p:cNvSpPr/>
            <p:nvPr/>
          </p:nvSpPr>
          <p:spPr>
            <a:xfrm flipH="false" flipV="false" rot="0">
              <a:off x="0" y="0"/>
              <a:ext cx="1939142" cy="1219100"/>
            </a:xfrm>
            <a:custGeom>
              <a:avLst/>
              <a:gdLst/>
              <a:ahLst/>
              <a:cxnLst/>
              <a:rect r="r" b="b" t="t" l="l"/>
              <a:pathLst>
                <a:path h="1219100" w="1939142">
                  <a:moveTo>
                    <a:pt x="53627" y="0"/>
                  </a:moveTo>
                  <a:lnTo>
                    <a:pt x="1885515" y="0"/>
                  </a:lnTo>
                  <a:cubicBezTo>
                    <a:pt x="1915133" y="0"/>
                    <a:pt x="1939142" y="24010"/>
                    <a:pt x="1939142" y="53627"/>
                  </a:cubicBezTo>
                  <a:lnTo>
                    <a:pt x="1939142" y="1165473"/>
                  </a:lnTo>
                  <a:cubicBezTo>
                    <a:pt x="1939142" y="1179696"/>
                    <a:pt x="1933492" y="1193336"/>
                    <a:pt x="1923435" y="1203393"/>
                  </a:cubicBezTo>
                  <a:cubicBezTo>
                    <a:pt x="1913378" y="1213450"/>
                    <a:pt x="1899738" y="1219100"/>
                    <a:pt x="1885515" y="1219100"/>
                  </a:cubicBezTo>
                  <a:lnTo>
                    <a:pt x="53627" y="1219100"/>
                  </a:lnTo>
                  <a:cubicBezTo>
                    <a:pt x="24010" y="1219100"/>
                    <a:pt x="0" y="1195090"/>
                    <a:pt x="0" y="1165473"/>
                  </a:cubicBezTo>
                  <a:lnTo>
                    <a:pt x="0" y="53627"/>
                  </a:lnTo>
                  <a:cubicBezTo>
                    <a:pt x="0" y="39404"/>
                    <a:pt x="5650" y="25764"/>
                    <a:pt x="15707" y="15707"/>
                  </a:cubicBezTo>
                  <a:cubicBezTo>
                    <a:pt x="25764" y="5650"/>
                    <a:pt x="39404" y="0"/>
                    <a:pt x="53627" y="0"/>
                  </a:cubicBezTo>
                  <a:close/>
                </a:path>
              </a:pathLst>
            </a:custGeom>
            <a:solidFill>
              <a:srgbClr val="FFFFFF"/>
            </a:solidFill>
          </p:spPr>
        </p:sp>
        <p:sp>
          <p:nvSpPr>
            <p:cNvPr name="TextBox 6" id="6"/>
            <p:cNvSpPr txBox="true"/>
            <p:nvPr/>
          </p:nvSpPr>
          <p:spPr>
            <a:xfrm>
              <a:off x="0" y="-38100"/>
              <a:ext cx="1939142" cy="1257200"/>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998145" y="4624464"/>
            <a:ext cx="7026120" cy="3804285"/>
          </a:xfrm>
          <a:prstGeom prst="rect">
            <a:avLst/>
          </a:prstGeom>
        </p:spPr>
        <p:txBody>
          <a:bodyPr anchor="t" rtlCol="false" tIns="0" lIns="0" bIns="0" rIns="0">
            <a:spAutoFit/>
          </a:bodyPr>
          <a:lstStyle/>
          <a:p>
            <a:pPr algn="l">
              <a:lnSpc>
                <a:spcPts val="5039"/>
              </a:lnSpc>
            </a:pPr>
            <a:r>
              <a:rPr lang="en-US" sz="3599">
                <a:solidFill>
                  <a:srgbClr val="000000"/>
                </a:solidFill>
                <a:latin typeface="Alatsi"/>
                <a:ea typeface="Alatsi"/>
                <a:cs typeface="Alatsi"/>
                <a:sym typeface="Alatsi"/>
              </a:rPr>
              <a:t>Samia Nawshin</a:t>
            </a:r>
          </a:p>
          <a:p>
            <a:pPr algn="l">
              <a:lnSpc>
                <a:spcPts val="5039"/>
              </a:lnSpc>
            </a:pPr>
            <a:r>
              <a:rPr lang="en-US" sz="3599">
                <a:solidFill>
                  <a:srgbClr val="000000"/>
                </a:solidFill>
                <a:latin typeface="Alatsi"/>
                <a:ea typeface="Alatsi"/>
                <a:cs typeface="Alatsi"/>
                <a:sym typeface="Alatsi"/>
              </a:rPr>
              <a:t> Assistant Professor</a:t>
            </a:r>
          </a:p>
          <a:p>
            <a:pPr algn="l">
              <a:lnSpc>
                <a:spcPts val="5039"/>
              </a:lnSpc>
            </a:pPr>
            <a:r>
              <a:rPr lang="en-US" sz="3599">
                <a:solidFill>
                  <a:srgbClr val="000000"/>
                </a:solidFill>
                <a:latin typeface="Alatsi"/>
                <a:ea typeface="Alatsi"/>
                <a:cs typeface="Alatsi"/>
                <a:sym typeface="Alatsi"/>
              </a:rPr>
              <a:t>Department of CSE</a:t>
            </a:r>
          </a:p>
          <a:p>
            <a:pPr algn="l">
              <a:lnSpc>
                <a:spcPts val="5039"/>
              </a:lnSpc>
            </a:pPr>
            <a:r>
              <a:rPr lang="en-US" sz="3599">
                <a:solidFill>
                  <a:srgbClr val="000000"/>
                </a:solidFill>
                <a:latin typeface="Alatsi"/>
                <a:ea typeface="Alatsi"/>
                <a:cs typeface="Alatsi"/>
                <a:sym typeface="Alatsi"/>
              </a:rPr>
              <a:t>Daffodil International University</a:t>
            </a:r>
          </a:p>
          <a:p>
            <a:pPr algn="l">
              <a:lnSpc>
                <a:spcPts val="5039"/>
              </a:lnSpc>
            </a:pPr>
          </a:p>
          <a:p>
            <a:pPr algn="l">
              <a:lnSpc>
                <a:spcPts val="5039"/>
              </a:lnSpc>
            </a:pPr>
          </a:p>
        </p:txBody>
      </p:sp>
      <p:sp>
        <p:nvSpPr>
          <p:cNvPr name="Freeform 8" id="8"/>
          <p:cNvSpPr/>
          <p:nvPr/>
        </p:nvSpPr>
        <p:spPr>
          <a:xfrm flipH="false" flipV="false" rot="0">
            <a:off x="13417488" y="6142174"/>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9534597" y="3102810"/>
            <a:ext cx="7540491" cy="4628769"/>
            <a:chOff x="0" y="0"/>
            <a:chExt cx="1985973" cy="1219100"/>
          </a:xfrm>
        </p:grpSpPr>
        <p:sp>
          <p:nvSpPr>
            <p:cNvPr name="Freeform 10" id="10"/>
            <p:cNvSpPr/>
            <p:nvPr/>
          </p:nvSpPr>
          <p:spPr>
            <a:xfrm flipH="false" flipV="false" rot="0">
              <a:off x="0" y="0"/>
              <a:ext cx="1985973" cy="1219100"/>
            </a:xfrm>
            <a:custGeom>
              <a:avLst/>
              <a:gdLst/>
              <a:ahLst/>
              <a:cxnLst/>
              <a:rect r="r" b="b" t="t" l="l"/>
              <a:pathLst>
                <a:path h="1219100" w="1985973">
                  <a:moveTo>
                    <a:pt x="52362" y="0"/>
                  </a:moveTo>
                  <a:lnTo>
                    <a:pt x="1933610" y="0"/>
                  </a:lnTo>
                  <a:cubicBezTo>
                    <a:pt x="1947498" y="0"/>
                    <a:pt x="1960816" y="5517"/>
                    <a:pt x="1970636" y="15337"/>
                  </a:cubicBezTo>
                  <a:cubicBezTo>
                    <a:pt x="1980456" y="25156"/>
                    <a:pt x="1985973" y="38475"/>
                    <a:pt x="1985973" y="52362"/>
                  </a:cubicBezTo>
                  <a:lnTo>
                    <a:pt x="1985973" y="1166737"/>
                  </a:lnTo>
                  <a:cubicBezTo>
                    <a:pt x="1985973" y="1195656"/>
                    <a:pt x="1962529" y="1219100"/>
                    <a:pt x="1933610" y="1219100"/>
                  </a:cubicBezTo>
                  <a:lnTo>
                    <a:pt x="52362" y="1219100"/>
                  </a:lnTo>
                  <a:cubicBezTo>
                    <a:pt x="23443" y="1219100"/>
                    <a:pt x="0" y="1195656"/>
                    <a:pt x="0" y="1166737"/>
                  </a:cubicBezTo>
                  <a:lnTo>
                    <a:pt x="0" y="52362"/>
                  </a:lnTo>
                  <a:cubicBezTo>
                    <a:pt x="0" y="23443"/>
                    <a:pt x="23443" y="0"/>
                    <a:pt x="52362" y="0"/>
                  </a:cubicBezTo>
                  <a:close/>
                </a:path>
              </a:pathLst>
            </a:custGeom>
            <a:solidFill>
              <a:srgbClr val="FEFEFE"/>
            </a:solidFill>
          </p:spPr>
        </p:sp>
        <p:sp>
          <p:nvSpPr>
            <p:cNvPr name="TextBox 11" id="11"/>
            <p:cNvSpPr txBox="true"/>
            <p:nvPr/>
          </p:nvSpPr>
          <p:spPr>
            <a:xfrm>
              <a:off x="0" y="-38100"/>
              <a:ext cx="1985973" cy="12572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739665" y="3615357"/>
            <a:ext cx="516960" cy="51696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9944736" y="3615357"/>
            <a:ext cx="516960" cy="51696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AutoShape 18" id="18"/>
          <p:cNvSpPr/>
          <p:nvPr/>
        </p:nvSpPr>
        <p:spPr>
          <a:xfrm>
            <a:off x="-1072730" y="9051742"/>
            <a:ext cx="7105264" cy="19050"/>
          </a:xfrm>
          <a:prstGeom prst="line">
            <a:avLst/>
          </a:prstGeom>
          <a:ln cap="flat" w="114300">
            <a:solidFill>
              <a:srgbClr val="9FC3D0"/>
            </a:solidFill>
            <a:prstDash val="solid"/>
            <a:headEnd type="none" len="sm" w="sm"/>
            <a:tailEnd type="none" len="sm" w="sm"/>
          </a:ln>
        </p:spPr>
      </p:sp>
      <p:sp>
        <p:nvSpPr>
          <p:cNvPr name="AutoShape 19" id="19"/>
          <p:cNvSpPr/>
          <p:nvPr/>
        </p:nvSpPr>
        <p:spPr>
          <a:xfrm>
            <a:off x="12306523" y="9042217"/>
            <a:ext cx="7105264" cy="19050"/>
          </a:xfrm>
          <a:prstGeom prst="line">
            <a:avLst/>
          </a:prstGeom>
          <a:ln cap="flat" w="114300">
            <a:solidFill>
              <a:srgbClr val="9FC3D0"/>
            </a:solidFill>
            <a:prstDash val="solid"/>
            <a:headEnd type="none" len="sm" w="sm"/>
            <a:tailEnd type="none" len="sm" w="sm"/>
          </a:ln>
        </p:spPr>
      </p:sp>
      <p:sp>
        <p:nvSpPr>
          <p:cNvPr name="Freeform 20" id="20"/>
          <p:cNvSpPr/>
          <p:nvPr/>
        </p:nvSpPr>
        <p:spPr>
          <a:xfrm flipH="false" flipV="false" rot="0">
            <a:off x="-4354730" y="0"/>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1" id="21"/>
          <p:cNvSpPr txBox="true"/>
          <p:nvPr/>
        </p:nvSpPr>
        <p:spPr>
          <a:xfrm rot="0">
            <a:off x="2479902" y="3486487"/>
            <a:ext cx="3878232" cy="795021"/>
          </a:xfrm>
          <a:prstGeom prst="rect">
            <a:avLst/>
          </a:prstGeom>
        </p:spPr>
        <p:txBody>
          <a:bodyPr anchor="t" rtlCol="false" tIns="0" lIns="0" bIns="0" rIns="0">
            <a:spAutoFit/>
          </a:bodyPr>
          <a:lstStyle/>
          <a:p>
            <a:pPr algn="l">
              <a:lnSpc>
                <a:spcPts val="6579"/>
              </a:lnSpc>
            </a:pPr>
            <a:r>
              <a:rPr lang="en-US" sz="4699">
                <a:solidFill>
                  <a:srgbClr val="000000"/>
                </a:solidFill>
                <a:latin typeface="Alatsi"/>
                <a:ea typeface="Alatsi"/>
                <a:cs typeface="Alatsi"/>
                <a:sym typeface="Alatsi"/>
              </a:rPr>
              <a:t>Presented To</a:t>
            </a:r>
          </a:p>
        </p:txBody>
      </p:sp>
      <p:sp>
        <p:nvSpPr>
          <p:cNvPr name="TextBox 22" id="22"/>
          <p:cNvSpPr txBox="true"/>
          <p:nvPr/>
        </p:nvSpPr>
        <p:spPr>
          <a:xfrm rot="0">
            <a:off x="9944736" y="3869709"/>
            <a:ext cx="7218734" cy="4432547"/>
          </a:xfrm>
          <a:prstGeom prst="rect">
            <a:avLst/>
          </a:prstGeom>
        </p:spPr>
        <p:txBody>
          <a:bodyPr anchor="t" rtlCol="false" tIns="0" lIns="0" bIns="0" rIns="0">
            <a:spAutoFit/>
          </a:bodyPr>
          <a:lstStyle/>
          <a:p>
            <a:pPr algn="l">
              <a:lnSpc>
                <a:spcPts val="5061"/>
              </a:lnSpc>
            </a:pPr>
          </a:p>
          <a:p>
            <a:pPr algn="l">
              <a:lnSpc>
                <a:spcPts val="5061"/>
              </a:lnSpc>
            </a:pPr>
            <a:r>
              <a:rPr lang="en-US" sz="3615">
                <a:solidFill>
                  <a:srgbClr val="000000"/>
                </a:solidFill>
                <a:latin typeface="Alatsi"/>
                <a:ea typeface="Alatsi"/>
                <a:cs typeface="Alatsi"/>
                <a:sym typeface="Alatsi"/>
              </a:rPr>
              <a:t>Shafin Ahmed (232-15-184)</a:t>
            </a:r>
          </a:p>
          <a:p>
            <a:pPr algn="l">
              <a:lnSpc>
                <a:spcPts val="5061"/>
              </a:lnSpc>
            </a:pPr>
            <a:r>
              <a:rPr lang="en-US" sz="3615">
                <a:solidFill>
                  <a:srgbClr val="000000"/>
                </a:solidFill>
                <a:latin typeface="Alatsi"/>
                <a:ea typeface="Alatsi"/>
                <a:cs typeface="Alatsi"/>
                <a:sym typeface="Alatsi"/>
              </a:rPr>
              <a:t>Sakib Ahmed (232-15-085)</a:t>
            </a:r>
          </a:p>
          <a:p>
            <a:pPr algn="l">
              <a:lnSpc>
                <a:spcPts val="5061"/>
              </a:lnSpc>
            </a:pPr>
            <a:r>
              <a:rPr lang="en-US" sz="3615">
                <a:solidFill>
                  <a:srgbClr val="000000"/>
                </a:solidFill>
                <a:latin typeface="Alatsi"/>
                <a:ea typeface="Alatsi"/>
                <a:cs typeface="Alatsi"/>
                <a:sym typeface="Alatsi"/>
              </a:rPr>
              <a:t>Abdul Alim (232-15-051)</a:t>
            </a:r>
          </a:p>
          <a:p>
            <a:pPr algn="l">
              <a:lnSpc>
                <a:spcPts val="5061"/>
              </a:lnSpc>
            </a:pPr>
            <a:r>
              <a:rPr lang="en-US" sz="3615">
                <a:solidFill>
                  <a:srgbClr val="000000"/>
                </a:solidFill>
                <a:latin typeface="Alatsi"/>
                <a:ea typeface="Alatsi"/>
                <a:cs typeface="Alatsi"/>
                <a:sym typeface="Alatsi"/>
              </a:rPr>
              <a:t>Ariful Islam Redowan (232-15-734)</a:t>
            </a:r>
          </a:p>
          <a:p>
            <a:pPr algn="l">
              <a:lnSpc>
                <a:spcPts val="5061"/>
              </a:lnSpc>
            </a:pPr>
          </a:p>
          <a:p>
            <a:pPr algn="l">
              <a:lnSpc>
                <a:spcPts val="5061"/>
              </a:lnSpc>
            </a:pPr>
          </a:p>
        </p:txBody>
      </p:sp>
      <p:sp>
        <p:nvSpPr>
          <p:cNvPr name="TextBox 23" id="23"/>
          <p:cNvSpPr txBox="true"/>
          <p:nvPr/>
        </p:nvSpPr>
        <p:spPr>
          <a:xfrm rot="0">
            <a:off x="10639349" y="3486487"/>
            <a:ext cx="3878232" cy="795021"/>
          </a:xfrm>
          <a:prstGeom prst="rect">
            <a:avLst/>
          </a:prstGeom>
        </p:spPr>
        <p:txBody>
          <a:bodyPr anchor="t" rtlCol="false" tIns="0" lIns="0" bIns="0" rIns="0">
            <a:spAutoFit/>
          </a:bodyPr>
          <a:lstStyle/>
          <a:p>
            <a:pPr algn="l">
              <a:lnSpc>
                <a:spcPts val="6579"/>
              </a:lnSpc>
            </a:pPr>
            <a:r>
              <a:rPr lang="en-US" sz="4699">
                <a:solidFill>
                  <a:srgbClr val="000000"/>
                </a:solidFill>
                <a:latin typeface="Alatsi"/>
                <a:ea typeface="Alatsi"/>
                <a:cs typeface="Alatsi"/>
                <a:sym typeface="Alatsi"/>
              </a:rPr>
              <a:t>Presented By</a:t>
            </a:r>
          </a:p>
        </p:txBody>
      </p:sp>
      <p:sp>
        <p:nvSpPr>
          <p:cNvPr name="TextBox 24" id="2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sp>
        <p:nvSpPr>
          <p:cNvPr name="TextBox 25" id="25"/>
          <p:cNvSpPr txBox="true"/>
          <p:nvPr/>
        </p:nvSpPr>
        <p:spPr>
          <a:xfrm rot="0">
            <a:off x="1168102" y="520900"/>
            <a:ext cx="16230600" cy="1943735"/>
          </a:xfrm>
          <a:prstGeom prst="rect">
            <a:avLst/>
          </a:prstGeom>
        </p:spPr>
        <p:txBody>
          <a:bodyPr anchor="t" rtlCol="false" tIns="0" lIns="0" bIns="0" rIns="0">
            <a:spAutoFit/>
          </a:bodyPr>
          <a:lstStyle/>
          <a:p>
            <a:pPr algn="ctr">
              <a:lnSpc>
                <a:spcPts val="7840"/>
              </a:lnSpc>
            </a:pPr>
            <a:r>
              <a:rPr lang="en-US" sz="5600">
                <a:solidFill>
                  <a:srgbClr val="000000"/>
                </a:solidFill>
                <a:latin typeface="Alatsi"/>
                <a:ea typeface="Alatsi"/>
                <a:cs typeface="Alatsi"/>
                <a:sym typeface="Alatsi"/>
              </a:rPr>
              <a:t>ARTIFICI</a:t>
            </a:r>
            <a:r>
              <a:rPr lang="en-US" sz="5600">
                <a:solidFill>
                  <a:srgbClr val="000000"/>
                </a:solidFill>
                <a:latin typeface="Alatsi"/>
                <a:ea typeface="Alatsi"/>
                <a:cs typeface="Alatsi"/>
                <a:sym typeface="Alatsi"/>
              </a:rPr>
              <a:t>AL INTELLIGENCE  (CSE316)</a:t>
            </a:r>
          </a:p>
          <a:p>
            <a:pPr algn="ctr">
              <a:lnSpc>
                <a:spcPts val="7840"/>
              </a:lnSpc>
            </a:pPr>
          </a:p>
        </p:txBody>
      </p:sp>
    </p:spTree>
  </p:cSld>
  <p:clrMapOvr>
    <a:masterClrMapping/>
  </p:clrMapOvr>
  <p:transition spd="fast">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4F2FD"/>
        </a:solidFill>
      </p:bgPr>
    </p:bg>
    <p:spTree>
      <p:nvGrpSpPr>
        <p:cNvPr id="1" name=""/>
        <p:cNvGrpSpPr/>
        <p:nvPr/>
      </p:nvGrpSpPr>
      <p:grpSpPr>
        <a:xfrm>
          <a:off x="0" y="0"/>
          <a:ext cx="0" cy="0"/>
          <a:chOff x="0" y="0"/>
          <a:chExt cx="0" cy="0"/>
        </a:xfrm>
      </p:grpSpPr>
      <p:sp>
        <p:nvSpPr>
          <p:cNvPr name="TextBox 2" id="2"/>
          <p:cNvSpPr txBox="true"/>
          <p:nvPr/>
        </p:nvSpPr>
        <p:spPr>
          <a:xfrm rot="0">
            <a:off x="1582245" y="621654"/>
            <a:ext cx="16230600" cy="1450976"/>
          </a:xfrm>
          <a:prstGeom prst="rect">
            <a:avLst/>
          </a:prstGeom>
        </p:spPr>
        <p:txBody>
          <a:bodyPr anchor="t" rtlCol="false" tIns="0" lIns="0" bIns="0" rIns="0">
            <a:spAutoFit/>
          </a:bodyPr>
          <a:lstStyle/>
          <a:p>
            <a:pPr algn="ctr">
              <a:lnSpc>
                <a:spcPts val="11899"/>
              </a:lnSpc>
            </a:pPr>
            <a:r>
              <a:rPr lang="en-US" sz="8499">
                <a:solidFill>
                  <a:srgbClr val="000000"/>
                </a:solidFill>
                <a:latin typeface="Alatsi"/>
                <a:ea typeface="Alatsi"/>
                <a:cs typeface="Alatsi"/>
                <a:sym typeface="Alatsi"/>
              </a:rPr>
              <a:t>TOPICS</a:t>
            </a:r>
          </a:p>
        </p:txBody>
      </p:sp>
      <p:grpSp>
        <p:nvGrpSpPr>
          <p:cNvPr name="Group 3" id="3"/>
          <p:cNvGrpSpPr/>
          <p:nvPr/>
        </p:nvGrpSpPr>
        <p:grpSpPr>
          <a:xfrm rot="0">
            <a:off x="627362" y="0"/>
            <a:ext cx="937061" cy="10287000"/>
            <a:chOff x="0" y="0"/>
            <a:chExt cx="246798" cy="2709333"/>
          </a:xfrm>
        </p:grpSpPr>
        <p:sp>
          <p:nvSpPr>
            <p:cNvPr name="Freeform 4" id="4"/>
            <p:cNvSpPr/>
            <p:nvPr/>
          </p:nvSpPr>
          <p:spPr>
            <a:xfrm flipH="false" flipV="false" rot="0">
              <a:off x="0" y="0"/>
              <a:ext cx="246798" cy="2709333"/>
            </a:xfrm>
            <a:custGeom>
              <a:avLst/>
              <a:gdLst/>
              <a:ahLst/>
              <a:cxnLst/>
              <a:rect r="r" b="b" t="t" l="l"/>
              <a:pathLst>
                <a:path h="2709333" w="246798">
                  <a:moveTo>
                    <a:pt x="0" y="0"/>
                  </a:moveTo>
                  <a:lnTo>
                    <a:pt x="246798" y="0"/>
                  </a:lnTo>
                  <a:lnTo>
                    <a:pt x="246798" y="2709333"/>
                  </a:lnTo>
                  <a:lnTo>
                    <a:pt x="0" y="2709333"/>
                  </a:lnTo>
                  <a:close/>
                </a:path>
              </a:pathLst>
            </a:custGeom>
            <a:solidFill>
              <a:srgbClr val="E4F2FD"/>
            </a:solidFill>
          </p:spPr>
        </p:sp>
        <p:sp>
          <p:nvSpPr>
            <p:cNvPr name="TextBox 5" id="5"/>
            <p:cNvSpPr txBox="true"/>
            <p:nvPr/>
          </p:nvSpPr>
          <p:spPr>
            <a:xfrm>
              <a:off x="0" y="-38100"/>
              <a:ext cx="246798" cy="2747433"/>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5400000">
            <a:off x="-2373736" y="4911090"/>
            <a:ext cx="6882108" cy="464820"/>
          </a:xfrm>
          <a:prstGeom prst="rect">
            <a:avLst/>
          </a:prstGeom>
        </p:spPr>
        <p:txBody>
          <a:bodyPr anchor="t" rtlCol="false" tIns="0" lIns="0" bIns="0" rIns="0">
            <a:spAutoFit/>
          </a:bodyPr>
          <a:lstStyle/>
          <a:p>
            <a:pPr algn="ctr">
              <a:lnSpc>
                <a:spcPts val="3779"/>
              </a:lnSpc>
            </a:pPr>
            <a:r>
              <a:rPr lang="en-US" sz="2700">
                <a:solidFill>
                  <a:srgbClr val="000000"/>
                </a:solidFill>
                <a:latin typeface="Alatsi"/>
                <a:ea typeface="Alatsi"/>
                <a:cs typeface="Alatsi"/>
                <a:sym typeface="Alatsi"/>
              </a:rPr>
              <a:t>Daffodil International University | 2026</a:t>
            </a:r>
          </a:p>
        </p:txBody>
      </p:sp>
      <p:sp>
        <p:nvSpPr>
          <p:cNvPr name="AutoShape 7" id="7"/>
          <p:cNvSpPr/>
          <p:nvPr/>
        </p:nvSpPr>
        <p:spPr>
          <a:xfrm flipH="true" flipV="true">
            <a:off x="1085850" y="8268394"/>
            <a:ext cx="5403" cy="2997456"/>
          </a:xfrm>
          <a:prstGeom prst="line">
            <a:avLst/>
          </a:prstGeom>
          <a:ln cap="flat" w="114300">
            <a:solidFill>
              <a:srgbClr val="1993E9"/>
            </a:solidFill>
            <a:prstDash val="solid"/>
            <a:headEnd type="none" len="sm" w="sm"/>
            <a:tailEnd type="none" len="sm" w="sm"/>
          </a:ln>
        </p:spPr>
      </p:sp>
      <p:sp>
        <p:nvSpPr>
          <p:cNvPr name="AutoShape 8" id="8"/>
          <p:cNvSpPr/>
          <p:nvPr/>
        </p:nvSpPr>
        <p:spPr>
          <a:xfrm flipH="true" flipV="true">
            <a:off x="1085850" y="-924826"/>
            <a:ext cx="5403" cy="2997456"/>
          </a:xfrm>
          <a:prstGeom prst="line">
            <a:avLst/>
          </a:prstGeom>
          <a:ln cap="flat" w="114300">
            <a:solidFill>
              <a:srgbClr val="1993E9"/>
            </a:solidFill>
            <a:prstDash val="solid"/>
            <a:headEnd type="none" len="sm" w="sm"/>
            <a:tailEnd type="none" len="sm" w="sm"/>
          </a:ln>
        </p:spPr>
      </p:sp>
      <p:sp>
        <p:nvSpPr>
          <p:cNvPr name="Freeform 9" id="9"/>
          <p:cNvSpPr/>
          <p:nvPr/>
        </p:nvSpPr>
        <p:spPr>
          <a:xfrm flipH="false" flipV="false" rot="0">
            <a:off x="11613363" y="-210192"/>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0" id="1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sp>
        <p:nvSpPr>
          <p:cNvPr name="Freeform 11" id="11"/>
          <p:cNvSpPr/>
          <p:nvPr/>
        </p:nvSpPr>
        <p:spPr>
          <a:xfrm flipH="false" flipV="false" rot="0">
            <a:off x="0" y="0"/>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2" id="12"/>
          <p:cNvSpPr txBox="true"/>
          <p:nvPr/>
        </p:nvSpPr>
        <p:spPr>
          <a:xfrm rot="0">
            <a:off x="1643769" y="3150746"/>
            <a:ext cx="7770213" cy="4698097"/>
          </a:xfrm>
          <a:prstGeom prst="rect">
            <a:avLst/>
          </a:prstGeom>
        </p:spPr>
        <p:txBody>
          <a:bodyPr anchor="t" rtlCol="false" tIns="0" lIns="0" bIns="0" rIns="0">
            <a:spAutoFit/>
          </a:bodyPr>
          <a:lstStyle/>
          <a:p>
            <a:pPr algn="l" marL="762947" indent="-381473" lvl="1">
              <a:lnSpc>
                <a:spcPts val="7597"/>
              </a:lnSpc>
              <a:buAutoNum type="arabicPeriod" startAt="1"/>
            </a:pPr>
            <a:r>
              <a:rPr lang="en-US" sz="3533">
                <a:solidFill>
                  <a:srgbClr val="000000"/>
                </a:solidFill>
                <a:latin typeface="Canva Sans"/>
                <a:ea typeface="Canva Sans"/>
                <a:cs typeface="Canva Sans"/>
                <a:sym typeface="Canva Sans"/>
              </a:rPr>
              <a:t> </a:t>
            </a:r>
            <a:r>
              <a:rPr lang="en-US" b="true" sz="3533">
                <a:solidFill>
                  <a:srgbClr val="000000"/>
                </a:solidFill>
                <a:latin typeface="Canva Sans Bold"/>
                <a:ea typeface="Canva Sans Bold"/>
                <a:cs typeface="Canva Sans Bold"/>
                <a:sym typeface="Canva Sans Bold"/>
              </a:rPr>
              <a:t>Problem Overview</a:t>
            </a:r>
          </a:p>
          <a:p>
            <a:pPr algn="l" marL="762947" indent="-381473" lvl="1">
              <a:lnSpc>
                <a:spcPts val="7597"/>
              </a:lnSpc>
              <a:buAutoNum type="arabicPeriod" startAt="1"/>
            </a:pPr>
            <a:r>
              <a:rPr lang="en-US" sz="3533">
                <a:solidFill>
                  <a:srgbClr val="000000"/>
                </a:solidFill>
                <a:latin typeface="Canva Sans"/>
                <a:ea typeface="Canva Sans"/>
                <a:cs typeface="Canva Sans"/>
                <a:sym typeface="Canva Sans"/>
              </a:rPr>
              <a:t> </a:t>
            </a:r>
            <a:r>
              <a:rPr lang="en-US" b="true" sz="3533">
                <a:solidFill>
                  <a:srgbClr val="000000"/>
                </a:solidFill>
                <a:latin typeface="Canva Sans Bold"/>
                <a:ea typeface="Canva Sans Bold"/>
                <a:cs typeface="Canva Sans Bold"/>
                <a:sym typeface="Canva Sans Bold"/>
              </a:rPr>
              <a:t>Base Model: YOLOv3</a:t>
            </a:r>
          </a:p>
          <a:p>
            <a:pPr algn="l" marL="762947" indent="-381473" lvl="1">
              <a:lnSpc>
                <a:spcPts val="7597"/>
              </a:lnSpc>
              <a:buAutoNum type="arabicPeriod" startAt="1"/>
            </a:pPr>
            <a:r>
              <a:rPr lang="en-US" b="true" sz="3533">
                <a:solidFill>
                  <a:srgbClr val="000000"/>
                </a:solidFill>
                <a:latin typeface="Canva Sans Bold"/>
                <a:ea typeface="Canva Sans Bold"/>
                <a:cs typeface="Canva Sans Bold"/>
                <a:sym typeface="Canva Sans Bold"/>
              </a:rPr>
              <a:t> Proposed Model: Skip-YOLO</a:t>
            </a:r>
          </a:p>
          <a:p>
            <a:pPr algn="l" marL="762947" indent="-381473" lvl="1">
              <a:lnSpc>
                <a:spcPts val="7597"/>
              </a:lnSpc>
              <a:buAutoNum type="arabicPeriod" startAt="1"/>
            </a:pPr>
            <a:r>
              <a:rPr lang="en-US" b="true" sz="3533">
                <a:solidFill>
                  <a:srgbClr val="000000"/>
                </a:solidFill>
                <a:latin typeface="Canva Sans Bold"/>
                <a:ea typeface="Canva Sans Bold"/>
                <a:cs typeface="Canva Sans Bold"/>
                <a:sym typeface="Canva Sans Bold"/>
              </a:rPr>
              <a:t> Architecture with Pipeline</a:t>
            </a:r>
          </a:p>
          <a:p>
            <a:pPr algn="l" marL="762947" indent="-381473" lvl="1">
              <a:lnSpc>
                <a:spcPts val="7597"/>
              </a:lnSpc>
              <a:buAutoNum type="arabicPeriod" startAt="1"/>
            </a:pPr>
            <a:r>
              <a:rPr lang="en-US" b="true" sz="3533">
                <a:solidFill>
                  <a:srgbClr val="000000"/>
                </a:solidFill>
                <a:latin typeface="Canva Sans Bold"/>
                <a:ea typeface="Canva Sans Bold"/>
                <a:cs typeface="Canva Sans Bold"/>
                <a:sym typeface="Canva Sans Bold"/>
              </a:rPr>
              <a:t> Dataset</a:t>
            </a:r>
          </a:p>
        </p:txBody>
      </p:sp>
      <p:sp>
        <p:nvSpPr>
          <p:cNvPr name="TextBox 13" id="13"/>
          <p:cNvSpPr txBox="true"/>
          <p:nvPr/>
        </p:nvSpPr>
        <p:spPr>
          <a:xfrm rot="0">
            <a:off x="10042632" y="3167762"/>
            <a:ext cx="7770213" cy="4698097"/>
          </a:xfrm>
          <a:prstGeom prst="rect">
            <a:avLst/>
          </a:prstGeom>
        </p:spPr>
        <p:txBody>
          <a:bodyPr anchor="t" rtlCol="false" tIns="0" lIns="0" bIns="0" rIns="0">
            <a:spAutoFit/>
          </a:bodyPr>
          <a:lstStyle/>
          <a:p>
            <a:pPr algn="l" marL="762947" indent="-381473" lvl="1">
              <a:lnSpc>
                <a:spcPts val="7597"/>
              </a:lnSpc>
              <a:buAutoNum type="arabicPeriod" startAt="1"/>
            </a:pPr>
            <a:r>
              <a:rPr lang="en-US" sz="3533">
                <a:solidFill>
                  <a:srgbClr val="000000"/>
                </a:solidFill>
                <a:latin typeface="Canva Sans"/>
                <a:ea typeface="Canva Sans"/>
                <a:cs typeface="Canva Sans"/>
                <a:sym typeface="Canva Sans"/>
              </a:rPr>
              <a:t> </a:t>
            </a:r>
            <a:r>
              <a:rPr lang="en-US" b="true" sz="3533">
                <a:solidFill>
                  <a:srgbClr val="000000"/>
                </a:solidFill>
                <a:latin typeface="Canva Sans Bold"/>
                <a:ea typeface="Canva Sans Bold"/>
                <a:cs typeface="Canva Sans Bold"/>
                <a:sym typeface="Canva Sans Bold"/>
              </a:rPr>
              <a:t>Training Setup</a:t>
            </a:r>
          </a:p>
          <a:p>
            <a:pPr algn="l" marL="762947" indent="-381473" lvl="1">
              <a:lnSpc>
                <a:spcPts val="7597"/>
              </a:lnSpc>
              <a:buAutoNum type="arabicPeriod" startAt="1"/>
            </a:pPr>
            <a:r>
              <a:rPr lang="en-US" b="true" sz="3533">
                <a:solidFill>
                  <a:srgbClr val="000000"/>
                </a:solidFill>
                <a:latin typeface="Canva Sans Bold"/>
                <a:ea typeface="Canva Sans Bold"/>
                <a:cs typeface="Canva Sans Bold"/>
                <a:sym typeface="Canva Sans Bold"/>
              </a:rPr>
              <a:t> Evaluation Metrics</a:t>
            </a:r>
          </a:p>
          <a:p>
            <a:pPr algn="l" marL="762947" indent="-381473" lvl="1">
              <a:lnSpc>
                <a:spcPts val="7597"/>
              </a:lnSpc>
              <a:buAutoNum type="arabicPeriod" startAt="1"/>
            </a:pPr>
            <a:r>
              <a:rPr lang="en-US" b="true" sz="3533">
                <a:solidFill>
                  <a:srgbClr val="000000"/>
                </a:solidFill>
                <a:latin typeface="Canva Sans Bold"/>
                <a:ea typeface="Canva Sans Bold"/>
                <a:cs typeface="Canva Sans Bold"/>
                <a:sym typeface="Canva Sans Bold"/>
              </a:rPr>
              <a:t> Results</a:t>
            </a:r>
          </a:p>
          <a:p>
            <a:pPr algn="l" marL="762947" indent="-381473" lvl="1">
              <a:lnSpc>
                <a:spcPts val="7597"/>
              </a:lnSpc>
              <a:buAutoNum type="arabicPeriod" startAt="1"/>
            </a:pPr>
            <a:r>
              <a:rPr lang="en-US" b="true" sz="3533">
                <a:solidFill>
                  <a:srgbClr val="000000"/>
                </a:solidFill>
                <a:latin typeface="Canva Sans Bold"/>
                <a:ea typeface="Canva Sans Bold"/>
                <a:cs typeface="Canva Sans Bold"/>
                <a:sym typeface="Canva Sans Bold"/>
              </a:rPr>
              <a:t> Why Skip-YOLO Works Better?</a:t>
            </a:r>
          </a:p>
          <a:p>
            <a:pPr algn="l" marL="762947" indent="-381473" lvl="1">
              <a:lnSpc>
                <a:spcPts val="7597"/>
              </a:lnSpc>
              <a:buAutoNum type="arabicPeriod" startAt="1"/>
            </a:pPr>
            <a:r>
              <a:rPr lang="en-US" b="true" sz="3533">
                <a:solidFill>
                  <a:srgbClr val="000000"/>
                </a:solidFill>
                <a:latin typeface="Canva Sans Bold"/>
                <a:ea typeface="Canva Sans Bold"/>
                <a:cs typeface="Canva Sans Bold"/>
                <a:sym typeface="Canva Sans Bold"/>
              </a:rPr>
              <a:t> Real-Life Application</a:t>
            </a:r>
          </a:p>
        </p:txBody>
      </p:sp>
    </p:spTree>
  </p:cSld>
  <p:clrMapOvr>
    <a:masterClrMapping/>
  </p:clrMapOvr>
  <p:transition spd="fast">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4F2FD"/>
        </a:solidFill>
      </p:bgPr>
    </p:bg>
    <p:spTree>
      <p:nvGrpSpPr>
        <p:cNvPr id="1" name=""/>
        <p:cNvGrpSpPr/>
        <p:nvPr/>
      </p:nvGrpSpPr>
      <p:grpSpPr>
        <a:xfrm>
          <a:off x="0" y="0"/>
          <a:ext cx="0" cy="0"/>
          <a:chOff x="0" y="0"/>
          <a:chExt cx="0" cy="0"/>
        </a:xfrm>
      </p:grpSpPr>
      <p:grpSp>
        <p:nvGrpSpPr>
          <p:cNvPr name="Group 2" id="2"/>
          <p:cNvGrpSpPr/>
          <p:nvPr/>
        </p:nvGrpSpPr>
        <p:grpSpPr>
          <a:xfrm rot="0">
            <a:off x="2088471" y="0"/>
            <a:ext cx="2119542" cy="10287000"/>
            <a:chOff x="0" y="0"/>
            <a:chExt cx="558233" cy="2709333"/>
          </a:xfrm>
        </p:grpSpPr>
        <p:sp>
          <p:nvSpPr>
            <p:cNvPr name="Freeform 3" id="3"/>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66BDEE"/>
            </a:solidFill>
          </p:spPr>
        </p:sp>
        <p:sp>
          <p:nvSpPr>
            <p:cNvPr name="TextBox 4" id="4"/>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0"/>
            <a:ext cx="2119542" cy="10287000"/>
            <a:chOff x="0" y="0"/>
            <a:chExt cx="558233" cy="2709333"/>
          </a:xfrm>
        </p:grpSpPr>
        <p:sp>
          <p:nvSpPr>
            <p:cNvPr name="Freeform 6" id="6"/>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1993E9"/>
            </a:solidFill>
          </p:spPr>
        </p:sp>
        <p:sp>
          <p:nvSpPr>
            <p:cNvPr name="TextBox 7" id="7"/>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31071" y="0"/>
            <a:ext cx="2119542" cy="10287000"/>
            <a:chOff x="0" y="0"/>
            <a:chExt cx="558233" cy="2709333"/>
          </a:xfrm>
        </p:grpSpPr>
        <p:sp>
          <p:nvSpPr>
            <p:cNvPr name="Freeform 9" id="9"/>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246FCC"/>
            </a:solidFill>
          </p:spPr>
        </p:sp>
        <p:sp>
          <p:nvSpPr>
            <p:cNvPr name="TextBox 10" id="10"/>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2412831" y="802621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1413653" y="-57369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sp>
        <p:nvSpPr>
          <p:cNvPr name="TextBox 14" id="14"/>
          <p:cNvSpPr txBox="true"/>
          <p:nvPr/>
        </p:nvSpPr>
        <p:spPr>
          <a:xfrm rot="0">
            <a:off x="8715212" y="4587307"/>
            <a:ext cx="8698869" cy="679487"/>
          </a:xfrm>
          <a:prstGeom prst="rect">
            <a:avLst/>
          </a:prstGeom>
        </p:spPr>
        <p:txBody>
          <a:bodyPr anchor="t" rtlCol="false" tIns="0" lIns="0" bIns="0" rIns="0">
            <a:spAutoFit/>
          </a:bodyPr>
          <a:lstStyle/>
          <a:p>
            <a:pPr algn="ctr">
              <a:lnSpc>
                <a:spcPts val="5599"/>
              </a:lnSpc>
            </a:pPr>
            <a:r>
              <a:rPr lang="en-US" sz="3999">
                <a:solidFill>
                  <a:srgbClr val="000000"/>
                </a:solidFill>
                <a:latin typeface="Alatsi"/>
                <a:ea typeface="Alatsi"/>
                <a:cs typeface="Alatsi"/>
                <a:sym typeface="Alatsi"/>
              </a:rPr>
              <a:t>-ARIFUL ISLAM REDOYAN (232-15-734)</a:t>
            </a:r>
          </a:p>
        </p:txBody>
      </p:sp>
      <p:sp>
        <p:nvSpPr>
          <p:cNvPr name="TextBox 15" id="15"/>
          <p:cNvSpPr txBox="true"/>
          <p:nvPr/>
        </p:nvSpPr>
        <p:spPr>
          <a:xfrm rot="0">
            <a:off x="4792758" y="3284202"/>
            <a:ext cx="18252540" cy="1002262"/>
          </a:xfrm>
          <a:prstGeom prst="rect">
            <a:avLst/>
          </a:prstGeom>
        </p:spPr>
        <p:txBody>
          <a:bodyPr anchor="t" rtlCol="false" tIns="0" lIns="0" bIns="0" rIns="0">
            <a:spAutoFit/>
          </a:bodyPr>
          <a:lstStyle/>
          <a:p>
            <a:pPr algn="l">
              <a:lnSpc>
                <a:spcPts val="8242"/>
              </a:lnSpc>
              <a:spcBef>
                <a:spcPct val="0"/>
              </a:spcBef>
            </a:pPr>
            <a:r>
              <a:rPr lang="en-US" sz="5887">
                <a:solidFill>
                  <a:srgbClr val="000000"/>
                </a:solidFill>
                <a:latin typeface="Alatsi"/>
                <a:ea typeface="Alatsi"/>
                <a:cs typeface="Alatsi"/>
                <a:sym typeface="Alatsi"/>
              </a:rPr>
              <a:t> Problem and Base Model</a:t>
            </a:r>
          </a:p>
        </p:txBody>
      </p:sp>
    </p:spTree>
  </p:cSld>
  <p:clrMapOvr>
    <a:masterClrMapping/>
  </p:clrMapOvr>
  <p:transition spd="fast">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4F2FD"/>
        </a:solidFill>
      </p:bgPr>
    </p:bg>
    <p:spTree>
      <p:nvGrpSpPr>
        <p:cNvPr id="1" name=""/>
        <p:cNvGrpSpPr/>
        <p:nvPr/>
      </p:nvGrpSpPr>
      <p:grpSpPr>
        <a:xfrm>
          <a:off x="0" y="0"/>
          <a:ext cx="0" cy="0"/>
          <a:chOff x="0" y="0"/>
          <a:chExt cx="0" cy="0"/>
        </a:xfrm>
      </p:grpSpPr>
      <p:sp>
        <p:nvSpPr>
          <p:cNvPr name="Freeform 2" id="2"/>
          <p:cNvSpPr/>
          <p:nvPr/>
        </p:nvSpPr>
        <p:spPr>
          <a:xfrm flipH="false" flipV="false" rot="0">
            <a:off x="-1145203"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552233" y="7809217"/>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92803" y="-249879"/>
            <a:ext cx="6874181" cy="2328403"/>
          </a:xfrm>
          <a:custGeom>
            <a:avLst/>
            <a:gdLst/>
            <a:ahLst/>
            <a:cxnLst/>
            <a:rect r="r" b="b" t="t" l="l"/>
            <a:pathLst>
              <a:path h="2328403" w="6874181">
                <a:moveTo>
                  <a:pt x="0" y="0"/>
                </a:moveTo>
                <a:lnTo>
                  <a:pt x="6874181" y="0"/>
                </a:lnTo>
                <a:lnTo>
                  <a:pt x="6874181" y="2328403"/>
                </a:lnTo>
                <a:lnTo>
                  <a:pt x="0" y="23284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421805" y="2457118"/>
            <a:ext cx="606895" cy="303447"/>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000000"/>
            </a:solidFill>
          </p:spPr>
        </p:sp>
        <p:sp>
          <p:nvSpPr>
            <p:cNvPr name="TextBox 7" id="7"/>
            <p:cNvSpPr txBox="true"/>
            <p:nvPr/>
          </p:nvSpPr>
          <p:spPr>
            <a:xfrm>
              <a:off x="177800" y="-47625"/>
              <a:ext cx="558800" cy="454025"/>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421805" y="6224769"/>
            <a:ext cx="606895" cy="303447"/>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000000"/>
            </a:solidFill>
          </p:spPr>
        </p:sp>
        <p:sp>
          <p:nvSpPr>
            <p:cNvPr name="TextBox 10" id="10"/>
            <p:cNvSpPr txBox="true"/>
            <p:nvPr/>
          </p:nvSpPr>
          <p:spPr>
            <a:xfrm>
              <a:off x="177800" y="-47625"/>
              <a:ext cx="558800" cy="454025"/>
            </a:xfrm>
            <a:prstGeom prst="rect">
              <a:avLst/>
            </a:prstGeom>
          </p:spPr>
          <p:txBody>
            <a:bodyPr anchor="ctr" rtlCol="false" tIns="50800" lIns="50800" bIns="50800" rIns="50800"/>
            <a:lstStyle/>
            <a:p>
              <a:pPr algn="ctr">
                <a:lnSpc>
                  <a:spcPts val="2800"/>
                </a:lnSpc>
              </a:pPr>
            </a:p>
          </p:txBody>
        </p:sp>
      </p:grpSp>
      <p:sp>
        <p:nvSpPr>
          <p:cNvPr name="Freeform 11" id="11"/>
          <p:cNvSpPr/>
          <p:nvPr/>
        </p:nvSpPr>
        <p:spPr>
          <a:xfrm flipH="false" flipV="false" rot="0">
            <a:off x="11359936" y="3339740"/>
            <a:ext cx="5806268" cy="4144224"/>
          </a:xfrm>
          <a:custGeom>
            <a:avLst/>
            <a:gdLst/>
            <a:ahLst/>
            <a:cxnLst/>
            <a:rect r="r" b="b" t="t" l="l"/>
            <a:pathLst>
              <a:path h="4144224" w="5806268">
                <a:moveTo>
                  <a:pt x="0" y="0"/>
                </a:moveTo>
                <a:lnTo>
                  <a:pt x="5806268" y="0"/>
                </a:lnTo>
                <a:lnTo>
                  <a:pt x="5806268" y="4144224"/>
                </a:lnTo>
                <a:lnTo>
                  <a:pt x="0" y="4144224"/>
                </a:lnTo>
                <a:lnTo>
                  <a:pt x="0" y="0"/>
                </a:lnTo>
                <a:close/>
              </a:path>
            </a:pathLst>
          </a:custGeom>
          <a:blipFill>
            <a:blip r:embed="rId6"/>
            <a:stretch>
              <a:fillRect l="0" t="0" r="0" b="0"/>
            </a:stretch>
          </a:blipFill>
        </p:spPr>
      </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
        <p:nvSpPr>
          <p:cNvPr name="TextBox 13" id="13"/>
          <p:cNvSpPr txBox="true"/>
          <p:nvPr/>
        </p:nvSpPr>
        <p:spPr>
          <a:xfrm rot="0">
            <a:off x="2885024" y="406181"/>
            <a:ext cx="12517952" cy="1111687"/>
          </a:xfrm>
          <a:prstGeom prst="rect">
            <a:avLst/>
          </a:prstGeom>
        </p:spPr>
        <p:txBody>
          <a:bodyPr anchor="t" rtlCol="false" tIns="0" lIns="0" bIns="0" rIns="0">
            <a:spAutoFit/>
          </a:bodyPr>
          <a:lstStyle/>
          <a:p>
            <a:pPr algn="ctr">
              <a:lnSpc>
                <a:spcPts val="9052"/>
              </a:lnSpc>
              <a:spcBef>
                <a:spcPct val="0"/>
              </a:spcBef>
            </a:pPr>
            <a:r>
              <a:rPr lang="en-US" sz="6465">
                <a:solidFill>
                  <a:srgbClr val="000000"/>
                </a:solidFill>
                <a:latin typeface="Chewy"/>
                <a:ea typeface="Chewy"/>
                <a:cs typeface="Chewy"/>
                <a:sym typeface="Chewy"/>
              </a:rPr>
              <a:t>Problem Statement</a:t>
            </a:r>
          </a:p>
        </p:txBody>
      </p:sp>
      <p:sp>
        <p:nvSpPr>
          <p:cNvPr name="TextBox 14" id="14"/>
          <p:cNvSpPr txBox="true"/>
          <p:nvPr/>
        </p:nvSpPr>
        <p:spPr>
          <a:xfrm rot="0">
            <a:off x="1168343" y="2399968"/>
            <a:ext cx="9146410" cy="448922"/>
          </a:xfrm>
          <a:prstGeom prst="rect">
            <a:avLst/>
          </a:prstGeom>
        </p:spPr>
        <p:txBody>
          <a:bodyPr anchor="t" rtlCol="false" tIns="0" lIns="0" bIns="0" rIns="0">
            <a:spAutoFit/>
          </a:bodyPr>
          <a:lstStyle/>
          <a:p>
            <a:pPr algn="l">
              <a:lnSpc>
                <a:spcPts val="3610"/>
              </a:lnSpc>
            </a:pPr>
            <a:r>
              <a:rPr lang="en-US" sz="2578" b="true">
                <a:solidFill>
                  <a:srgbClr val="000000"/>
                </a:solidFill>
                <a:latin typeface="Canva Sans Bold"/>
                <a:ea typeface="Canva Sans Bold"/>
                <a:cs typeface="Canva Sans Bold"/>
                <a:sym typeface="Canva Sans Bold"/>
              </a:rPr>
              <a:t>Why Garbage Detection is Difficult?</a:t>
            </a:r>
          </a:p>
        </p:txBody>
      </p:sp>
      <p:sp>
        <p:nvSpPr>
          <p:cNvPr name="TextBox 15" id="15"/>
          <p:cNvSpPr txBox="true"/>
          <p:nvPr/>
        </p:nvSpPr>
        <p:spPr>
          <a:xfrm rot="0">
            <a:off x="1168343" y="3081333"/>
            <a:ext cx="9914450" cy="488241"/>
          </a:xfrm>
          <a:prstGeom prst="rect">
            <a:avLst/>
          </a:prstGeom>
        </p:spPr>
        <p:txBody>
          <a:bodyPr anchor="t" rtlCol="false" tIns="0" lIns="0" bIns="0" rIns="0">
            <a:spAutoFit/>
          </a:bodyPr>
          <a:lstStyle/>
          <a:p>
            <a:pPr algn="l">
              <a:lnSpc>
                <a:spcPts val="1960"/>
              </a:lnSpc>
            </a:pPr>
            <a:r>
              <a:rPr lang="en-US" sz="1400" b="true">
                <a:solidFill>
                  <a:srgbClr val="000000"/>
                </a:solidFill>
                <a:latin typeface="Canva Sans Bold"/>
                <a:ea typeface="Canva Sans Bold"/>
                <a:cs typeface="Canva Sans Bold"/>
                <a:sym typeface="Canva Sans Bold"/>
              </a:rPr>
              <a:t>In real-life environments, garbage detection is not easy because objects often appear in complex and messy backgrounds. It also becomes difficult due to different lighting and when garbage is hidden or broken.</a:t>
            </a:r>
          </a:p>
        </p:txBody>
      </p:sp>
      <p:sp>
        <p:nvSpPr>
          <p:cNvPr name="TextBox 16" id="16"/>
          <p:cNvSpPr txBox="true"/>
          <p:nvPr/>
        </p:nvSpPr>
        <p:spPr>
          <a:xfrm rot="0">
            <a:off x="1168343" y="3921998"/>
            <a:ext cx="6016065" cy="1921771"/>
          </a:xfrm>
          <a:prstGeom prst="rect">
            <a:avLst/>
          </a:prstGeom>
        </p:spPr>
        <p:txBody>
          <a:bodyPr anchor="t" rtlCol="false" tIns="0" lIns="0" bIns="0" rIns="0">
            <a:spAutoFit/>
          </a:bodyPr>
          <a:lstStyle/>
          <a:p>
            <a:pPr algn="l" marL="345439" indent="-172720" lvl="1">
              <a:lnSpc>
                <a:spcPts val="2239"/>
              </a:lnSpc>
              <a:buFont typeface="Arial"/>
              <a:buChar char="•"/>
            </a:pPr>
            <a:r>
              <a:rPr lang="en-US" b="true" sz="1599">
                <a:solidFill>
                  <a:srgbClr val="000000"/>
                </a:solidFill>
                <a:latin typeface="Canva Sans Bold"/>
                <a:ea typeface="Canva Sans Bold"/>
                <a:cs typeface="Canva Sans Bold"/>
                <a:sym typeface="Canva Sans Bold"/>
              </a:rPr>
              <a:t>Objects look similar (banana peel vs paper)</a:t>
            </a:r>
          </a:p>
          <a:p>
            <a:pPr algn="l">
              <a:lnSpc>
                <a:spcPts val="2239"/>
              </a:lnSpc>
            </a:pPr>
          </a:p>
          <a:p>
            <a:pPr algn="l" marL="345439" indent="-172720" lvl="1">
              <a:lnSpc>
                <a:spcPts val="2239"/>
              </a:lnSpc>
              <a:buFont typeface="Arial"/>
              <a:buChar char="•"/>
            </a:pPr>
            <a:r>
              <a:rPr lang="en-US" b="true" sz="1599">
                <a:solidFill>
                  <a:srgbClr val="000000"/>
                </a:solidFill>
                <a:latin typeface="Canva Sans Bold"/>
                <a:ea typeface="Canva Sans Bold"/>
                <a:cs typeface="Canva Sans Bold"/>
                <a:sym typeface="Canva Sans Bold"/>
              </a:rPr>
              <a:t>Background is complex (grass, road, room)</a:t>
            </a:r>
          </a:p>
          <a:p>
            <a:pPr algn="l">
              <a:lnSpc>
                <a:spcPts val="2239"/>
              </a:lnSpc>
            </a:pPr>
          </a:p>
          <a:p>
            <a:pPr algn="l" marL="345439" indent="-172720" lvl="1">
              <a:lnSpc>
                <a:spcPts val="2239"/>
              </a:lnSpc>
              <a:buFont typeface="Arial"/>
              <a:buChar char="•"/>
            </a:pPr>
            <a:r>
              <a:rPr lang="en-US" b="true" sz="1599">
                <a:solidFill>
                  <a:srgbClr val="000000"/>
                </a:solidFill>
                <a:latin typeface="Canva Sans Bold"/>
                <a:ea typeface="Canva Sans Bold"/>
                <a:cs typeface="Canva Sans Bold"/>
                <a:sym typeface="Canva Sans Bold"/>
              </a:rPr>
              <a:t>Same class garbage looks different in different scenes</a:t>
            </a:r>
          </a:p>
          <a:p>
            <a:pPr algn="l">
              <a:lnSpc>
                <a:spcPts val="2239"/>
              </a:lnSpc>
            </a:pPr>
          </a:p>
          <a:p>
            <a:pPr algn="l" marL="345439" indent="-172720" lvl="1">
              <a:lnSpc>
                <a:spcPts val="2239"/>
              </a:lnSpc>
              <a:buFont typeface="Arial"/>
              <a:buChar char="•"/>
            </a:pPr>
            <a:r>
              <a:rPr lang="en-US" b="true" sz="1599">
                <a:solidFill>
                  <a:srgbClr val="000000"/>
                </a:solidFill>
                <a:latin typeface="Canva Sans Bold"/>
                <a:ea typeface="Canva Sans Bold"/>
                <a:cs typeface="Canva Sans Bold"/>
                <a:sym typeface="Canva Sans Bold"/>
              </a:rPr>
              <a:t>Traditional models make wrong detection</a:t>
            </a:r>
          </a:p>
        </p:txBody>
      </p:sp>
      <p:sp>
        <p:nvSpPr>
          <p:cNvPr name="TextBox 17" id="17"/>
          <p:cNvSpPr txBox="true"/>
          <p:nvPr/>
        </p:nvSpPr>
        <p:spPr>
          <a:xfrm rot="0">
            <a:off x="1168343" y="6167619"/>
            <a:ext cx="9146410" cy="448922"/>
          </a:xfrm>
          <a:prstGeom prst="rect">
            <a:avLst/>
          </a:prstGeom>
        </p:spPr>
        <p:txBody>
          <a:bodyPr anchor="t" rtlCol="false" tIns="0" lIns="0" bIns="0" rIns="0">
            <a:spAutoFit/>
          </a:bodyPr>
          <a:lstStyle/>
          <a:p>
            <a:pPr algn="l">
              <a:lnSpc>
                <a:spcPts val="3610"/>
              </a:lnSpc>
            </a:pPr>
            <a:r>
              <a:rPr lang="en-US" sz="2578" b="true">
                <a:solidFill>
                  <a:srgbClr val="000000"/>
                </a:solidFill>
                <a:latin typeface="Canva Sans Bold"/>
                <a:ea typeface="Canva Sans Bold"/>
                <a:cs typeface="Canva Sans Bold"/>
                <a:sym typeface="Canva Sans Bold"/>
              </a:rPr>
              <a:t>⚠️ Why It Matters</a:t>
            </a:r>
          </a:p>
        </p:txBody>
      </p:sp>
      <p:sp>
        <p:nvSpPr>
          <p:cNvPr name="TextBox 18" id="18"/>
          <p:cNvSpPr txBox="true"/>
          <p:nvPr/>
        </p:nvSpPr>
        <p:spPr>
          <a:xfrm rot="0">
            <a:off x="1168343" y="6995915"/>
            <a:ext cx="9914450" cy="240628"/>
          </a:xfrm>
          <a:prstGeom prst="rect">
            <a:avLst/>
          </a:prstGeom>
        </p:spPr>
        <p:txBody>
          <a:bodyPr anchor="t" rtlCol="false" tIns="0" lIns="0" bIns="0" rIns="0">
            <a:spAutoFit/>
          </a:bodyPr>
          <a:lstStyle/>
          <a:p>
            <a:pPr algn="l">
              <a:lnSpc>
                <a:spcPts val="1960"/>
              </a:lnSpc>
            </a:pPr>
            <a:r>
              <a:rPr lang="en-US" sz="1400" b="true">
                <a:solidFill>
                  <a:srgbClr val="000000"/>
                </a:solidFill>
                <a:latin typeface="Canva Sans Bold"/>
                <a:ea typeface="Canva Sans Bold"/>
                <a:cs typeface="Canva Sans Bold"/>
                <a:sym typeface="Canva Sans Bold"/>
              </a:rPr>
              <a:t>Effective waste management needs fast and accurate garbage detection to sort and recycle waste properly.</a:t>
            </a:r>
          </a:p>
        </p:txBody>
      </p:sp>
      <p:sp>
        <p:nvSpPr>
          <p:cNvPr name="TextBox 19" id="19"/>
          <p:cNvSpPr txBox="true"/>
          <p:nvPr/>
        </p:nvSpPr>
        <p:spPr>
          <a:xfrm rot="0">
            <a:off x="1168343" y="7487305"/>
            <a:ext cx="6446633" cy="1921771"/>
          </a:xfrm>
          <a:prstGeom prst="rect">
            <a:avLst/>
          </a:prstGeom>
        </p:spPr>
        <p:txBody>
          <a:bodyPr anchor="t" rtlCol="false" tIns="0" lIns="0" bIns="0" rIns="0">
            <a:spAutoFit/>
          </a:bodyPr>
          <a:lstStyle/>
          <a:p>
            <a:pPr algn="l" marL="345439" indent="-172720" lvl="1">
              <a:lnSpc>
                <a:spcPts val="2239"/>
              </a:lnSpc>
              <a:buFont typeface="Arial"/>
              <a:buChar char="•"/>
            </a:pPr>
            <a:r>
              <a:rPr lang="en-US" b="true" sz="1599">
                <a:solidFill>
                  <a:srgbClr val="000000"/>
                </a:solidFill>
                <a:latin typeface="Canva Sans Bold"/>
                <a:ea typeface="Canva Sans Bold"/>
                <a:cs typeface="Canva Sans Bold"/>
                <a:sym typeface="Canva Sans Bold"/>
              </a:rPr>
              <a:t>Waste sorting is important for environmental protection 🌱</a:t>
            </a:r>
          </a:p>
          <a:p>
            <a:pPr algn="l">
              <a:lnSpc>
                <a:spcPts val="2239"/>
              </a:lnSpc>
            </a:pPr>
          </a:p>
          <a:p>
            <a:pPr algn="l" marL="345439" indent="-172720" lvl="1">
              <a:lnSpc>
                <a:spcPts val="2239"/>
              </a:lnSpc>
              <a:buFont typeface="Arial"/>
              <a:buChar char="•"/>
            </a:pPr>
            <a:r>
              <a:rPr lang="en-US" b="true" sz="1599">
                <a:solidFill>
                  <a:srgbClr val="000000"/>
                </a:solidFill>
                <a:latin typeface="Canva Sans Bold"/>
                <a:ea typeface="Canva Sans Bold"/>
                <a:cs typeface="Canva Sans Bold"/>
                <a:sym typeface="Canva Sans Bold"/>
              </a:rPr>
              <a:t>Manual sorting is slow and costly</a:t>
            </a:r>
          </a:p>
          <a:p>
            <a:pPr algn="l">
              <a:lnSpc>
                <a:spcPts val="2239"/>
              </a:lnSpc>
            </a:pPr>
          </a:p>
          <a:p>
            <a:pPr algn="l" marL="345439" indent="-172720" lvl="1">
              <a:lnSpc>
                <a:spcPts val="2239"/>
              </a:lnSpc>
              <a:buFont typeface="Arial"/>
              <a:buChar char="•"/>
            </a:pPr>
            <a:r>
              <a:rPr lang="en-US" b="true" sz="1599">
                <a:solidFill>
                  <a:srgbClr val="000000"/>
                </a:solidFill>
                <a:latin typeface="Canva Sans Bold"/>
                <a:ea typeface="Canva Sans Bold"/>
                <a:cs typeface="Canva Sans Bold"/>
                <a:sym typeface="Canva Sans Bold"/>
              </a:rPr>
              <a:t>A smart AI system is needed for fast and efficient detection</a:t>
            </a:r>
          </a:p>
          <a:p>
            <a:pPr algn="l">
              <a:lnSpc>
                <a:spcPts val="2239"/>
              </a:lnSpc>
            </a:pPr>
          </a:p>
          <a:p>
            <a:pPr algn="l" marL="345439" indent="-172720" lvl="1">
              <a:lnSpc>
                <a:spcPts val="2239"/>
              </a:lnSpc>
              <a:buFont typeface="Arial"/>
              <a:buChar char="•"/>
            </a:pPr>
            <a:r>
              <a:rPr lang="en-US" b="true" sz="1599">
                <a:solidFill>
                  <a:srgbClr val="000000"/>
                </a:solidFill>
                <a:latin typeface="Canva Sans Bold"/>
                <a:ea typeface="Canva Sans Bold"/>
                <a:cs typeface="Canva Sans Bold"/>
                <a:sym typeface="Canva Sans Bold"/>
              </a:rPr>
              <a:t>Incor</a:t>
            </a:r>
            <a:r>
              <a:rPr lang="en-US" b="true" sz="1599">
                <a:solidFill>
                  <a:srgbClr val="000000"/>
                </a:solidFill>
                <a:latin typeface="Canva Sans Bold"/>
                <a:ea typeface="Canva Sans Bold"/>
                <a:cs typeface="Canva Sans Bold"/>
                <a:sym typeface="Canva Sans Bold"/>
              </a:rPr>
              <a:t>rect detection can disrupt the recycling process</a:t>
            </a:r>
          </a:p>
        </p:txBody>
      </p:sp>
    </p:spTree>
  </p:cSld>
  <p:clrMapOvr>
    <a:masterClrMapping/>
  </p:clrMapOvr>
  <p:transition spd="fast">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4F2FD"/>
        </a:solidFill>
      </p:bgPr>
    </p:bg>
    <p:spTree>
      <p:nvGrpSpPr>
        <p:cNvPr id="1" name=""/>
        <p:cNvGrpSpPr/>
        <p:nvPr/>
      </p:nvGrpSpPr>
      <p:grpSpPr>
        <a:xfrm>
          <a:off x="0" y="0"/>
          <a:ext cx="0" cy="0"/>
          <a:chOff x="0" y="0"/>
          <a:chExt cx="0" cy="0"/>
        </a:xfrm>
      </p:grpSpPr>
      <p:sp>
        <p:nvSpPr>
          <p:cNvPr name="Freeform 2" id="2"/>
          <p:cNvSpPr/>
          <p:nvPr/>
        </p:nvSpPr>
        <p:spPr>
          <a:xfrm flipH="false" flipV="false" rot="0">
            <a:off x="-1145203"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901342" y="7809217"/>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92803" y="-249879"/>
            <a:ext cx="6874181" cy="2328403"/>
          </a:xfrm>
          <a:custGeom>
            <a:avLst/>
            <a:gdLst/>
            <a:ahLst/>
            <a:cxnLst/>
            <a:rect r="r" b="b" t="t" l="l"/>
            <a:pathLst>
              <a:path h="2328403" w="6874181">
                <a:moveTo>
                  <a:pt x="0" y="0"/>
                </a:moveTo>
                <a:lnTo>
                  <a:pt x="6874181" y="0"/>
                </a:lnTo>
                <a:lnTo>
                  <a:pt x="6874181" y="2328403"/>
                </a:lnTo>
                <a:lnTo>
                  <a:pt x="0" y="23284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421805" y="2457118"/>
            <a:ext cx="606895" cy="303447"/>
            <a:chOff x="0" y="0"/>
            <a:chExt cx="812800" cy="406400"/>
          </a:xfrm>
        </p:grpSpPr>
        <p:sp>
          <p:nvSpPr>
            <p:cNvPr name="Freeform 6" id="6"/>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000000"/>
            </a:solidFill>
          </p:spPr>
        </p:sp>
        <p:sp>
          <p:nvSpPr>
            <p:cNvPr name="TextBox 7" id="7"/>
            <p:cNvSpPr txBox="true"/>
            <p:nvPr/>
          </p:nvSpPr>
          <p:spPr>
            <a:xfrm>
              <a:off x="177800" y="-47625"/>
              <a:ext cx="558800" cy="454025"/>
            </a:xfrm>
            <a:prstGeom prst="rect">
              <a:avLst/>
            </a:prstGeom>
          </p:spPr>
          <p:txBody>
            <a:bodyPr anchor="ctr" rtlCol="false" tIns="50800" lIns="50800" bIns="50800" rIns="50800"/>
            <a:lstStyle/>
            <a:p>
              <a:pPr algn="ctr">
                <a:lnSpc>
                  <a:spcPts val="2800"/>
                </a:lnSpc>
              </a:pPr>
            </a:p>
          </p:txBody>
        </p:sp>
      </p:grpSp>
      <p:grpSp>
        <p:nvGrpSpPr>
          <p:cNvPr name="Group 8" id="8"/>
          <p:cNvGrpSpPr/>
          <p:nvPr/>
        </p:nvGrpSpPr>
        <p:grpSpPr>
          <a:xfrm rot="0">
            <a:off x="561449" y="5062475"/>
            <a:ext cx="606895" cy="303447"/>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000000"/>
            </a:solidFill>
          </p:spPr>
        </p:sp>
        <p:sp>
          <p:nvSpPr>
            <p:cNvPr name="TextBox 10" id="10"/>
            <p:cNvSpPr txBox="true"/>
            <p:nvPr/>
          </p:nvSpPr>
          <p:spPr>
            <a:xfrm>
              <a:off x="177800" y="-47625"/>
              <a:ext cx="558800" cy="454025"/>
            </a:xfrm>
            <a:prstGeom prst="rect">
              <a:avLst/>
            </a:prstGeom>
          </p:spPr>
          <p:txBody>
            <a:bodyPr anchor="ctr" rtlCol="false" tIns="50800" lIns="50800" bIns="50800" rIns="50800"/>
            <a:lstStyle/>
            <a:p>
              <a:pPr algn="ctr">
                <a:lnSpc>
                  <a:spcPts val="2800"/>
                </a:lnSpc>
              </a:pPr>
            </a:p>
          </p:txBody>
        </p:sp>
      </p:grpSp>
      <p:sp>
        <p:nvSpPr>
          <p:cNvPr name="Freeform 11" id="11"/>
          <p:cNvSpPr/>
          <p:nvPr/>
        </p:nvSpPr>
        <p:spPr>
          <a:xfrm flipH="false" flipV="false" rot="0">
            <a:off x="8159802" y="2760565"/>
            <a:ext cx="7879615" cy="4402735"/>
          </a:xfrm>
          <a:custGeom>
            <a:avLst/>
            <a:gdLst/>
            <a:ahLst/>
            <a:cxnLst/>
            <a:rect r="r" b="b" t="t" l="l"/>
            <a:pathLst>
              <a:path h="4402735" w="7879615">
                <a:moveTo>
                  <a:pt x="0" y="0"/>
                </a:moveTo>
                <a:lnTo>
                  <a:pt x="7879615" y="0"/>
                </a:lnTo>
                <a:lnTo>
                  <a:pt x="7879615" y="4402735"/>
                </a:lnTo>
                <a:lnTo>
                  <a:pt x="0" y="4402735"/>
                </a:lnTo>
                <a:lnTo>
                  <a:pt x="0" y="0"/>
                </a:lnTo>
                <a:close/>
              </a:path>
            </a:pathLst>
          </a:custGeom>
          <a:blipFill>
            <a:blip r:embed="rId6"/>
            <a:stretch>
              <a:fillRect l="0" t="0" r="0" b="0"/>
            </a:stretch>
          </a:blipFill>
        </p:spPr>
      </p:sp>
      <p:sp>
        <p:nvSpPr>
          <p:cNvPr name="TextBox 12" id="1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
        <p:nvSpPr>
          <p:cNvPr name="TextBox 13" id="13"/>
          <p:cNvSpPr txBox="true"/>
          <p:nvPr/>
        </p:nvSpPr>
        <p:spPr>
          <a:xfrm rot="0">
            <a:off x="2885024" y="406181"/>
            <a:ext cx="12517952" cy="1111687"/>
          </a:xfrm>
          <a:prstGeom prst="rect">
            <a:avLst/>
          </a:prstGeom>
        </p:spPr>
        <p:txBody>
          <a:bodyPr anchor="t" rtlCol="false" tIns="0" lIns="0" bIns="0" rIns="0">
            <a:spAutoFit/>
          </a:bodyPr>
          <a:lstStyle/>
          <a:p>
            <a:pPr algn="ctr">
              <a:lnSpc>
                <a:spcPts val="9052"/>
              </a:lnSpc>
              <a:spcBef>
                <a:spcPct val="0"/>
              </a:spcBef>
            </a:pPr>
            <a:r>
              <a:rPr lang="en-US" sz="6465">
                <a:solidFill>
                  <a:srgbClr val="000000"/>
                </a:solidFill>
                <a:latin typeface="Chewy"/>
                <a:ea typeface="Chewy"/>
                <a:cs typeface="Chewy"/>
                <a:sym typeface="Chewy"/>
              </a:rPr>
              <a:t>Base Model – YOLOv3</a:t>
            </a:r>
          </a:p>
        </p:txBody>
      </p:sp>
      <p:sp>
        <p:nvSpPr>
          <p:cNvPr name="TextBox 14" id="14"/>
          <p:cNvSpPr txBox="true"/>
          <p:nvPr/>
        </p:nvSpPr>
        <p:spPr>
          <a:xfrm rot="0">
            <a:off x="1168343" y="2399968"/>
            <a:ext cx="9146410" cy="448922"/>
          </a:xfrm>
          <a:prstGeom prst="rect">
            <a:avLst/>
          </a:prstGeom>
        </p:spPr>
        <p:txBody>
          <a:bodyPr anchor="t" rtlCol="false" tIns="0" lIns="0" bIns="0" rIns="0">
            <a:spAutoFit/>
          </a:bodyPr>
          <a:lstStyle/>
          <a:p>
            <a:pPr algn="l">
              <a:lnSpc>
                <a:spcPts val="3610"/>
              </a:lnSpc>
            </a:pPr>
            <a:r>
              <a:rPr lang="en-US" sz="2578" b="true">
                <a:solidFill>
                  <a:srgbClr val="000000"/>
                </a:solidFill>
                <a:latin typeface="Canva Sans Bold"/>
                <a:ea typeface="Canva Sans Bold"/>
                <a:cs typeface="Canva Sans Bold"/>
                <a:sym typeface="Canva Sans Bold"/>
              </a:rPr>
              <a:t>📌 What is YOLOv3?</a:t>
            </a:r>
          </a:p>
        </p:txBody>
      </p:sp>
      <p:sp>
        <p:nvSpPr>
          <p:cNvPr name="TextBox 15" id="15"/>
          <p:cNvSpPr txBox="true"/>
          <p:nvPr/>
        </p:nvSpPr>
        <p:spPr>
          <a:xfrm rot="0">
            <a:off x="1168343" y="3081333"/>
            <a:ext cx="5864784" cy="1461584"/>
          </a:xfrm>
          <a:prstGeom prst="rect">
            <a:avLst/>
          </a:prstGeom>
        </p:spPr>
        <p:txBody>
          <a:bodyPr anchor="t" rtlCol="false" tIns="0" lIns="0" bIns="0" rIns="0">
            <a:spAutoFit/>
          </a:bodyPr>
          <a:lstStyle/>
          <a:p>
            <a:pPr algn="l">
              <a:lnSpc>
                <a:spcPts val="2379"/>
              </a:lnSpc>
            </a:pPr>
            <a:r>
              <a:rPr lang="en-US" sz="1699" b="true">
                <a:solidFill>
                  <a:srgbClr val="000000"/>
                </a:solidFill>
                <a:latin typeface="Canva Sans Bold"/>
                <a:ea typeface="Canva Sans Bold"/>
                <a:cs typeface="Canva Sans Bold"/>
                <a:sym typeface="Canva Sans Bold"/>
              </a:rPr>
              <a:t>YOLOv3 is a fast model that detects objects in one go using deep learning and works on different object sizes. But in real-life garbage detection, it struggles with similar-looking trash, messy backgrounds, and can sometimes be less accurate.</a:t>
            </a:r>
          </a:p>
        </p:txBody>
      </p:sp>
      <p:sp>
        <p:nvSpPr>
          <p:cNvPr name="TextBox 16" id="16"/>
          <p:cNvSpPr txBox="true"/>
          <p:nvPr/>
        </p:nvSpPr>
        <p:spPr>
          <a:xfrm rot="0">
            <a:off x="8887175" y="9989384"/>
            <a:ext cx="6014167" cy="926053"/>
          </a:xfrm>
          <a:prstGeom prst="rect">
            <a:avLst/>
          </a:prstGeom>
        </p:spPr>
        <p:txBody>
          <a:bodyPr anchor="t" rtlCol="false" tIns="0" lIns="0" bIns="0" rIns="0">
            <a:spAutoFit/>
          </a:bodyPr>
          <a:lstStyle/>
          <a:p>
            <a:pPr algn="l" marL="388620" indent="-194310" lvl="1">
              <a:lnSpc>
                <a:spcPts val="2520"/>
              </a:lnSpc>
              <a:buFont typeface="Arial"/>
              <a:buChar char="•"/>
            </a:pPr>
            <a:r>
              <a:rPr lang="en-US" b="true" sz="1800">
                <a:solidFill>
                  <a:srgbClr val="000000"/>
                </a:solidFill>
                <a:latin typeface="Canva Sans Bold"/>
                <a:ea typeface="Canva Sans Bold"/>
                <a:cs typeface="Canva Sans Bold"/>
                <a:sym typeface="Canva Sans Bold"/>
              </a:rPr>
              <a:t>YOLO = You Only Look Once</a:t>
            </a:r>
          </a:p>
          <a:p>
            <a:pPr algn="l" marL="388620" indent="-194310" lvl="1">
              <a:lnSpc>
                <a:spcPts val="2520"/>
              </a:lnSpc>
              <a:buFont typeface="Arial"/>
              <a:buChar char="•"/>
            </a:pPr>
            <a:r>
              <a:rPr lang="en-US" b="true" sz="1800">
                <a:solidFill>
                  <a:srgbClr val="000000"/>
                </a:solidFill>
                <a:latin typeface="Canva Sans Bold"/>
                <a:ea typeface="Canva Sans Bold"/>
                <a:cs typeface="Canva Sans Bold"/>
                <a:sym typeface="Canva Sans Bold"/>
              </a:rPr>
              <a:t>R</a:t>
            </a:r>
            <a:r>
              <a:rPr lang="en-US" b="true" sz="1800">
                <a:solidFill>
                  <a:srgbClr val="000000"/>
                </a:solidFill>
                <a:latin typeface="Canva Sans Bold"/>
                <a:ea typeface="Canva Sans Bold"/>
                <a:cs typeface="Canva Sans Bold"/>
                <a:sym typeface="Canva Sans Bold"/>
              </a:rPr>
              <a:t>eal-time object detection model</a:t>
            </a:r>
          </a:p>
          <a:p>
            <a:pPr algn="l" marL="388620" indent="-194310" lvl="1">
              <a:lnSpc>
                <a:spcPts val="2520"/>
              </a:lnSpc>
              <a:buFont typeface="Arial"/>
              <a:buChar char="•"/>
            </a:pPr>
            <a:r>
              <a:rPr lang="en-US" b="true" sz="1800">
                <a:solidFill>
                  <a:srgbClr val="000000"/>
                </a:solidFill>
                <a:latin typeface="Canva Sans Bold"/>
                <a:ea typeface="Canva Sans Bold"/>
                <a:cs typeface="Canva Sans Bold"/>
                <a:sym typeface="Canva Sans Bold"/>
              </a:rPr>
              <a:t>Uses CNN and Darknet-53</a:t>
            </a:r>
          </a:p>
        </p:txBody>
      </p:sp>
      <p:sp>
        <p:nvSpPr>
          <p:cNvPr name="TextBox 17" id="17"/>
          <p:cNvSpPr txBox="true"/>
          <p:nvPr/>
        </p:nvSpPr>
        <p:spPr>
          <a:xfrm rot="0">
            <a:off x="1307987" y="5005325"/>
            <a:ext cx="9146410" cy="448922"/>
          </a:xfrm>
          <a:prstGeom prst="rect">
            <a:avLst/>
          </a:prstGeom>
        </p:spPr>
        <p:txBody>
          <a:bodyPr anchor="t" rtlCol="false" tIns="0" lIns="0" bIns="0" rIns="0">
            <a:spAutoFit/>
          </a:bodyPr>
          <a:lstStyle/>
          <a:p>
            <a:pPr algn="l">
              <a:lnSpc>
                <a:spcPts val="3610"/>
              </a:lnSpc>
            </a:pPr>
            <a:r>
              <a:rPr lang="en-US" sz="2578" b="true">
                <a:solidFill>
                  <a:srgbClr val="000000"/>
                </a:solidFill>
                <a:latin typeface="Canva Sans Bold"/>
                <a:ea typeface="Canva Sans Bold"/>
                <a:cs typeface="Canva Sans Bold"/>
                <a:sym typeface="Canva Sans Bold"/>
              </a:rPr>
              <a:t>⚙️ How it Works</a:t>
            </a:r>
          </a:p>
        </p:txBody>
      </p:sp>
      <p:sp>
        <p:nvSpPr>
          <p:cNvPr name="TextBox 18" id="18"/>
          <p:cNvSpPr txBox="true"/>
          <p:nvPr/>
        </p:nvSpPr>
        <p:spPr>
          <a:xfrm rot="0">
            <a:off x="1168343" y="5800113"/>
            <a:ext cx="6446633" cy="1240453"/>
          </a:xfrm>
          <a:prstGeom prst="rect">
            <a:avLst/>
          </a:prstGeom>
        </p:spPr>
        <p:txBody>
          <a:bodyPr anchor="t" rtlCol="false" tIns="0" lIns="0" bIns="0" rIns="0">
            <a:spAutoFit/>
          </a:bodyPr>
          <a:lstStyle/>
          <a:p>
            <a:pPr algn="l" marL="388620" indent="-194310" lvl="1">
              <a:lnSpc>
                <a:spcPts val="2520"/>
              </a:lnSpc>
              <a:buFont typeface="Arial"/>
              <a:buChar char="•"/>
            </a:pPr>
            <a:r>
              <a:rPr lang="en-US" b="true" sz="1800">
                <a:solidFill>
                  <a:srgbClr val="000000"/>
                </a:solidFill>
                <a:latin typeface="Canva Sans Bold"/>
                <a:ea typeface="Canva Sans Bold"/>
                <a:cs typeface="Canva Sans Bold"/>
                <a:sym typeface="Canva Sans Bold"/>
              </a:rPr>
              <a:t>Input Image (e.g., 416×416)</a:t>
            </a:r>
          </a:p>
          <a:p>
            <a:pPr algn="l" marL="388620" indent="-194310" lvl="1">
              <a:lnSpc>
                <a:spcPts val="2520"/>
              </a:lnSpc>
              <a:buFont typeface="Arial"/>
              <a:buChar char="•"/>
            </a:pPr>
            <a:r>
              <a:rPr lang="en-US" b="true" sz="1800">
                <a:solidFill>
                  <a:srgbClr val="000000"/>
                </a:solidFill>
                <a:latin typeface="Canva Sans Bold"/>
                <a:ea typeface="Canva Sans Bold"/>
                <a:cs typeface="Canva Sans Bold"/>
                <a:sym typeface="Canva Sans Bold"/>
              </a:rPr>
              <a:t>Fe</a:t>
            </a:r>
            <a:r>
              <a:rPr lang="en-US" b="true" sz="1800">
                <a:solidFill>
                  <a:srgbClr val="000000"/>
                </a:solidFill>
                <a:latin typeface="Canva Sans Bold"/>
                <a:ea typeface="Canva Sans Bold"/>
                <a:cs typeface="Canva Sans Bold"/>
                <a:sym typeface="Canva Sans Bold"/>
              </a:rPr>
              <a:t>ature Extraction (CNN layers)</a:t>
            </a:r>
          </a:p>
          <a:p>
            <a:pPr algn="l" marL="388620" indent="-194310" lvl="1">
              <a:lnSpc>
                <a:spcPts val="2520"/>
              </a:lnSpc>
              <a:buFont typeface="Arial"/>
              <a:buChar char="•"/>
            </a:pPr>
            <a:r>
              <a:rPr lang="en-US" b="true" sz="1800">
                <a:solidFill>
                  <a:srgbClr val="000000"/>
                </a:solidFill>
                <a:latin typeface="Canva Sans Bold"/>
                <a:ea typeface="Canva Sans Bold"/>
                <a:cs typeface="Canva Sans Bold"/>
                <a:sym typeface="Canva Sans Bold"/>
              </a:rPr>
              <a:t>Multi-scale detection (small + large objects)</a:t>
            </a:r>
          </a:p>
          <a:p>
            <a:pPr algn="l" marL="388620" indent="-194310" lvl="1">
              <a:lnSpc>
                <a:spcPts val="2520"/>
              </a:lnSpc>
              <a:buFont typeface="Arial"/>
              <a:buChar char="•"/>
            </a:pPr>
            <a:r>
              <a:rPr lang="en-US" b="true" sz="1800">
                <a:solidFill>
                  <a:srgbClr val="000000"/>
                </a:solidFill>
                <a:latin typeface="Canva Sans Bold"/>
                <a:ea typeface="Canva Sans Bold"/>
                <a:cs typeface="Canva Sans Bold"/>
                <a:sym typeface="Canva Sans Bold"/>
              </a:rPr>
              <a:t>Output → Bounding Box + Class Prediction</a:t>
            </a:r>
          </a:p>
        </p:txBody>
      </p:sp>
    </p:spTree>
  </p:cSld>
  <p:clrMapOvr>
    <a:masterClrMapping/>
  </p:clrMapOvr>
  <p:transition spd="fast">
    <p:push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4F2FD"/>
        </a:solidFill>
      </p:bgPr>
    </p:bg>
    <p:spTree>
      <p:nvGrpSpPr>
        <p:cNvPr id="1" name=""/>
        <p:cNvGrpSpPr/>
        <p:nvPr/>
      </p:nvGrpSpPr>
      <p:grpSpPr>
        <a:xfrm>
          <a:off x="0" y="0"/>
          <a:ext cx="0" cy="0"/>
          <a:chOff x="0" y="0"/>
          <a:chExt cx="0" cy="0"/>
        </a:xfrm>
      </p:grpSpPr>
      <p:grpSp>
        <p:nvGrpSpPr>
          <p:cNvPr name="Group 2" id="2"/>
          <p:cNvGrpSpPr/>
          <p:nvPr/>
        </p:nvGrpSpPr>
        <p:grpSpPr>
          <a:xfrm rot="0">
            <a:off x="2088471" y="0"/>
            <a:ext cx="2119542" cy="10287000"/>
            <a:chOff x="0" y="0"/>
            <a:chExt cx="558233" cy="2709333"/>
          </a:xfrm>
        </p:grpSpPr>
        <p:sp>
          <p:nvSpPr>
            <p:cNvPr name="Freeform 3" id="3"/>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66BDEE"/>
            </a:solidFill>
          </p:spPr>
        </p:sp>
        <p:sp>
          <p:nvSpPr>
            <p:cNvPr name="TextBox 4" id="4"/>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0"/>
            <a:ext cx="2119542" cy="10287000"/>
            <a:chOff x="0" y="0"/>
            <a:chExt cx="558233" cy="2709333"/>
          </a:xfrm>
        </p:grpSpPr>
        <p:sp>
          <p:nvSpPr>
            <p:cNvPr name="Freeform 6" id="6"/>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1993E9"/>
            </a:solidFill>
          </p:spPr>
        </p:sp>
        <p:sp>
          <p:nvSpPr>
            <p:cNvPr name="TextBox 7" id="7"/>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31071" y="0"/>
            <a:ext cx="2119542" cy="10287000"/>
            <a:chOff x="0" y="0"/>
            <a:chExt cx="558233" cy="2709333"/>
          </a:xfrm>
        </p:grpSpPr>
        <p:sp>
          <p:nvSpPr>
            <p:cNvPr name="Freeform 9" id="9"/>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246FCC"/>
            </a:solidFill>
          </p:spPr>
        </p:sp>
        <p:sp>
          <p:nvSpPr>
            <p:cNvPr name="TextBox 10" id="10"/>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2412831" y="802621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1413653" y="-57369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
        <p:nvSpPr>
          <p:cNvPr name="TextBox 14" id="14"/>
          <p:cNvSpPr txBox="true"/>
          <p:nvPr/>
        </p:nvSpPr>
        <p:spPr>
          <a:xfrm rot="0">
            <a:off x="7139195" y="6939327"/>
            <a:ext cx="11148805" cy="679450"/>
          </a:xfrm>
          <a:prstGeom prst="rect">
            <a:avLst/>
          </a:prstGeom>
        </p:spPr>
        <p:txBody>
          <a:bodyPr anchor="t" rtlCol="false" tIns="0" lIns="0" bIns="0" rIns="0">
            <a:spAutoFit/>
          </a:bodyPr>
          <a:lstStyle/>
          <a:p>
            <a:pPr algn="ctr">
              <a:lnSpc>
                <a:spcPts val="5599"/>
              </a:lnSpc>
            </a:pPr>
            <a:r>
              <a:rPr lang="en-US" sz="3999">
                <a:solidFill>
                  <a:srgbClr val="000000"/>
                </a:solidFill>
                <a:latin typeface="Alatsi"/>
                <a:ea typeface="Alatsi"/>
                <a:cs typeface="Alatsi"/>
                <a:sym typeface="Alatsi"/>
              </a:rPr>
              <a:t>-SHAFIN AHMED (232-15-184)</a:t>
            </a:r>
          </a:p>
        </p:txBody>
      </p:sp>
      <p:sp>
        <p:nvSpPr>
          <p:cNvPr name="TextBox 15" id="15"/>
          <p:cNvSpPr txBox="true"/>
          <p:nvPr/>
        </p:nvSpPr>
        <p:spPr>
          <a:xfrm rot="0">
            <a:off x="4627091" y="3066948"/>
            <a:ext cx="12785899" cy="5499829"/>
          </a:xfrm>
          <a:prstGeom prst="rect">
            <a:avLst/>
          </a:prstGeom>
        </p:spPr>
        <p:txBody>
          <a:bodyPr anchor="t" rtlCol="false" tIns="0" lIns="0" bIns="0" rIns="0">
            <a:spAutoFit/>
          </a:bodyPr>
          <a:lstStyle/>
          <a:p>
            <a:pPr algn="ctr">
              <a:lnSpc>
                <a:spcPts val="8789"/>
              </a:lnSpc>
            </a:pPr>
            <a:r>
              <a:rPr lang="en-US" sz="6277">
                <a:solidFill>
                  <a:srgbClr val="000000"/>
                </a:solidFill>
                <a:latin typeface="Alatsi"/>
                <a:ea typeface="Alatsi"/>
                <a:cs typeface="Alatsi"/>
                <a:sym typeface="Alatsi"/>
              </a:rPr>
              <a:t>Proposed Model: Skip-YOLO (Main Idea) &amp; Architecture (Model Structure)</a:t>
            </a:r>
          </a:p>
          <a:p>
            <a:pPr algn="ctr">
              <a:lnSpc>
                <a:spcPts val="8789"/>
              </a:lnSpc>
            </a:pPr>
          </a:p>
          <a:p>
            <a:pPr algn="ctr">
              <a:lnSpc>
                <a:spcPts val="8789"/>
              </a:lnSpc>
              <a:spcBef>
                <a:spcPct val="0"/>
              </a:spcBef>
            </a:pPr>
          </a:p>
        </p:txBody>
      </p:sp>
    </p:spTree>
  </p:cSld>
  <p:clrMapOvr>
    <a:masterClrMapping/>
  </p:clrMapOvr>
  <p:transition spd="fast">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4F2F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796301" y="832103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519527" y="0"/>
            <a:ext cx="5014135" cy="1698373"/>
          </a:xfrm>
          <a:custGeom>
            <a:avLst/>
            <a:gdLst/>
            <a:ahLst/>
            <a:cxnLst/>
            <a:rect r="r" b="b" t="t" l="l"/>
            <a:pathLst>
              <a:path h="1698373" w="5014135">
                <a:moveTo>
                  <a:pt x="0" y="0"/>
                </a:moveTo>
                <a:lnTo>
                  <a:pt x="5014135" y="0"/>
                </a:lnTo>
                <a:lnTo>
                  <a:pt x="5014135" y="1698373"/>
                </a:lnTo>
                <a:lnTo>
                  <a:pt x="0" y="16983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66327" y="2230798"/>
            <a:ext cx="9141065" cy="6090235"/>
          </a:xfrm>
          <a:custGeom>
            <a:avLst/>
            <a:gdLst/>
            <a:ahLst/>
            <a:cxnLst/>
            <a:rect r="r" b="b" t="t" l="l"/>
            <a:pathLst>
              <a:path h="6090235" w="9141065">
                <a:moveTo>
                  <a:pt x="0" y="0"/>
                </a:moveTo>
                <a:lnTo>
                  <a:pt x="9141065" y="0"/>
                </a:lnTo>
                <a:lnTo>
                  <a:pt x="9141065" y="6090235"/>
                </a:lnTo>
                <a:lnTo>
                  <a:pt x="0" y="6090235"/>
                </a:lnTo>
                <a:lnTo>
                  <a:pt x="0" y="0"/>
                </a:lnTo>
                <a:close/>
              </a:path>
            </a:pathLst>
          </a:custGeom>
          <a:blipFill>
            <a:blip r:embed="rId6"/>
            <a:stretch>
              <a:fillRect l="0" t="0" r="0" b="0"/>
            </a:stretch>
          </a:blipFill>
          <a:ln w="38100" cap="rnd">
            <a:solidFill>
              <a:srgbClr val="FFFFFF"/>
            </a:solidFill>
            <a:prstDash val="solid"/>
            <a:round/>
          </a:ln>
        </p:spPr>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
        <p:nvSpPr>
          <p:cNvPr name="TextBox 6" id="6"/>
          <p:cNvSpPr txBox="true"/>
          <p:nvPr/>
        </p:nvSpPr>
        <p:spPr>
          <a:xfrm rot="0">
            <a:off x="10107392" y="3394012"/>
            <a:ext cx="9659079" cy="5864288"/>
          </a:xfrm>
          <a:prstGeom prst="rect">
            <a:avLst/>
          </a:prstGeom>
        </p:spPr>
        <p:txBody>
          <a:bodyPr anchor="t" rtlCol="false" tIns="0" lIns="0" bIns="0" rIns="0">
            <a:spAutoFit/>
          </a:bodyPr>
          <a:lstStyle/>
          <a:p>
            <a:pPr algn="just" marL="704732" indent="-352366" lvl="1">
              <a:lnSpc>
                <a:spcPts val="4569"/>
              </a:lnSpc>
              <a:buFont typeface="Arial"/>
              <a:buChar char="•"/>
            </a:pPr>
            <a:r>
              <a:rPr lang="en-US" sz="3264">
                <a:solidFill>
                  <a:srgbClr val="000000"/>
                </a:solidFill>
                <a:latin typeface="Canva Sans"/>
                <a:ea typeface="Canva Sans"/>
                <a:cs typeface="Canva Sans"/>
                <a:sym typeface="Canva Sans"/>
              </a:rPr>
              <a:t>Improved version of</a:t>
            </a:r>
            <a:r>
              <a:rPr lang="en-US" sz="3264">
                <a:solidFill>
                  <a:srgbClr val="000000"/>
                </a:solidFill>
                <a:latin typeface="Canva Sans"/>
                <a:ea typeface="Canva Sans"/>
                <a:cs typeface="Canva Sans"/>
                <a:sym typeface="Canva Sans"/>
              </a:rPr>
              <a:t> YOLOv3</a:t>
            </a:r>
          </a:p>
          <a:p>
            <a:pPr algn="just" marL="704732" indent="-352366" lvl="1">
              <a:lnSpc>
                <a:spcPts val="4569"/>
              </a:lnSpc>
              <a:buFont typeface="Arial"/>
              <a:buChar char="•"/>
            </a:pPr>
            <a:r>
              <a:rPr lang="en-US" sz="3264">
                <a:solidFill>
                  <a:srgbClr val="000000"/>
                </a:solidFill>
                <a:latin typeface="Canva Sans"/>
                <a:ea typeface="Canva Sans"/>
                <a:cs typeface="Canva Sans"/>
                <a:sym typeface="Canva Sans"/>
              </a:rPr>
              <a:t>Designed for garbage detection</a:t>
            </a:r>
          </a:p>
          <a:p>
            <a:pPr algn="just" marL="704732" indent="-352366" lvl="1">
              <a:lnSpc>
                <a:spcPts val="4569"/>
              </a:lnSpc>
              <a:buFont typeface="Arial"/>
              <a:buChar char="•"/>
            </a:pPr>
            <a:r>
              <a:rPr lang="en-US" b="true" sz="3264">
                <a:solidFill>
                  <a:srgbClr val="000000"/>
                </a:solidFill>
                <a:latin typeface="Canva Sans Bold"/>
                <a:ea typeface="Canva Sans Bold"/>
                <a:cs typeface="Canva Sans Bold"/>
                <a:sym typeface="Canva Sans Bold"/>
              </a:rPr>
              <a:t>H</a:t>
            </a:r>
            <a:r>
              <a:rPr lang="en-US" b="true" sz="3264">
                <a:solidFill>
                  <a:srgbClr val="000000"/>
                </a:solidFill>
                <a:latin typeface="Canva Sans Bold"/>
                <a:ea typeface="Canva Sans Bold"/>
                <a:cs typeface="Canva Sans Bold"/>
                <a:sym typeface="Canva Sans Bold"/>
              </a:rPr>
              <a:t>andles:</a:t>
            </a:r>
          </a:p>
          <a:p>
            <a:pPr algn="l">
              <a:lnSpc>
                <a:spcPts val="4569"/>
              </a:lnSpc>
            </a:pPr>
            <a:r>
              <a:rPr lang="en-US" sz="3264">
                <a:solidFill>
                  <a:srgbClr val="000000"/>
                </a:solidFill>
                <a:latin typeface="Canva Sans"/>
                <a:ea typeface="Canva Sans"/>
                <a:cs typeface="Canva Sans"/>
                <a:sym typeface="Canva Sans"/>
              </a:rPr>
              <a:t>   </a:t>
            </a:r>
            <a:r>
              <a:rPr lang="en-US" sz="3264">
                <a:solidFill>
                  <a:srgbClr val="000000"/>
                </a:solidFill>
                <a:latin typeface="Canva Sans"/>
                <a:ea typeface="Canva Sans"/>
                <a:cs typeface="Canva Sans"/>
                <a:sym typeface="Canva Sans"/>
              </a:rPr>
              <a:t>            - </a:t>
            </a:r>
            <a:r>
              <a:rPr lang="en-US" sz="3264">
                <a:solidFill>
                  <a:srgbClr val="000000"/>
                </a:solidFill>
                <a:latin typeface="Canva Sans"/>
                <a:ea typeface="Canva Sans"/>
                <a:cs typeface="Canva Sans"/>
                <a:sym typeface="Canva Sans"/>
              </a:rPr>
              <a:t>similar-looking objects</a:t>
            </a:r>
          </a:p>
          <a:p>
            <a:pPr algn="l">
              <a:lnSpc>
                <a:spcPts val="4569"/>
              </a:lnSpc>
            </a:pPr>
            <a:r>
              <a:rPr lang="en-US" sz="3264">
                <a:solidFill>
                  <a:srgbClr val="000000"/>
                </a:solidFill>
                <a:latin typeface="Canva Sans"/>
                <a:ea typeface="Canva Sans"/>
                <a:cs typeface="Canva Sans"/>
                <a:sym typeface="Canva Sans"/>
              </a:rPr>
              <a:t>               - messy backgrounds</a:t>
            </a:r>
          </a:p>
          <a:p>
            <a:pPr algn="l">
              <a:lnSpc>
                <a:spcPts val="4569"/>
              </a:lnSpc>
            </a:pPr>
            <a:r>
              <a:rPr lang="en-US" sz="3264">
                <a:solidFill>
                  <a:srgbClr val="000000"/>
                </a:solidFill>
                <a:latin typeface="Canva Sans"/>
                <a:ea typeface="Canva Sans"/>
                <a:cs typeface="Canva Sans"/>
                <a:sym typeface="Canva Sans"/>
              </a:rPr>
              <a:t>               - small scatter items</a:t>
            </a:r>
          </a:p>
          <a:p>
            <a:pPr algn="just">
              <a:lnSpc>
                <a:spcPts val="4569"/>
              </a:lnSpc>
            </a:pPr>
            <a:r>
              <a:rPr lang="en-US" sz="3264">
                <a:solidFill>
                  <a:srgbClr val="000000"/>
                </a:solidFill>
                <a:latin typeface="Canva Sans"/>
                <a:ea typeface="Canva Sans"/>
                <a:cs typeface="Canva Sans"/>
                <a:sym typeface="Canva Sans"/>
              </a:rPr>
              <a:t>               </a:t>
            </a:r>
          </a:p>
          <a:p>
            <a:pPr algn="just">
              <a:lnSpc>
                <a:spcPts val="4569"/>
              </a:lnSpc>
            </a:pPr>
          </a:p>
          <a:p>
            <a:pPr algn="just">
              <a:lnSpc>
                <a:spcPts val="4569"/>
              </a:lnSpc>
            </a:pPr>
          </a:p>
          <a:p>
            <a:pPr algn="just">
              <a:lnSpc>
                <a:spcPts val="6093"/>
              </a:lnSpc>
            </a:pPr>
          </a:p>
        </p:txBody>
      </p:sp>
      <p:grpSp>
        <p:nvGrpSpPr>
          <p:cNvPr name="Group 7" id="7"/>
          <p:cNvGrpSpPr/>
          <p:nvPr/>
        </p:nvGrpSpPr>
        <p:grpSpPr>
          <a:xfrm rot="0">
            <a:off x="3053894" y="323627"/>
            <a:ext cx="13690376" cy="2304027"/>
            <a:chOff x="0" y="0"/>
            <a:chExt cx="18253835" cy="3072036"/>
          </a:xfrm>
        </p:grpSpPr>
        <p:sp>
          <p:nvSpPr>
            <p:cNvPr name="TextBox 8" id="8"/>
            <p:cNvSpPr txBox="true"/>
            <p:nvPr/>
          </p:nvSpPr>
          <p:spPr>
            <a:xfrm rot="0">
              <a:off x="0" y="114300"/>
              <a:ext cx="18253835" cy="1196340"/>
            </a:xfrm>
            <a:prstGeom prst="rect">
              <a:avLst/>
            </a:prstGeom>
          </p:spPr>
          <p:txBody>
            <a:bodyPr anchor="t" rtlCol="false" tIns="0" lIns="0" bIns="0" rIns="0">
              <a:spAutoFit/>
            </a:bodyPr>
            <a:lstStyle/>
            <a:p>
              <a:pPr algn="ctr">
                <a:lnSpc>
                  <a:spcPts val="6435"/>
                </a:lnSpc>
              </a:pPr>
              <a:r>
                <a:rPr lang="en-US" sz="6500">
                  <a:solidFill>
                    <a:srgbClr val="000000"/>
                  </a:solidFill>
                  <a:latin typeface="Chewy"/>
                  <a:ea typeface="Chewy"/>
                  <a:cs typeface="Chewy"/>
                  <a:sym typeface="Chewy"/>
                </a:rPr>
                <a:t>Proposed Model (Skip-YOLO Overview)</a:t>
              </a:r>
            </a:p>
          </p:txBody>
        </p:sp>
        <p:sp>
          <p:nvSpPr>
            <p:cNvPr name="TextBox 9" id="9"/>
            <p:cNvSpPr txBox="true"/>
            <p:nvPr/>
          </p:nvSpPr>
          <p:spPr>
            <a:xfrm rot="0">
              <a:off x="0" y="2633621"/>
              <a:ext cx="10145426" cy="438415"/>
            </a:xfrm>
            <a:prstGeom prst="rect">
              <a:avLst/>
            </a:prstGeom>
          </p:spPr>
          <p:txBody>
            <a:bodyPr anchor="t" rtlCol="false" tIns="0" lIns="0" bIns="0" rIns="0">
              <a:spAutoFit/>
            </a:bodyPr>
            <a:lstStyle/>
            <a:p>
              <a:pPr algn="ctr">
                <a:lnSpc>
                  <a:spcPts val="2707"/>
                </a:lnSpc>
              </a:pPr>
            </a:p>
          </p:txBody>
        </p:sp>
      </p:grpSp>
      <p:sp>
        <p:nvSpPr>
          <p:cNvPr name="TextBox 10" id="10"/>
          <p:cNvSpPr txBox="true"/>
          <p:nvPr/>
        </p:nvSpPr>
        <p:spPr>
          <a:xfrm rot="0">
            <a:off x="3911184" y="8983220"/>
            <a:ext cx="10465632" cy="666115"/>
          </a:xfrm>
          <a:prstGeom prst="rect">
            <a:avLst/>
          </a:prstGeom>
        </p:spPr>
        <p:txBody>
          <a:bodyPr anchor="t" rtlCol="false" tIns="0" lIns="0" bIns="0" rIns="0">
            <a:spAutoFit/>
          </a:bodyPr>
          <a:lstStyle/>
          <a:p>
            <a:pPr algn="ctr">
              <a:lnSpc>
                <a:spcPts val="2659"/>
              </a:lnSpc>
            </a:pPr>
            <a:r>
              <a:rPr lang="en-US" sz="1899" i="true">
                <a:solidFill>
                  <a:srgbClr val="000000"/>
                </a:solidFill>
                <a:latin typeface="Abhaya Libre Italics"/>
                <a:ea typeface="Abhaya Libre Italics"/>
                <a:cs typeface="Abhaya Libre Italics"/>
                <a:sym typeface="Abhaya Libre Italics"/>
              </a:rPr>
              <a:t>Photos retrieved from Google Gemini</a:t>
            </a:r>
          </a:p>
          <a:p>
            <a:pPr algn="ctr">
              <a:lnSpc>
                <a:spcPts val="2659"/>
              </a:lnSpc>
              <a:spcBef>
                <a:spcPct val="0"/>
              </a:spcBef>
            </a:pPr>
          </a:p>
        </p:txBody>
      </p:sp>
      <p:sp>
        <p:nvSpPr>
          <p:cNvPr name="TextBox 11" id="11"/>
          <p:cNvSpPr txBox="true"/>
          <p:nvPr/>
        </p:nvSpPr>
        <p:spPr>
          <a:xfrm rot="0">
            <a:off x="720635" y="9011795"/>
            <a:ext cx="8237055" cy="198119"/>
          </a:xfrm>
          <a:prstGeom prst="rect">
            <a:avLst/>
          </a:prstGeom>
        </p:spPr>
        <p:txBody>
          <a:bodyPr anchor="t" rtlCol="false" tIns="0" lIns="0" bIns="0" rIns="0">
            <a:spAutoFit/>
          </a:bodyPr>
          <a:lstStyle/>
          <a:p>
            <a:pPr algn="l">
              <a:lnSpc>
                <a:spcPts val="1680"/>
              </a:lnSpc>
            </a:pPr>
            <a:r>
              <a:rPr lang="en-US" sz="1200">
                <a:solidFill>
                  <a:srgbClr val="000000"/>
                </a:solidFill>
                <a:latin typeface="Canva Sans"/>
                <a:ea typeface="Canva Sans"/>
                <a:cs typeface="Canva Sans"/>
                <a:sym typeface="Canva Sans"/>
              </a:rPr>
              <a:t>Presented By Shafin Ahmed (232-15-184)</a:t>
            </a:r>
          </a:p>
        </p:txBody>
      </p:sp>
    </p:spTree>
  </p:cSld>
  <p:clrMapOvr>
    <a:masterClrMapping/>
  </p:clrMapOvr>
  <p:transition spd="fast">
    <p:push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4F2F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796301" y="832103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519527" y="0"/>
            <a:ext cx="5014135" cy="1698373"/>
          </a:xfrm>
          <a:custGeom>
            <a:avLst/>
            <a:gdLst/>
            <a:ahLst/>
            <a:cxnLst/>
            <a:rect r="r" b="b" t="t" l="l"/>
            <a:pathLst>
              <a:path h="1698373" w="5014135">
                <a:moveTo>
                  <a:pt x="0" y="0"/>
                </a:moveTo>
                <a:lnTo>
                  <a:pt x="5014135" y="0"/>
                </a:lnTo>
                <a:lnTo>
                  <a:pt x="5014135" y="1698373"/>
                </a:lnTo>
                <a:lnTo>
                  <a:pt x="0" y="16983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708006" y="2506498"/>
            <a:ext cx="9714707" cy="5814535"/>
          </a:xfrm>
          <a:custGeom>
            <a:avLst/>
            <a:gdLst/>
            <a:ahLst/>
            <a:cxnLst/>
            <a:rect r="r" b="b" t="t" l="l"/>
            <a:pathLst>
              <a:path h="5814535" w="9714707">
                <a:moveTo>
                  <a:pt x="0" y="0"/>
                </a:moveTo>
                <a:lnTo>
                  <a:pt x="9714707" y="0"/>
                </a:lnTo>
                <a:lnTo>
                  <a:pt x="9714707" y="5814535"/>
                </a:lnTo>
                <a:lnTo>
                  <a:pt x="0" y="5814535"/>
                </a:lnTo>
                <a:lnTo>
                  <a:pt x="0" y="0"/>
                </a:lnTo>
                <a:close/>
              </a:path>
            </a:pathLst>
          </a:custGeom>
          <a:blipFill>
            <a:blip r:embed="rId6"/>
            <a:stretch>
              <a:fillRect l="-3202" t="0" r="-3202" b="0"/>
            </a:stretch>
          </a:blipFill>
        </p:spPr>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grpSp>
        <p:nvGrpSpPr>
          <p:cNvPr name="Group 6" id="6"/>
          <p:cNvGrpSpPr/>
          <p:nvPr/>
        </p:nvGrpSpPr>
        <p:grpSpPr>
          <a:xfrm rot="0">
            <a:off x="-453933" y="660001"/>
            <a:ext cx="18190736" cy="2607507"/>
            <a:chOff x="0" y="0"/>
            <a:chExt cx="24254314" cy="3476676"/>
          </a:xfrm>
        </p:grpSpPr>
        <p:sp>
          <p:nvSpPr>
            <p:cNvPr name="TextBox 7" id="7"/>
            <p:cNvSpPr txBox="true"/>
            <p:nvPr/>
          </p:nvSpPr>
          <p:spPr>
            <a:xfrm rot="0">
              <a:off x="0" y="133350"/>
              <a:ext cx="24254314" cy="1361693"/>
            </a:xfrm>
            <a:prstGeom prst="rect">
              <a:avLst/>
            </a:prstGeom>
          </p:spPr>
          <p:txBody>
            <a:bodyPr anchor="t" rtlCol="false" tIns="0" lIns="0" bIns="0" rIns="0">
              <a:spAutoFit/>
            </a:bodyPr>
            <a:lstStyle/>
            <a:p>
              <a:pPr algn="ctr">
                <a:lnSpc>
                  <a:spcPts val="7325"/>
                </a:lnSpc>
              </a:pPr>
              <a:r>
                <a:rPr lang="en-US" sz="7399">
                  <a:solidFill>
                    <a:srgbClr val="000000"/>
                  </a:solidFill>
                  <a:latin typeface="Chewy"/>
                  <a:ea typeface="Chewy"/>
                  <a:cs typeface="Chewy"/>
                  <a:sym typeface="Chewy"/>
                </a:rPr>
                <a:t>Improvement 1 – Large Convolution Kernel</a:t>
              </a:r>
            </a:p>
          </p:txBody>
        </p:sp>
        <p:sp>
          <p:nvSpPr>
            <p:cNvPr name="TextBox 8" id="8"/>
            <p:cNvSpPr txBox="true"/>
            <p:nvPr/>
          </p:nvSpPr>
          <p:spPr>
            <a:xfrm rot="0">
              <a:off x="4162097" y="2884699"/>
              <a:ext cx="10145426" cy="591977"/>
            </a:xfrm>
            <a:prstGeom prst="rect">
              <a:avLst/>
            </a:prstGeom>
          </p:spPr>
          <p:txBody>
            <a:bodyPr anchor="t" rtlCol="false" tIns="0" lIns="0" bIns="0" rIns="0">
              <a:spAutoFit/>
            </a:bodyPr>
            <a:lstStyle/>
            <a:p>
              <a:pPr algn="ctr">
                <a:lnSpc>
                  <a:spcPts val="3619"/>
                </a:lnSpc>
              </a:pPr>
            </a:p>
          </p:txBody>
        </p:sp>
      </p:grpSp>
      <p:sp>
        <p:nvSpPr>
          <p:cNvPr name="TextBox 9" id="9"/>
          <p:cNvSpPr txBox="true"/>
          <p:nvPr/>
        </p:nvSpPr>
        <p:spPr>
          <a:xfrm rot="0">
            <a:off x="3408618" y="9052242"/>
            <a:ext cx="10465632" cy="666115"/>
          </a:xfrm>
          <a:prstGeom prst="rect">
            <a:avLst/>
          </a:prstGeom>
        </p:spPr>
        <p:txBody>
          <a:bodyPr anchor="t" rtlCol="false" tIns="0" lIns="0" bIns="0" rIns="0">
            <a:spAutoFit/>
          </a:bodyPr>
          <a:lstStyle/>
          <a:p>
            <a:pPr algn="ctr">
              <a:lnSpc>
                <a:spcPts val="2659"/>
              </a:lnSpc>
            </a:pPr>
            <a:r>
              <a:rPr lang="en-US" sz="1899" i="true">
                <a:solidFill>
                  <a:srgbClr val="000000"/>
                </a:solidFill>
                <a:latin typeface="Abhaya Libre Italics"/>
                <a:ea typeface="Abhaya Libre Italics"/>
                <a:cs typeface="Abhaya Libre Italics"/>
                <a:sym typeface="Abhaya Libre Italics"/>
              </a:rPr>
              <a:t>Photo retrieved from Google Gemini</a:t>
            </a:r>
          </a:p>
          <a:p>
            <a:pPr algn="ctr">
              <a:lnSpc>
                <a:spcPts val="2659"/>
              </a:lnSpc>
              <a:spcBef>
                <a:spcPct val="0"/>
              </a:spcBef>
            </a:pPr>
          </a:p>
        </p:txBody>
      </p:sp>
      <p:sp>
        <p:nvSpPr>
          <p:cNvPr name="TextBox 10" id="10"/>
          <p:cNvSpPr txBox="true"/>
          <p:nvPr/>
        </p:nvSpPr>
        <p:spPr>
          <a:xfrm rot="0">
            <a:off x="906945" y="8850631"/>
            <a:ext cx="8237055" cy="407669"/>
          </a:xfrm>
          <a:prstGeom prst="rect">
            <a:avLst/>
          </a:prstGeom>
        </p:spPr>
        <p:txBody>
          <a:bodyPr anchor="t" rtlCol="false" tIns="0" lIns="0" bIns="0" rIns="0">
            <a:spAutoFit/>
          </a:bodyPr>
          <a:lstStyle/>
          <a:p>
            <a:pPr algn="l">
              <a:lnSpc>
                <a:spcPts val="1680"/>
              </a:lnSpc>
            </a:pPr>
            <a:r>
              <a:rPr lang="en-US" sz="1200">
                <a:solidFill>
                  <a:srgbClr val="000000"/>
                </a:solidFill>
                <a:latin typeface="Canva Sans"/>
                <a:ea typeface="Canva Sans"/>
                <a:cs typeface="Canva Sans"/>
                <a:sym typeface="Canva Sans"/>
              </a:rPr>
              <a:t>Presented By </a:t>
            </a:r>
          </a:p>
          <a:p>
            <a:pPr algn="l">
              <a:lnSpc>
                <a:spcPts val="1680"/>
              </a:lnSpc>
            </a:pPr>
            <a:r>
              <a:rPr lang="en-US" sz="1200">
                <a:solidFill>
                  <a:srgbClr val="000000"/>
                </a:solidFill>
                <a:latin typeface="Canva Sans"/>
                <a:ea typeface="Canva Sans"/>
                <a:cs typeface="Canva Sans"/>
                <a:sym typeface="Canva Sans"/>
              </a:rPr>
              <a:t>Shafin Ahmed (232-15-184)</a:t>
            </a:r>
          </a:p>
        </p:txBody>
      </p:sp>
      <p:sp>
        <p:nvSpPr>
          <p:cNvPr name="TextBox 11" id="11"/>
          <p:cNvSpPr txBox="true"/>
          <p:nvPr/>
        </p:nvSpPr>
        <p:spPr>
          <a:xfrm rot="0">
            <a:off x="686228" y="3992318"/>
            <a:ext cx="6400230" cy="2785745"/>
          </a:xfrm>
          <a:prstGeom prst="rect">
            <a:avLst/>
          </a:prstGeom>
        </p:spPr>
        <p:txBody>
          <a:bodyPr anchor="t" rtlCol="false" tIns="0" lIns="0" bIns="0" rIns="0">
            <a:spAutoFit/>
          </a:bodyPr>
          <a:lstStyle/>
          <a:p>
            <a:pPr algn="just" marL="690877" indent="-345439" lvl="1">
              <a:lnSpc>
                <a:spcPts val="4479"/>
              </a:lnSpc>
              <a:buFont typeface="Arial"/>
              <a:buChar char="•"/>
            </a:pPr>
            <a:r>
              <a:rPr lang="en-US" b="true" sz="3199">
                <a:solidFill>
                  <a:srgbClr val="000000"/>
                </a:solidFill>
                <a:latin typeface="Canva Sans Bold"/>
                <a:ea typeface="Canva Sans Bold"/>
                <a:cs typeface="Canva Sans Bold"/>
                <a:sym typeface="Canva Sans Bold"/>
              </a:rPr>
              <a:t>7×7 </a:t>
            </a:r>
            <a:r>
              <a:rPr lang="en-US" sz="3199">
                <a:solidFill>
                  <a:srgbClr val="000000"/>
                </a:solidFill>
                <a:latin typeface="Canva Sans"/>
                <a:ea typeface="Canva Sans"/>
                <a:cs typeface="Canva Sans"/>
                <a:sym typeface="Canva Sans"/>
              </a:rPr>
              <a:t>kernel</a:t>
            </a:r>
          </a:p>
          <a:p>
            <a:pPr algn="just" marL="690877" indent="-345439" lvl="1">
              <a:lnSpc>
                <a:spcPts val="4479"/>
              </a:lnSpc>
              <a:buFont typeface="Arial"/>
              <a:buChar char="•"/>
            </a:pPr>
            <a:r>
              <a:rPr lang="en-US" sz="3199">
                <a:solidFill>
                  <a:srgbClr val="000000"/>
                </a:solidFill>
                <a:latin typeface="Canva Sans"/>
                <a:ea typeface="Canva Sans"/>
                <a:cs typeface="Canva Sans"/>
                <a:sym typeface="Canva Sans"/>
              </a:rPr>
              <a:t>Can see larger area</a:t>
            </a:r>
          </a:p>
          <a:p>
            <a:pPr algn="just" marL="690877" indent="-345439" lvl="1">
              <a:lnSpc>
                <a:spcPts val="4479"/>
              </a:lnSpc>
              <a:buFont typeface="Arial"/>
              <a:buChar char="•"/>
            </a:pPr>
            <a:r>
              <a:rPr lang="en-US" sz="3199">
                <a:solidFill>
                  <a:srgbClr val="000000"/>
                </a:solidFill>
                <a:latin typeface="Canva Sans"/>
                <a:ea typeface="Canva Sans"/>
                <a:cs typeface="Canva Sans"/>
                <a:sym typeface="Canva Sans"/>
              </a:rPr>
              <a:t>Understand the surrounding context better </a:t>
            </a:r>
          </a:p>
          <a:p>
            <a:pPr algn="just" marL="690877" indent="-345439" lvl="1">
              <a:lnSpc>
                <a:spcPts val="4479"/>
              </a:lnSpc>
              <a:buFont typeface="Arial"/>
              <a:buChar char="•"/>
            </a:pPr>
            <a:r>
              <a:rPr lang="en-US" sz="3199">
                <a:solidFill>
                  <a:srgbClr val="000000"/>
                </a:solidFill>
                <a:latin typeface="Canva Sans"/>
                <a:ea typeface="Canva Sans"/>
                <a:cs typeface="Canva Sans"/>
                <a:sym typeface="Canva Sans"/>
              </a:rPr>
              <a:t>OD becomes accurate </a:t>
            </a:r>
          </a:p>
        </p:txBody>
      </p:sp>
    </p:spTree>
  </p:cSld>
  <p:clrMapOvr>
    <a:masterClrMapping/>
  </p:clrMapOvr>
  <p:transition spd="slow">
    <p:wipe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4F2F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796301" y="832103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519527" y="0"/>
            <a:ext cx="5014135" cy="1698373"/>
          </a:xfrm>
          <a:custGeom>
            <a:avLst/>
            <a:gdLst/>
            <a:ahLst/>
            <a:cxnLst/>
            <a:rect r="r" b="b" t="t" l="l"/>
            <a:pathLst>
              <a:path h="1698373" w="5014135">
                <a:moveTo>
                  <a:pt x="0" y="0"/>
                </a:moveTo>
                <a:lnTo>
                  <a:pt x="5014135" y="0"/>
                </a:lnTo>
                <a:lnTo>
                  <a:pt x="5014135" y="1698373"/>
                </a:lnTo>
                <a:lnTo>
                  <a:pt x="0" y="16983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31265" y="2571737"/>
            <a:ext cx="7612735" cy="5654768"/>
          </a:xfrm>
          <a:custGeom>
            <a:avLst/>
            <a:gdLst/>
            <a:ahLst/>
            <a:cxnLst/>
            <a:rect r="r" b="b" t="t" l="l"/>
            <a:pathLst>
              <a:path h="5654768" w="7612735">
                <a:moveTo>
                  <a:pt x="0" y="0"/>
                </a:moveTo>
                <a:lnTo>
                  <a:pt x="7612735" y="0"/>
                </a:lnTo>
                <a:lnTo>
                  <a:pt x="7612735" y="5654767"/>
                </a:lnTo>
                <a:lnTo>
                  <a:pt x="0" y="5654767"/>
                </a:lnTo>
                <a:lnTo>
                  <a:pt x="0" y="0"/>
                </a:lnTo>
                <a:close/>
              </a:path>
            </a:pathLst>
          </a:custGeom>
          <a:blipFill>
            <a:blip r:embed="rId6"/>
            <a:stretch>
              <a:fillRect l="0" t="0" r="-32053" b="0"/>
            </a:stretch>
          </a:blipFill>
        </p:spPr>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grpSp>
        <p:nvGrpSpPr>
          <p:cNvPr name="Group 6" id="6"/>
          <p:cNvGrpSpPr/>
          <p:nvPr/>
        </p:nvGrpSpPr>
        <p:grpSpPr>
          <a:xfrm rot="0">
            <a:off x="285115" y="849187"/>
            <a:ext cx="18474515" cy="2607507"/>
            <a:chOff x="0" y="0"/>
            <a:chExt cx="24632687" cy="3476676"/>
          </a:xfrm>
        </p:grpSpPr>
        <p:sp>
          <p:nvSpPr>
            <p:cNvPr name="TextBox 7" id="7"/>
            <p:cNvSpPr txBox="true"/>
            <p:nvPr/>
          </p:nvSpPr>
          <p:spPr>
            <a:xfrm rot="0">
              <a:off x="0" y="133350"/>
              <a:ext cx="24632687" cy="1361693"/>
            </a:xfrm>
            <a:prstGeom prst="rect">
              <a:avLst/>
            </a:prstGeom>
          </p:spPr>
          <p:txBody>
            <a:bodyPr anchor="t" rtlCol="false" tIns="0" lIns="0" bIns="0" rIns="0">
              <a:spAutoFit/>
            </a:bodyPr>
            <a:lstStyle/>
            <a:p>
              <a:pPr algn="ctr">
                <a:lnSpc>
                  <a:spcPts val="7325"/>
                </a:lnSpc>
              </a:pPr>
              <a:r>
                <a:rPr lang="en-US" sz="7399">
                  <a:solidFill>
                    <a:srgbClr val="000000"/>
                  </a:solidFill>
                  <a:latin typeface="Chewy"/>
                  <a:ea typeface="Chewy"/>
                  <a:cs typeface="Chewy"/>
                  <a:sym typeface="Chewy"/>
                </a:rPr>
                <a:t>Improvement 2 – Dense Convolution Block</a:t>
              </a:r>
            </a:p>
          </p:txBody>
        </p:sp>
        <p:sp>
          <p:nvSpPr>
            <p:cNvPr name="TextBox 8" id="8"/>
            <p:cNvSpPr txBox="true"/>
            <p:nvPr/>
          </p:nvSpPr>
          <p:spPr>
            <a:xfrm rot="0">
              <a:off x="4498428" y="2884699"/>
              <a:ext cx="10145426" cy="591977"/>
            </a:xfrm>
            <a:prstGeom prst="rect">
              <a:avLst/>
            </a:prstGeom>
          </p:spPr>
          <p:txBody>
            <a:bodyPr anchor="t" rtlCol="false" tIns="0" lIns="0" bIns="0" rIns="0">
              <a:spAutoFit/>
            </a:bodyPr>
            <a:lstStyle/>
            <a:p>
              <a:pPr algn="ctr">
                <a:lnSpc>
                  <a:spcPts val="3619"/>
                </a:lnSpc>
              </a:pPr>
            </a:p>
          </p:txBody>
        </p:sp>
      </p:grpSp>
      <p:sp>
        <p:nvSpPr>
          <p:cNvPr name="TextBox 9" id="9"/>
          <p:cNvSpPr txBox="true"/>
          <p:nvPr/>
        </p:nvSpPr>
        <p:spPr>
          <a:xfrm rot="0">
            <a:off x="3408618" y="9052242"/>
            <a:ext cx="10465632" cy="666115"/>
          </a:xfrm>
          <a:prstGeom prst="rect">
            <a:avLst/>
          </a:prstGeom>
        </p:spPr>
        <p:txBody>
          <a:bodyPr anchor="t" rtlCol="false" tIns="0" lIns="0" bIns="0" rIns="0">
            <a:spAutoFit/>
          </a:bodyPr>
          <a:lstStyle/>
          <a:p>
            <a:pPr algn="ctr">
              <a:lnSpc>
                <a:spcPts val="2659"/>
              </a:lnSpc>
            </a:pPr>
            <a:r>
              <a:rPr lang="en-US" sz="1899" i="true">
                <a:solidFill>
                  <a:srgbClr val="000000"/>
                </a:solidFill>
                <a:latin typeface="Abhaya Libre Italics"/>
                <a:ea typeface="Abhaya Libre Italics"/>
                <a:cs typeface="Abhaya Libre Italics"/>
                <a:sym typeface="Abhaya Libre Italics"/>
              </a:rPr>
              <a:t>Photo retrieved from Google Gemini</a:t>
            </a:r>
          </a:p>
          <a:p>
            <a:pPr algn="ctr">
              <a:lnSpc>
                <a:spcPts val="2659"/>
              </a:lnSpc>
              <a:spcBef>
                <a:spcPct val="0"/>
              </a:spcBef>
            </a:pPr>
          </a:p>
        </p:txBody>
      </p:sp>
      <p:sp>
        <p:nvSpPr>
          <p:cNvPr name="TextBox 10" id="10"/>
          <p:cNvSpPr txBox="true"/>
          <p:nvPr/>
        </p:nvSpPr>
        <p:spPr>
          <a:xfrm rot="0">
            <a:off x="906945" y="8850631"/>
            <a:ext cx="8237055" cy="407669"/>
          </a:xfrm>
          <a:prstGeom prst="rect">
            <a:avLst/>
          </a:prstGeom>
        </p:spPr>
        <p:txBody>
          <a:bodyPr anchor="t" rtlCol="false" tIns="0" lIns="0" bIns="0" rIns="0">
            <a:spAutoFit/>
          </a:bodyPr>
          <a:lstStyle/>
          <a:p>
            <a:pPr algn="l">
              <a:lnSpc>
                <a:spcPts val="1680"/>
              </a:lnSpc>
            </a:pPr>
            <a:r>
              <a:rPr lang="en-US" sz="1200">
                <a:solidFill>
                  <a:srgbClr val="000000"/>
                </a:solidFill>
                <a:latin typeface="Canva Sans"/>
                <a:ea typeface="Canva Sans"/>
                <a:cs typeface="Canva Sans"/>
                <a:sym typeface="Canva Sans"/>
              </a:rPr>
              <a:t>Presented By </a:t>
            </a:r>
          </a:p>
          <a:p>
            <a:pPr algn="l">
              <a:lnSpc>
                <a:spcPts val="1680"/>
              </a:lnSpc>
            </a:pPr>
            <a:r>
              <a:rPr lang="en-US" sz="1200">
                <a:solidFill>
                  <a:srgbClr val="000000"/>
                </a:solidFill>
                <a:latin typeface="Canva Sans"/>
                <a:ea typeface="Canva Sans"/>
                <a:cs typeface="Canva Sans"/>
                <a:sym typeface="Canva Sans"/>
              </a:rPr>
              <a:t>Shafin Ahmed (232-15-184)</a:t>
            </a:r>
          </a:p>
        </p:txBody>
      </p:sp>
      <p:sp>
        <p:nvSpPr>
          <p:cNvPr name="TextBox 11" id="11"/>
          <p:cNvSpPr txBox="true"/>
          <p:nvPr/>
        </p:nvSpPr>
        <p:spPr>
          <a:xfrm rot="0">
            <a:off x="9818785" y="2879090"/>
            <a:ext cx="6556756" cy="4471670"/>
          </a:xfrm>
          <a:prstGeom prst="rect">
            <a:avLst/>
          </a:prstGeom>
        </p:spPr>
        <p:txBody>
          <a:bodyPr anchor="t" rtlCol="false" tIns="0" lIns="0" bIns="0" rIns="0">
            <a:spAutoFit/>
          </a:bodyPr>
          <a:lstStyle/>
          <a:p>
            <a:pPr algn="just">
              <a:lnSpc>
                <a:spcPts val="4479"/>
              </a:lnSpc>
            </a:pPr>
          </a:p>
          <a:p>
            <a:pPr algn="just" marL="690877" indent="-345439" lvl="1">
              <a:lnSpc>
                <a:spcPts val="4479"/>
              </a:lnSpc>
              <a:buFont typeface="Arial"/>
              <a:buChar char="•"/>
            </a:pPr>
            <a:r>
              <a:rPr lang="en-US" b="true" sz="3199">
                <a:solidFill>
                  <a:srgbClr val="000000"/>
                </a:solidFill>
                <a:latin typeface="Canva Sans Bold"/>
                <a:ea typeface="Canva Sans Bold"/>
                <a:cs typeface="Canva Sans Bold"/>
                <a:sym typeface="Canva Sans Bold"/>
              </a:rPr>
              <a:t>CNN:</a:t>
            </a:r>
            <a:r>
              <a:rPr lang="en-US" sz="3199">
                <a:solidFill>
                  <a:srgbClr val="000000"/>
                </a:solidFill>
                <a:latin typeface="Canva Sans"/>
                <a:ea typeface="Canva Sans"/>
                <a:cs typeface="Canva Sans"/>
                <a:sym typeface="Canva Sans"/>
              </a:rPr>
              <a:t> Layer work one after another</a:t>
            </a:r>
          </a:p>
          <a:p>
            <a:pPr algn="just" marL="690877" indent="-345439" lvl="1">
              <a:lnSpc>
                <a:spcPts val="4479"/>
              </a:lnSpc>
              <a:buFont typeface="Arial"/>
              <a:buChar char="•"/>
            </a:pPr>
            <a:r>
              <a:rPr lang="en-US" sz="3199">
                <a:solidFill>
                  <a:srgbClr val="000000"/>
                </a:solidFill>
                <a:latin typeface="Canva Sans"/>
                <a:ea typeface="Canva Sans"/>
                <a:cs typeface="Canva Sans"/>
                <a:sym typeface="Canva Sans"/>
              </a:rPr>
              <a:t>All layers connected</a:t>
            </a:r>
          </a:p>
          <a:p>
            <a:pPr algn="just" marL="690877" indent="-345439" lvl="1">
              <a:lnSpc>
                <a:spcPts val="4479"/>
              </a:lnSpc>
              <a:buFont typeface="Arial"/>
              <a:buChar char="•"/>
            </a:pPr>
            <a:r>
              <a:rPr lang="en-US" sz="3199">
                <a:solidFill>
                  <a:srgbClr val="000000"/>
                </a:solidFill>
                <a:latin typeface="Canva Sans"/>
                <a:ea typeface="Canva Sans"/>
                <a:cs typeface="Canva Sans"/>
                <a:sym typeface="Canva Sans"/>
              </a:rPr>
              <a:t>Feature reuse </a:t>
            </a:r>
            <a:r>
              <a:rPr lang="en-US" b="true" sz="3199">
                <a:solidFill>
                  <a:srgbClr val="000000"/>
                </a:solidFill>
                <a:latin typeface="Canva Sans Bold"/>
                <a:ea typeface="Canva Sans Bold"/>
                <a:cs typeface="Canva Sans Bold"/>
                <a:sym typeface="Canva Sans Bold"/>
              </a:rPr>
              <a:t>(edges, colors, shapes)</a:t>
            </a:r>
          </a:p>
          <a:p>
            <a:pPr algn="just" marL="690877" indent="-345439" lvl="1">
              <a:lnSpc>
                <a:spcPts val="4479"/>
              </a:lnSpc>
              <a:buFont typeface="Arial"/>
              <a:buChar char="•"/>
            </a:pPr>
            <a:r>
              <a:rPr lang="en-US" sz="3199">
                <a:solidFill>
                  <a:srgbClr val="000000"/>
                </a:solidFill>
                <a:latin typeface="Canva Sans"/>
                <a:ea typeface="Canva Sans"/>
                <a:cs typeface="Canva Sans"/>
                <a:sym typeface="Canva Sans"/>
              </a:rPr>
              <a:t>Learning become stronger</a:t>
            </a:r>
          </a:p>
          <a:p>
            <a:pPr algn="just" marL="690877" indent="-345439" lvl="1">
              <a:lnSpc>
                <a:spcPts val="4479"/>
              </a:lnSpc>
              <a:buFont typeface="Arial"/>
              <a:buChar char="•"/>
            </a:pPr>
            <a:r>
              <a:rPr lang="en-US" sz="3199">
                <a:solidFill>
                  <a:srgbClr val="000000"/>
                </a:solidFill>
                <a:latin typeface="Canva Sans"/>
                <a:ea typeface="Canva Sans"/>
                <a:cs typeface="Canva Sans"/>
                <a:sym typeface="Canva Sans"/>
              </a:rPr>
              <a:t>Reduce overfitting</a:t>
            </a:r>
          </a:p>
        </p:txBody>
      </p:sp>
    </p:spTree>
  </p:cSld>
  <p:clrMapOvr>
    <a:masterClrMapping/>
  </p:clrMapOvr>
  <p:transition spd="fast">
    <p:wipe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4F2F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796301" y="832103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519527" y="0"/>
            <a:ext cx="5014135" cy="1698373"/>
          </a:xfrm>
          <a:custGeom>
            <a:avLst/>
            <a:gdLst/>
            <a:ahLst/>
            <a:cxnLst/>
            <a:rect r="r" b="b" t="t" l="l"/>
            <a:pathLst>
              <a:path h="1698373" w="5014135">
                <a:moveTo>
                  <a:pt x="0" y="0"/>
                </a:moveTo>
                <a:lnTo>
                  <a:pt x="5014135" y="0"/>
                </a:lnTo>
                <a:lnTo>
                  <a:pt x="5014135" y="1698373"/>
                </a:lnTo>
                <a:lnTo>
                  <a:pt x="0" y="16983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09678" y="3012391"/>
            <a:ext cx="8743570" cy="4898739"/>
          </a:xfrm>
          <a:custGeom>
            <a:avLst/>
            <a:gdLst/>
            <a:ahLst/>
            <a:cxnLst/>
            <a:rect r="r" b="b" t="t" l="l"/>
            <a:pathLst>
              <a:path h="4898739" w="8743570">
                <a:moveTo>
                  <a:pt x="0" y="0"/>
                </a:moveTo>
                <a:lnTo>
                  <a:pt x="8743569" y="0"/>
                </a:lnTo>
                <a:lnTo>
                  <a:pt x="8743569" y="4898739"/>
                </a:lnTo>
                <a:lnTo>
                  <a:pt x="0" y="4898739"/>
                </a:lnTo>
                <a:lnTo>
                  <a:pt x="0" y="0"/>
                </a:lnTo>
                <a:close/>
              </a:path>
            </a:pathLst>
          </a:custGeom>
          <a:blipFill>
            <a:blip r:embed="rId6"/>
            <a:stretch>
              <a:fillRect l="0" t="-18916" r="0" b="0"/>
            </a:stretch>
          </a:blipFill>
        </p:spPr>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grpSp>
        <p:nvGrpSpPr>
          <p:cNvPr name="Group 6" id="6"/>
          <p:cNvGrpSpPr/>
          <p:nvPr/>
        </p:nvGrpSpPr>
        <p:grpSpPr>
          <a:xfrm rot="0">
            <a:off x="2623162" y="619196"/>
            <a:ext cx="14060170" cy="2145545"/>
            <a:chOff x="0" y="0"/>
            <a:chExt cx="18746894" cy="2860726"/>
          </a:xfrm>
        </p:grpSpPr>
        <p:sp>
          <p:nvSpPr>
            <p:cNvPr name="TextBox 7" id="7"/>
            <p:cNvSpPr txBox="true"/>
            <p:nvPr/>
          </p:nvSpPr>
          <p:spPr>
            <a:xfrm rot="0">
              <a:off x="0" y="133350"/>
              <a:ext cx="18746894" cy="1361693"/>
            </a:xfrm>
            <a:prstGeom prst="rect">
              <a:avLst/>
            </a:prstGeom>
          </p:spPr>
          <p:txBody>
            <a:bodyPr anchor="t" rtlCol="false" tIns="0" lIns="0" bIns="0" rIns="0">
              <a:spAutoFit/>
            </a:bodyPr>
            <a:lstStyle/>
            <a:p>
              <a:pPr algn="ctr">
                <a:lnSpc>
                  <a:spcPts val="7325"/>
                </a:lnSpc>
              </a:pPr>
              <a:r>
                <a:rPr lang="en-US" sz="7399">
                  <a:solidFill>
                    <a:srgbClr val="000000"/>
                  </a:solidFill>
                  <a:latin typeface="Chewy"/>
                  <a:ea typeface="Chewy"/>
                  <a:cs typeface="Chewy"/>
                  <a:sym typeface="Chewy"/>
                </a:rPr>
                <a:t>Improvement 3 – Multi-scale Fusion</a:t>
              </a:r>
            </a:p>
          </p:txBody>
        </p:sp>
        <p:sp>
          <p:nvSpPr>
            <p:cNvPr name="TextBox 8" id="8"/>
            <p:cNvSpPr txBox="true"/>
            <p:nvPr/>
          </p:nvSpPr>
          <p:spPr>
            <a:xfrm rot="0">
              <a:off x="0" y="2268749"/>
              <a:ext cx="13629985" cy="591977"/>
            </a:xfrm>
            <a:prstGeom prst="rect">
              <a:avLst/>
            </a:prstGeom>
          </p:spPr>
          <p:txBody>
            <a:bodyPr anchor="t" rtlCol="false" tIns="0" lIns="0" bIns="0" rIns="0">
              <a:spAutoFit/>
            </a:bodyPr>
            <a:lstStyle/>
            <a:p>
              <a:pPr algn="ctr">
                <a:lnSpc>
                  <a:spcPts val="3619"/>
                </a:lnSpc>
              </a:pPr>
            </a:p>
          </p:txBody>
        </p:sp>
      </p:grpSp>
      <p:sp>
        <p:nvSpPr>
          <p:cNvPr name="TextBox 9" id="9"/>
          <p:cNvSpPr txBox="true"/>
          <p:nvPr/>
        </p:nvSpPr>
        <p:spPr>
          <a:xfrm rot="0">
            <a:off x="3408618" y="9052242"/>
            <a:ext cx="10465632" cy="666115"/>
          </a:xfrm>
          <a:prstGeom prst="rect">
            <a:avLst/>
          </a:prstGeom>
        </p:spPr>
        <p:txBody>
          <a:bodyPr anchor="t" rtlCol="false" tIns="0" lIns="0" bIns="0" rIns="0">
            <a:spAutoFit/>
          </a:bodyPr>
          <a:lstStyle/>
          <a:p>
            <a:pPr algn="ctr">
              <a:lnSpc>
                <a:spcPts val="2659"/>
              </a:lnSpc>
            </a:pPr>
            <a:r>
              <a:rPr lang="en-US" sz="1899" i="true">
                <a:solidFill>
                  <a:srgbClr val="000000"/>
                </a:solidFill>
                <a:latin typeface="Abhaya Libre Italics"/>
                <a:ea typeface="Abhaya Libre Italics"/>
                <a:cs typeface="Abhaya Libre Italics"/>
                <a:sym typeface="Abhaya Libre Italics"/>
              </a:rPr>
              <a:t>Photo retrieved from ChatGPT</a:t>
            </a:r>
          </a:p>
          <a:p>
            <a:pPr algn="ctr">
              <a:lnSpc>
                <a:spcPts val="2659"/>
              </a:lnSpc>
              <a:spcBef>
                <a:spcPct val="0"/>
              </a:spcBef>
            </a:pPr>
          </a:p>
        </p:txBody>
      </p:sp>
      <p:sp>
        <p:nvSpPr>
          <p:cNvPr name="TextBox 10" id="10"/>
          <p:cNvSpPr txBox="true"/>
          <p:nvPr/>
        </p:nvSpPr>
        <p:spPr>
          <a:xfrm rot="0">
            <a:off x="906945" y="8850631"/>
            <a:ext cx="8237055" cy="407669"/>
          </a:xfrm>
          <a:prstGeom prst="rect">
            <a:avLst/>
          </a:prstGeom>
        </p:spPr>
        <p:txBody>
          <a:bodyPr anchor="t" rtlCol="false" tIns="0" lIns="0" bIns="0" rIns="0">
            <a:spAutoFit/>
          </a:bodyPr>
          <a:lstStyle/>
          <a:p>
            <a:pPr algn="l">
              <a:lnSpc>
                <a:spcPts val="1680"/>
              </a:lnSpc>
            </a:pPr>
            <a:r>
              <a:rPr lang="en-US" sz="1200">
                <a:solidFill>
                  <a:srgbClr val="000000"/>
                </a:solidFill>
                <a:latin typeface="Canva Sans"/>
                <a:ea typeface="Canva Sans"/>
                <a:cs typeface="Canva Sans"/>
                <a:sym typeface="Canva Sans"/>
              </a:rPr>
              <a:t>Presented By </a:t>
            </a:r>
          </a:p>
          <a:p>
            <a:pPr algn="l">
              <a:lnSpc>
                <a:spcPts val="1680"/>
              </a:lnSpc>
            </a:pPr>
            <a:r>
              <a:rPr lang="en-US" sz="1200">
                <a:solidFill>
                  <a:srgbClr val="000000"/>
                </a:solidFill>
                <a:latin typeface="Canva Sans"/>
                <a:ea typeface="Canva Sans"/>
                <a:cs typeface="Canva Sans"/>
                <a:sym typeface="Canva Sans"/>
              </a:rPr>
              <a:t>Shafin Ahmed (232-15-184)</a:t>
            </a:r>
          </a:p>
        </p:txBody>
      </p:sp>
      <p:sp>
        <p:nvSpPr>
          <p:cNvPr name="TextBox 11" id="11"/>
          <p:cNvSpPr txBox="true"/>
          <p:nvPr/>
        </p:nvSpPr>
        <p:spPr>
          <a:xfrm rot="0">
            <a:off x="10291751" y="3672074"/>
            <a:ext cx="7165000" cy="3909695"/>
          </a:xfrm>
          <a:prstGeom prst="rect">
            <a:avLst/>
          </a:prstGeom>
        </p:spPr>
        <p:txBody>
          <a:bodyPr anchor="t" rtlCol="false" tIns="0" lIns="0" bIns="0" rIns="0">
            <a:spAutoFit/>
          </a:bodyPr>
          <a:lstStyle/>
          <a:p>
            <a:pPr algn="just" marL="690877" indent="-345439" lvl="1">
              <a:lnSpc>
                <a:spcPts val="4479"/>
              </a:lnSpc>
              <a:buFont typeface="Arial"/>
              <a:buChar char="•"/>
            </a:pPr>
            <a:r>
              <a:rPr lang="en-US" sz="3199">
                <a:solidFill>
                  <a:srgbClr val="000000"/>
                </a:solidFill>
                <a:latin typeface="Canva Sans"/>
                <a:ea typeface="Canva Sans"/>
                <a:cs typeface="Canva Sans"/>
                <a:sym typeface="Canva Sans"/>
              </a:rPr>
              <a:t>Combines features </a:t>
            </a:r>
          </a:p>
          <a:p>
            <a:pPr algn="just" marL="690877" indent="-345439" lvl="1">
              <a:lnSpc>
                <a:spcPts val="4479"/>
              </a:lnSpc>
              <a:buFont typeface="Arial"/>
              <a:buChar char="•"/>
            </a:pPr>
            <a:r>
              <a:rPr lang="en-US" b="true" sz="3199">
                <a:solidFill>
                  <a:srgbClr val="000000"/>
                </a:solidFill>
                <a:latin typeface="Canva Sans Bold"/>
                <a:ea typeface="Canva Sans Bold"/>
                <a:cs typeface="Canva Sans Bold"/>
                <a:sym typeface="Canva Sans Bold"/>
              </a:rPr>
              <a:t>LL</a:t>
            </a:r>
            <a:r>
              <a:rPr lang="en-US" sz="3199">
                <a:solidFill>
                  <a:srgbClr val="000000"/>
                </a:solidFill>
                <a:latin typeface="Canva Sans"/>
                <a:ea typeface="Canva Sans"/>
                <a:cs typeface="Canva Sans"/>
                <a:sym typeface="Canva Sans"/>
              </a:rPr>
              <a:t> capture fine details</a:t>
            </a:r>
          </a:p>
          <a:p>
            <a:pPr algn="just" marL="690877" indent="-345439" lvl="1">
              <a:lnSpc>
                <a:spcPts val="4479"/>
              </a:lnSpc>
              <a:buFont typeface="Arial"/>
              <a:buChar char="•"/>
            </a:pPr>
            <a:r>
              <a:rPr lang="en-US" b="true" sz="3199">
                <a:solidFill>
                  <a:srgbClr val="000000"/>
                </a:solidFill>
                <a:latin typeface="Canva Sans Bold"/>
                <a:ea typeface="Canva Sans Bold"/>
                <a:cs typeface="Canva Sans Bold"/>
                <a:sym typeface="Canva Sans Bold"/>
              </a:rPr>
              <a:t>DL </a:t>
            </a:r>
            <a:r>
              <a:rPr lang="en-US" sz="3199">
                <a:solidFill>
                  <a:srgbClr val="000000"/>
                </a:solidFill>
                <a:latin typeface="Canva Sans"/>
                <a:ea typeface="Canva Sans"/>
                <a:cs typeface="Canva Sans"/>
                <a:sym typeface="Canva Sans"/>
              </a:rPr>
              <a:t>→ High level info. </a:t>
            </a:r>
          </a:p>
          <a:p>
            <a:pPr algn="just" marL="690877" indent="-345439" lvl="1">
              <a:lnSpc>
                <a:spcPts val="4479"/>
              </a:lnSpc>
              <a:buFont typeface="Arial"/>
              <a:buChar char="•"/>
            </a:pPr>
            <a:r>
              <a:rPr lang="en-US" sz="3199">
                <a:solidFill>
                  <a:srgbClr val="000000"/>
                </a:solidFill>
                <a:latin typeface="Canva Sans"/>
                <a:ea typeface="Canva Sans"/>
                <a:cs typeface="Canva Sans"/>
                <a:sym typeface="Canva Sans"/>
              </a:rPr>
              <a:t>Detects small + large objects</a:t>
            </a:r>
          </a:p>
          <a:p>
            <a:pPr algn="just" marL="690877" indent="-345439" lvl="1">
              <a:lnSpc>
                <a:spcPts val="4479"/>
              </a:lnSpc>
              <a:buFont typeface="Arial"/>
              <a:buChar char="•"/>
            </a:pPr>
            <a:r>
              <a:rPr lang="en-US" sz="3199">
                <a:solidFill>
                  <a:srgbClr val="000000"/>
                </a:solidFill>
                <a:latin typeface="Canva Sans"/>
                <a:ea typeface="Canva Sans"/>
                <a:cs typeface="Canva Sans"/>
                <a:sym typeface="Canva Sans"/>
              </a:rPr>
              <a:t>Improves accuracy in complex scenes</a:t>
            </a:r>
          </a:p>
          <a:p>
            <a:pPr algn="just">
              <a:lnSpc>
                <a:spcPts val="4479"/>
              </a:lnSpc>
            </a:pPr>
          </a:p>
        </p:txBody>
      </p:sp>
      <p:sp>
        <p:nvSpPr>
          <p:cNvPr name="TextBox 12" id="12"/>
          <p:cNvSpPr txBox="true"/>
          <p:nvPr/>
        </p:nvSpPr>
        <p:spPr>
          <a:xfrm rot="0">
            <a:off x="-207344" y="7249029"/>
            <a:ext cx="10465632" cy="332740"/>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Abhaya Libre"/>
                <a:ea typeface="Abhaya Libre"/>
                <a:cs typeface="Abhaya Libre"/>
                <a:sym typeface="Abhaya Libre"/>
              </a:rPr>
              <a:t>Figure: Skip YOLO Multi Scale Detection </a:t>
            </a:r>
          </a:p>
        </p:txBody>
      </p:sp>
    </p:spTree>
  </p:cSld>
  <p:clrMapOvr>
    <a:masterClrMapping/>
  </p:clrMapOvr>
  <p:transition spd="fast">
    <p:wipe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4F2F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796301" y="832103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519527" y="0"/>
            <a:ext cx="5014135" cy="1698373"/>
          </a:xfrm>
          <a:custGeom>
            <a:avLst/>
            <a:gdLst/>
            <a:ahLst/>
            <a:cxnLst/>
            <a:rect r="r" b="b" t="t" l="l"/>
            <a:pathLst>
              <a:path h="1698373" w="5014135">
                <a:moveTo>
                  <a:pt x="0" y="0"/>
                </a:moveTo>
                <a:lnTo>
                  <a:pt x="5014135" y="0"/>
                </a:lnTo>
                <a:lnTo>
                  <a:pt x="5014135" y="1698373"/>
                </a:lnTo>
                <a:lnTo>
                  <a:pt x="0" y="16983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grpSp>
        <p:nvGrpSpPr>
          <p:cNvPr name="Group 5" id="5"/>
          <p:cNvGrpSpPr/>
          <p:nvPr/>
        </p:nvGrpSpPr>
        <p:grpSpPr>
          <a:xfrm rot="0">
            <a:off x="3911184" y="625601"/>
            <a:ext cx="10465632" cy="2145545"/>
            <a:chOff x="0" y="0"/>
            <a:chExt cx="13954177" cy="2860726"/>
          </a:xfrm>
        </p:grpSpPr>
        <p:sp>
          <p:nvSpPr>
            <p:cNvPr name="TextBox 6" id="6"/>
            <p:cNvSpPr txBox="true"/>
            <p:nvPr/>
          </p:nvSpPr>
          <p:spPr>
            <a:xfrm rot="0">
              <a:off x="0" y="133350"/>
              <a:ext cx="13954177" cy="1361693"/>
            </a:xfrm>
            <a:prstGeom prst="rect">
              <a:avLst/>
            </a:prstGeom>
          </p:spPr>
          <p:txBody>
            <a:bodyPr anchor="t" rtlCol="false" tIns="0" lIns="0" bIns="0" rIns="0">
              <a:spAutoFit/>
            </a:bodyPr>
            <a:lstStyle/>
            <a:p>
              <a:pPr algn="ctr">
                <a:lnSpc>
                  <a:spcPts val="7325"/>
                </a:lnSpc>
              </a:pPr>
              <a:r>
                <a:rPr lang="en-US" sz="7399">
                  <a:solidFill>
                    <a:srgbClr val="000000"/>
                  </a:solidFill>
                  <a:latin typeface="Chewy"/>
                  <a:ea typeface="Chewy"/>
                  <a:cs typeface="Chewy"/>
                  <a:sym typeface="Chewy"/>
                </a:rPr>
                <a:t>Skip-YOLO Architecture</a:t>
              </a:r>
            </a:p>
          </p:txBody>
        </p:sp>
        <p:sp>
          <p:nvSpPr>
            <p:cNvPr name="TextBox 7" id="7"/>
            <p:cNvSpPr txBox="true"/>
            <p:nvPr/>
          </p:nvSpPr>
          <p:spPr>
            <a:xfrm rot="0">
              <a:off x="0" y="2268749"/>
              <a:ext cx="10145426" cy="591977"/>
            </a:xfrm>
            <a:prstGeom prst="rect">
              <a:avLst/>
            </a:prstGeom>
          </p:spPr>
          <p:txBody>
            <a:bodyPr anchor="t" rtlCol="false" tIns="0" lIns="0" bIns="0" rIns="0">
              <a:spAutoFit/>
            </a:bodyPr>
            <a:lstStyle/>
            <a:p>
              <a:pPr algn="ctr">
                <a:lnSpc>
                  <a:spcPts val="3619"/>
                </a:lnSpc>
              </a:pPr>
            </a:p>
          </p:txBody>
        </p:sp>
      </p:grpSp>
      <p:sp>
        <p:nvSpPr>
          <p:cNvPr name="TextBox 8" id="8"/>
          <p:cNvSpPr txBox="true"/>
          <p:nvPr/>
        </p:nvSpPr>
        <p:spPr>
          <a:xfrm rot="0">
            <a:off x="3408618" y="9052242"/>
            <a:ext cx="10465632" cy="666115"/>
          </a:xfrm>
          <a:prstGeom prst="rect">
            <a:avLst/>
          </a:prstGeom>
        </p:spPr>
        <p:txBody>
          <a:bodyPr anchor="t" rtlCol="false" tIns="0" lIns="0" bIns="0" rIns="0">
            <a:spAutoFit/>
          </a:bodyPr>
          <a:lstStyle/>
          <a:p>
            <a:pPr algn="ctr">
              <a:lnSpc>
                <a:spcPts val="2659"/>
              </a:lnSpc>
            </a:pPr>
            <a:r>
              <a:rPr lang="en-US" sz="1899" i="true">
                <a:solidFill>
                  <a:srgbClr val="000000"/>
                </a:solidFill>
                <a:latin typeface="Abhaya Libre Italics"/>
                <a:ea typeface="Abhaya Libre Italics"/>
                <a:cs typeface="Abhaya Libre Italics"/>
                <a:sym typeface="Abhaya Libre Italics"/>
              </a:rPr>
              <a:t>Photo retrieved from the actual source </a:t>
            </a:r>
          </a:p>
          <a:p>
            <a:pPr algn="ctr">
              <a:lnSpc>
                <a:spcPts val="2659"/>
              </a:lnSpc>
              <a:spcBef>
                <a:spcPct val="0"/>
              </a:spcBef>
            </a:pPr>
          </a:p>
        </p:txBody>
      </p:sp>
      <p:sp>
        <p:nvSpPr>
          <p:cNvPr name="TextBox 9" id="9"/>
          <p:cNvSpPr txBox="true"/>
          <p:nvPr/>
        </p:nvSpPr>
        <p:spPr>
          <a:xfrm rot="0">
            <a:off x="906945" y="8850631"/>
            <a:ext cx="8237055" cy="407669"/>
          </a:xfrm>
          <a:prstGeom prst="rect">
            <a:avLst/>
          </a:prstGeom>
        </p:spPr>
        <p:txBody>
          <a:bodyPr anchor="t" rtlCol="false" tIns="0" lIns="0" bIns="0" rIns="0">
            <a:spAutoFit/>
          </a:bodyPr>
          <a:lstStyle/>
          <a:p>
            <a:pPr algn="l">
              <a:lnSpc>
                <a:spcPts val="1680"/>
              </a:lnSpc>
            </a:pPr>
            <a:r>
              <a:rPr lang="en-US" sz="1200">
                <a:solidFill>
                  <a:srgbClr val="000000"/>
                </a:solidFill>
                <a:latin typeface="Canva Sans"/>
                <a:ea typeface="Canva Sans"/>
                <a:cs typeface="Canva Sans"/>
                <a:sym typeface="Canva Sans"/>
              </a:rPr>
              <a:t>Presented By </a:t>
            </a:r>
          </a:p>
          <a:p>
            <a:pPr algn="l">
              <a:lnSpc>
                <a:spcPts val="1680"/>
              </a:lnSpc>
            </a:pPr>
            <a:r>
              <a:rPr lang="en-US" sz="1200">
                <a:solidFill>
                  <a:srgbClr val="000000"/>
                </a:solidFill>
                <a:latin typeface="Canva Sans"/>
                <a:ea typeface="Canva Sans"/>
                <a:cs typeface="Canva Sans"/>
                <a:sym typeface="Canva Sans"/>
              </a:rPr>
              <a:t>Shafin Ahmed (232-15-184)</a:t>
            </a:r>
          </a:p>
        </p:txBody>
      </p:sp>
      <p:sp>
        <p:nvSpPr>
          <p:cNvPr name="Freeform 10" id="10"/>
          <p:cNvSpPr/>
          <p:nvPr/>
        </p:nvSpPr>
        <p:spPr>
          <a:xfrm flipH="false" flipV="false" rot="0">
            <a:off x="3408618" y="1892508"/>
            <a:ext cx="11278114" cy="6428525"/>
          </a:xfrm>
          <a:custGeom>
            <a:avLst/>
            <a:gdLst/>
            <a:ahLst/>
            <a:cxnLst/>
            <a:rect r="r" b="b" t="t" l="l"/>
            <a:pathLst>
              <a:path h="6428525" w="11278114">
                <a:moveTo>
                  <a:pt x="0" y="0"/>
                </a:moveTo>
                <a:lnTo>
                  <a:pt x="11278114" y="0"/>
                </a:lnTo>
                <a:lnTo>
                  <a:pt x="11278114" y="6428525"/>
                </a:lnTo>
                <a:lnTo>
                  <a:pt x="0" y="6428525"/>
                </a:lnTo>
                <a:lnTo>
                  <a:pt x="0" y="0"/>
                </a:lnTo>
                <a:close/>
              </a:path>
            </a:pathLst>
          </a:custGeom>
          <a:blipFill>
            <a:blip r:embed="rId6"/>
            <a:stretch>
              <a:fillRect l="0" t="0" r="0" b="0"/>
            </a:stretch>
          </a:blipFill>
        </p:spPr>
      </p:sp>
      <p:sp>
        <p:nvSpPr>
          <p:cNvPr name="TextBox 11" id="11"/>
          <p:cNvSpPr txBox="true"/>
          <p:nvPr/>
        </p:nvSpPr>
        <p:spPr>
          <a:xfrm rot="0">
            <a:off x="3814859" y="8405175"/>
            <a:ext cx="10465632" cy="332740"/>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Abhaya Libre"/>
                <a:ea typeface="Abhaya Libre"/>
                <a:cs typeface="Abhaya Libre"/>
                <a:sym typeface="Abhaya Libre"/>
              </a:rPr>
              <a:t>Figure: </a:t>
            </a:r>
            <a:r>
              <a:rPr lang="en-US" sz="1899">
                <a:solidFill>
                  <a:srgbClr val="000000"/>
                </a:solidFill>
                <a:latin typeface="Abhaya Libre"/>
                <a:ea typeface="Abhaya Libre"/>
                <a:cs typeface="Abhaya Libre"/>
                <a:sym typeface="Abhaya Libre"/>
              </a:rPr>
              <a:t>Skip-YOLO Architecture</a:t>
            </a:r>
          </a:p>
        </p:txBody>
      </p:sp>
    </p:spTree>
  </p:cSld>
  <p:clrMapOvr>
    <a:masterClrMapping/>
  </p:clrMapOvr>
  <p:transition spd="fast">
    <p:wipe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4F2F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796301" y="832103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519527" y="0"/>
            <a:ext cx="5014135" cy="1698373"/>
          </a:xfrm>
          <a:custGeom>
            <a:avLst/>
            <a:gdLst/>
            <a:ahLst/>
            <a:cxnLst/>
            <a:rect r="r" b="b" t="t" l="l"/>
            <a:pathLst>
              <a:path h="1698373" w="5014135">
                <a:moveTo>
                  <a:pt x="0" y="0"/>
                </a:moveTo>
                <a:lnTo>
                  <a:pt x="5014135" y="0"/>
                </a:lnTo>
                <a:lnTo>
                  <a:pt x="5014135" y="1698373"/>
                </a:lnTo>
                <a:lnTo>
                  <a:pt x="0" y="16983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3911184" y="625601"/>
            <a:ext cx="12483619" cy="2145545"/>
            <a:chOff x="0" y="0"/>
            <a:chExt cx="16644825" cy="2860726"/>
          </a:xfrm>
        </p:grpSpPr>
        <p:sp>
          <p:nvSpPr>
            <p:cNvPr name="TextBox 5" id="5"/>
            <p:cNvSpPr txBox="true"/>
            <p:nvPr/>
          </p:nvSpPr>
          <p:spPr>
            <a:xfrm rot="0">
              <a:off x="0" y="133350"/>
              <a:ext cx="16644825" cy="1361693"/>
            </a:xfrm>
            <a:prstGeom prst="rect">
              <a:avLst/>
            </a:prstGeom>
          </p:spPr>
          <p:txBody>
            <a:bodyPr anchor="t" rtlCol="false" tIns="0" lIns="0" bIns="0" rIns="0">
              <a:spAutoFit/>
            </a:bodyPr>
            <a:lstStyle/>
            <a:p>
              <a:pPr algn="ctr">
                <a:lnSpc>
                  <a:spcPts val="7325"/>
                </a:lnSpc>
              </a:pPr>
              <a:r>
                <a:rPr lang="en-US" sz="7399">
                  <a:solidFill>
                    <a:srgbClr val="000000"/>
                  </a:solidFill>
                  <a:latin typeface="Chewy"/>
                  <a:ea typeface="Chewy"/>
                  <a:cs typeface="Chewy"/>
                  <a:sym typeface="Chewy"/>
                </a:rPr>
                <a:t>Skip-YOLO Pipeline</a:t>
              </a:r>
            </a:p>
          </p:txBody>
        </p:sp>
        <p:sp>
          <p:nvSpPr>
            <p:cNvPr name="TextBox 6" id="6"/>
            <p:cNvSpPr txBox="true"/>
            <p:nvPr/>
          </p:nvSpPr>
          <p:spPr>
            <a:xfrm rot="0">
              <a:off x="0" y="2268749"/>
              <a:ext cx="12101670" cy="591977"/>
            </a:xfrm>
            <a:prstGeom prst="rect">
              <a:avLst/>
            </a:prstGeom>
          </p:spPr>
          <p:txBody>
            <a:bodyPr anchor="t" rtlCol="false" tIns="0" lIns="0" bIns="0" rIns="0">
              <a:spAutoFit/>
            </a:bodyPr>
            <a:lstStyle/>
            <a:p>
              <a:pPr algn="ctr">
                <a:lnSpc>
                  <a:spcPts val="3619"/>
                </a:lnSpc>
              </a:pPr>
            </a:p>
          </p:txBody>
        </p:sp>
      </p:grpSp>
      <p:sp>
        <p:nvSpPr>
          <p:cNvPr name="Freeform 7" id="7"/>
          <p:cNvSpPr/>
          <p:nvPr/>
        </p:nvSpPr>
        <p:spPr>
          <a:xfrm flipH="false" flipV="false" rot="0">
            <a:off x="2474481" y="2453639"/>
            <a:ext cx="6669519" cy="5867394"/>
          </a:xfrm>
          <a:custGeom>
            <a:avLst/>
            <a:gdLst/>
            <a:ahLst/>
            <a:cxnLst/>
            <a:rect r="r" b="b" t="t" l="l"/>
            <a:pathLst>
              <a:path h="5867394" w="6669519">
                <a:moveTo>
                  <a:pt x="0" y="0"/>
                </a:moveTo>
                <a:lnTo>
                  <a:pt x="6669519" y="0"/>
                </a:lnTo>
                <a:lnTo>
                  <a:pt x="6669519" y="5867394"/>
                </a:lnTo>
                <a:lnTo>
                  <a:pt x="0" y="5867394"/>
                </a:lnTo>
                <a:lnTo>
                  <a:pt x="0" y="0"/>
                </a:lnTo>
                <a:close/>
              </a:path>
            </a:pathLst>
          </a:custGeom>
          <a:blipFill>
            <a:blip r:embed="rId6"/>
            <a:stretch>
              <a:fillRect l="0" t="0" r="0" b="0"/>
            </a:stretch>
          </a:blipFill>
        </p:spPr>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sp>
        <p:nvSpPr>
          <p:cNvPr name="TextBox 9" id="9"/>
          <p:cNvSpPr txBox="true"/>
          <p:nvPr/>
        </p:nvSpPr>
        <p:spPr>
          <a:xfrm rot="0">
            <a:off x="3408618" y="9052242"/>
            <a:ext cx="10465632" cy="332740"/>
          </a:xfrm>
          <a:prstGeom prst="rect">
            <a:avLst/>
          </a:prstGeom>
        </p:spPr>
        <p:txBody>
          <a:bodyPr anchor="t" rtlCol="false" tIns="0" lIns="0" bIns="0" rIns="0">
            <a:spAutoFit/>
          </a:bodyPr>
          <a:lstStyle/>
          <a:p>
            <a:pPr algn="ctr">
              <a:lnSpc>
                <a:spcPts val="2659"/>
              </a:lnSpc>
              <a:spcBef>
                <a:spcPct val="0"/>
              </a:spcBef>
            </a:pPr>
            <a:r>
              <a:rPr lang="en-US" sz="1899" i="true">
                <a:solidFill>
                  <a:srgbClr val="000000"/>
                </a:solidFill>
                <a:latin typeface="Abhaya Libre Italics"/>
                <a:ea typeface="Abhaya Libre Italics"/>
                <a:cs typeface="Abhaya Libre Italics"/>
                <a:sym typeface="Abhaya Libre Italics"/>
              </a:rPr>
              <a:t>Photo retrieved from Google Gemini</a:t>
            </a:r>
          </a:p>
        </p:txBody>
      </p:sp>
      <p:sp>
        <p:nvSpPr>
          <p:cNvPr name="TextBox 10" id="10"/>
          <p:cNvSpPr txBox="true"/>
          <p:nvPr/>
        </p:nvSpPr>
        <p:spPr>
          <a:xfrm rot="0">
            <a:off x="906945" y="8850631"/>
            <a:ext cx="8237055" cy="407669"/>
          </a:xfrm>
          <a:prstGeom prst="rect">
            <a:avLst/>
          </a:prstGeom>
        </p:spPr>
        <p:txBody>
          <a:bodyPr anchor="t" rtlCol="false" tIns="0" lIns="0" bIns="0" rIns="0">
            <a:spAutoFit/>
          </a:bodyPr>
          <a:lstStyle/>
          <a:p>
            <a:pPr algn="l">
              <a:lnSpc>
                <a:spcPts val="1680"/>
              </a:lnSpc>
            </a:pPr>
            <a:r>
              <a:rPr lang="en-US" sz="1200">
                <a:solidFill>
                  <a:srgbClr val="000000"/>
                </a:solidFill>
                <a:latin typeface="Canva Sans"/>
                <a:ea typeface="Canva Sans"/>
                <a:cs typeface="Canva Sans"/>
                <a:sym typeface="Canva Sans"/>
              </a:rPr>
              <a:t>Presented By </a:t>
            </a:r>
          </a:p>
          <a:p>
            <a:pPr algn="l">
              <a:lnSpc>
                <a:spcPts val="1680"/>
              </a:lnSpc>
            </a:pPr>
            <a:r>
              <a:rPr lang="en-US" sz="1200">
                <a:solidFill>
                  <a:srgbClr val="000000"/>
                </a:solidFill>
                <a:latin typeface="Canva Sans"/>
                <a:ea typeface="Canva Sans"/>
                <a:cs typeface="Canva Sans"/>
                <a:sym typeface="Canva Sans"/>
              </a:rPr>
              <a:t>Shafin Ahmed (232-15-184)</a:t>
            </a:r>
          </a:p>
        </p:txBody>
      </p:sp>
      <p:sp>
        <p:nvSpPr>
          <p:cNvPr name="TextBox 11" id="11"/>
          <p:cNvSpPr txBox="true"/>
          <p:nvPr/>
        </p:nvSpPr>
        <p:spPr>
          <a:xfrm rot="0">
            <a:off x="9806747" y="3415698"/>
            <a:ext cx="8135007" cy="3909695"/>
          </a:xfrm>
          <a:prstGeom prst="rect">
            <a:avLst/>
          </a:prstGeom>
        </p:spPr>
        <p:txBody>
          <a:bodyPr anchor="t" rtlCol="false" tIns="0" lIns="0" bIns="0" rIns="0">
            <a:spAutoFit/>
          </a:bodyPr>
          <a:lstStyle/>
          <a:p>
            <a:pPr algn="just" marL="690877" indent="-345439" lvl="1">
              <a:lnSpc>
                <a:spcPts val="4479"/>
              </a:lnSpc>
              <a:buFont typeface="Arial"/>
              <a:buChar char="•"/>
            </a:pPr>
            <a:r>
              <a:rPr lang="en-US" sz="3199">
                <a:solidFill>
                  <a:srgbClr val="000000"/>
                </a:solidFill>
                <a:latin typeface="Canva Sans"/>
                <a:ea typeface="Canva Sans"/>
                <a:cs typeface="Canva Sans"/>
                <a:sym typeface="Canva Sans"/>
              </a:rPr>
              <a:t>Input → normalized image (416×416)</a:t>
            </a:r>
          </a:p>
          <a:p>
            <a:pPr algn="just" marL="690877" indent="-345439" lvl="1">
              <a:lnSpc>
                <a:spcPts val="4479"/>
              </a:lnSpc>
              <a:buFont typeface="Arial"/>
              <a:buChar char="•"/>
            </a:pPr>
            <a:r>
              <a:rPr lang="en-US" sz="3199">
                <a:solidFill>
                  <a:srgbClr val="000000"/>
                </a:solidFill>
                <a:latin typeface="Canva Sans"/>
                <a:ea typeface="Canva Sans"/>
                <a:cs typeface="Canva Sans"/>
                <a:sym typeface="Canva Sans"/>
              </a:rPr>
              <a:t>7X7 Convolution→ feature extraction</a:t>
            </a:r>
          </a:p>
          <a:p>
            <a:pPr algn="just" marL="690877" indent="-345439" lvl="1">
              <a:lnSpc>
                <a:spcPts val="4479"/>
              </a:lnSpc>
              <a:buFont typeface="Arial"/>
              <a:buChar char="•"/>
            </a:pPr>
            <a:r>
              <a:rPr lang="en-US" sz="3199">
                <a:solidFill>
                  <a:srgbClr val="000000"/>
                </a:solidFill>
                <a:latin typeface="Canva Sans"/>
                <a:ea typeface="Canva Sans"/>
                <a:cs typeface="Canva Sans"/>
                <a:sym typeface="Canva Sans"/>
              </a:rPr>
              <a:t>Dense blocks → deep learning</a:t>
            </a:r>
          </a:p>
          <a:p>
            <a:pPr algn="just" marL="690877" indent="-345439" lvl="1">
              <a:lnSpc>
                <a:spcPts val="4479"/>
              </a:lnSpc>
              <a:buFont typeface="Arial"/>
              <a:buChar char="•"/>
            </a:pPr>
            <a:r>
              <a:rPr lang="en-US" sz="3199">
                <a:solidFill>
                  <a:srgbClr val="000000"/>
                </a:solidFill>
                <a:latin typeface="Canva Sans"/>
                <a:ea typeface="Canva Sans"/>
                <a:cs typeface="Canva Sans"/>
                <a:sym typeface="Canva Sans"/>
              </a:rPr>
              <a:t>Fusion → multi-scale features</a:t>
            </a:r>
          </a:p>
          <a:p>
            <a:pPr algn="just" marL="690877" indent="-345439" lvl="1">
              <a:lnSpc>
                <a:spcPts val="4479"/>
              </a:lnSpc>
              <a:buFont typeface="Arial"/>
              <a:buChar char="•"/>
            </a:pPr>
            <a:r>
              <a:rPr lang="en-US" sz="3199">
                <a:solidFill>
                  <a:srgbClr val="000000"/>
                </a:solidFill>
                <a:latin typeface="Canva Sans"/>
                <a:ea typeface="Canva Sans"/>
                <a:cs typeface="Canva Sans"/>
                <a:sym typeface="Canva Sans"/>
              </a:rPr>
              <a:t>YOLO head → prediction</a:t>
            </a:r>
          </a:p>
          <a:p>
            <a:pPr algn="just" marL="690877" indent="-345439" lvl="1">
              <a:lnSpc>
                <a:spcPts val="4479"/>
              </a:lnSpc>
              <a:buFont typeface="Arial"/>
              <a:buChar char="•"/>
            </a:pPr>
            <a:r>
              <a:rPr lang="en-US" sz="3199">
                <a:solidFill>
                  <a:srgbClr val="000000"/>
                </a:solidFill>
                <a:latin typeface="Canva Sans"/>
                <a:ea typeface="Canva Sans"/>
                <a:cs typeface="Canva Sans"/>
                <a:sym typeface="Canva Sans"/>
              </a:rPr>
              <a:t>Output: class + bounding box</a:t>
            </a:r>
          </a:p>
          <a:p>
            <a:pPr algn="just">
              <a:lnSpc>
                <a:spcPts val="4479"/>
              </a:lnSpc>
            </a:pPr>
          </a:p>
        </p:txBody>
      </p:sp>
    </p:spTree>
  </p:cSld>
  <p:clrMapOvr>
    <a:masterClrMapping/>
  </p:clrMapOvr>
  <p:transition spd="fast">
    <p:wipe dir="l"/>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4F2FD"/>
        </a:solidFill>
      </p:bgPr>
    </p:bg>
    <p:spTree>
      <p:nvGrpSpPr>
        <p:cNvPr id="1" name=""/>
        <p:cNvGrpSpPr/>
        <p:nvPr/>
      </p:nvGrpSpPr>
      <p:grpSpPr>
        <a:xfrm>
          <a:off x="0" y="0"/>
          <a:ext cx="0" cy="0"/>
          <a:chOff x="0" y="0"/>
          <a:chExt cx="0" cy="0"/>
        </a:xfrm>
      </p:grpSpPr>
      <p:grpSp>
        <p:nvGrpSpPr>
          <p:cNvPr name="Group 2" id="2"/>
          <p:cNvGrpSpPr/>
          <p:nvPr/>
        </p:nvGrpSpPr>
        <p:grpSpPr>
          <a:xfrm rot="0">
            <a:off x="2088471" y="0"/>
            <a:ext cx="2119542" cy="10287000"/>
            <a:chOff x="0" y="0"/>
            <a:chExt cx="558233" cy="2709333"/>
          </a:xfrm>
        </p:grpSpPr>
        <p:sp>
          <p:nvSpPr>
            <p:cNvPr name="Freeform 3" id="3"/>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66BDEE"/>
            </a:solidFill>
          </p:spPr>
        </p:sp>
        <p:sp>
          <p:nvSpPr>
            <p:cNvPr name="TextBox 4" id="4"/>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0"/>
            <a:ext cx="2119542" cy="10287000"/>
            <a:chOff x="0" y="0"/>
            <a:chExt cx="558233" cy="2709333"/>
          </a:xfrm>
        </p:grpSpPr>
        <p:sp>
          <p:nvSpPr>
            <p:cNvPr name="Freeform 6" id="6"/>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1993E9"/>
            </a:solidFill>
          </p:spPr>
        </p:sp>
        <p:sp>
          <p:nvSpPr>
            <p:cNvPr name="TextBox 7" id="7"/>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31071" y="0"/>
            <a:ext cx="2119542" cy="10287000"/>
            <a:chOff x="0" y="0"/>
            <a:chExt cx="558233" cy="2709333"/>
          </a:xfrm>
        </p:grpSpPr>
        <p:sp>
          <p:nvSpPr>
            <p:cNvPr name="Freeform 9" id="9"/>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246FCC"/>
            </a:solidFill>
          </p:spPr>
        </p:sp>
        <p:sp>
          <p:nvSpPr>
            <p:cNvPr name="TextBox 10" id="10"/>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2412831" y="802621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1413653" y="-57369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3957784" y="3281028"/>
            <a:ext cx="12112646" cy="2628900"/>
          </a:xfrm>
          <a:prstGeom prst="rect">
            <a:avLst/>
          </a:prstGeom>
        </p:spPr>
        <p:txBody>
          <a:bodyPr anchor="t" rtlCol="false" tIns="0" lIns="0" bIns="0" rIns="0">
            <a:spAutoFit/>
          </a:bodyPr>
          <a:lstStyle/>
          <a:p>
            <a:pPr algn="ctr">
              <a:lnSpc>
                <a:spcPts val="10500"/>
              </a:lnSpc>
            </a:pPr>
            <a:r>
              <a:rPr lang="en-US" sz="7500">
                <a:solidFill>
                  <a:srgbClr val="000000"/>
                </a:solidFill>
                <a:latin typeface="Alatsi"/>
                <a:ea typeface="Alatsi"/>
                <a:cs typeface="Alatsi"/>
                <a:sym typeface="Alatsi"/>
              </a:rPr>
              <a:t>DATASET ,TRAINING SETUP &amp; EVULATION METRICS</a:t>
            </a:r>
          </a:p>
        </p:txBody>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sp>
        <p:nvSpPr>
          <p:cNvPr name="TextBox 15" id="15"/>
          <p:cNvSpPr txBox="true"/>
          <p:nvPr/>
        </p:nvSpPr>
        <p:spPr>
          <a:xfrm rot="0">
            <a:off x="8222795" y="6139500"/>
            <a:ext cx="8380070" cy="679450"/>
          </a:xfrm>
          <a:prstGeom prst="rect">
            <a:avLst/>
          </a:prstGeom>
        </p:spPr>
        <p:txBody>
          <a:bodyPr anchor="t" rtlCol="false" tIns="0" lIns="0" bIns="0" rIns="0">
            <a:spAutoFit/>
          </a:bodyPr>
          <a:lstStyle/>
          <a:p>
            <a:pPr algn="ctr">
              <a:lnSpc>
                <a:spcPts val="5599"/>
              </a:lnSpc>
            </a:pPr>
            <a:r>
              <a:rPr lang="en-US" sz="3999">
                <a:solidFill>
                  <a:srgbClr val="000000"/>
                </a:solidFill>
                <a:latin typeface="Alatsi"/>
                <a:ea typeface="Alatsi"/>
                <a:cs typeface="Alatsi"/>
                <a:sym typeface="Alatsi"/>
              </a:rPr>
              <a:t>-SAKIB AHMED (232-15-085)</a:t>
            </a:r>
          </a:p>
        </p:txBody>
      </p:sp>
    </p:spTree>
  </p:cSld>
  <p:clrMapOvr>
    <a:masterClrMapping/>
  </p:clrMapOvr>
  <p:transition spd="fast">
    <p:wipe dir="l"/>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4F2F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796301" y="832103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519527" y="0"/>
            <a:ext cx="5014135" cy="1698373"/>
          </a:xfrm>
          <a:custGeom>
            <a:avLst/>
            <a:gdLst/>
            <a:ahLst/>
            <a:cxnLst/>
            <a:rect r="r" b="b" t="t" l="l"/>
            <a:pathLst>
              <a:path h="1698373" w="5014135">
                <a:moveTo>
                  <a:pt x="0" y="0"/>
                </a:moveTo>
                <a:lnTo>
                  <a:pt x="5014135" y="0"/>
                </a:lnTo>
                <a:lnTo>
                  <a:pt x="5014135" y="1698373"/>
                </a:lnTo>
                <a:lnTo>
                  <a:pt x="0" y="16983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587199" y="2504624"/>
            <a:ext cx="6356958" cy="6356958"/>
          </a:xfrm>
          <a:custGeom>
            <a:avLst/>
            <a:gdLst/>
            <a:ahLst/>
            <a:cxnLst/>
            <a:rect r="r" b="b" t="t" l="l"/>
            <a:pathLst>
              <a:path h="6356958" w="6356958">
                <a:moveTo>
                  <a:pt x="0" y="0"/>
                </a:moveTo>
                <a:lnTo>
                  <a:pt x="6356958" y="0"/>
                </a:lnTo>
                <a:lnTo>
                  <a:pt x="6356958" y="6356958"/>
                </a:lnTo>
                <a:lnTo>
                  <a:pt x="0" y="6356958"/>
                </a:lnTo>
                <a:lnTo>
                  <a:pt x="0" y="0"/>
                </a:lnTo>
                <a:close/>
              </a:path>
            </a:pathLst>
          </a:custGeom>
          <a:blipFill>
            <a:blip r:embed="rId6"/>
            <a:stretch>
              <a:fillRect l="0" t="0" r="0" b="0"/>
            </a:stretch>
          </a:blipFill>
        </p:spPr>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15</a:t>
            </a:r>
          </a:p>
        </p:txBody>
      </p:sp>
      <p:sp>
        <p:nvSpPr>
          <p:cNvPr name="TextBox 6" id="6"/>
          <p:cNvSpPr txBox="true"/>
          <p:nvPr/>
        </p:nvSpPr>
        <p:spPr>
          <a:xfrm rot="0">
            <a:off x="377970" y="1641223"/>
            <a:ext cx="7101938" cy="537845"/>
          </a:xfrm>
          <a:prstGeom prst="rect">
            <a:avLst/>
          </a:prstGeom>
        </p:spPr>
        <p:txBody>
          <a:bodyPr anchor="t" rtlCol="false" tIns="0" lIns="0" bIns="0" rIns="0">
            <a:spAutoFit/>
          </a:bodyPr>
          <a:lstStyle/>
          <a:p>
            <a:pPr algn="just">
              <a:lnSpc>
                <a:spcPts val="4479"/>
              </a:lnSpc>
            </a:pPr>
            <a:r>
              <a:rPr lang="en-US" b="true" sz="3199" i="true">
                <a:solidFill>
                  <a:srgbClr val="000000"/>
                </a:solidFill>
                <a:latin typeface="Canva Sans Bold Italics"/>
                <a:ea typeface="Canva Sans Bold Italics"/>
                <a:cs typeface="Canva Sans Bold Italics"/>
                <a:sym typeface="Canva Sans Bold Italics"/>
              </a:rPr>
              <a:t> Dataset Description:</a:t>
            </a:r>
          </a:p>
        </p:txBody>
      </p:sp>
      <p:grpSp>
        <p:nvGrpSpPr>
          <p:cNvPr name="Group 7" id="7"/>
          <p:cNvGrpSpPr/>
          <p:nvPr/>
        </p:nvGrpSpPr>
        <p:grpSpPr>
          <a:xfrm rot="0">
            <a:off x="3053894" y="323627"/>
            <a:ext cx="10465632" cy="1899215"/>
            <a:chOff x="0" y="0"/>
            <a:chExt cx="13954177" cy="2532286"/>
          </a:xfrm>
        </p:grpSpPr>
        <p:sp>
          <p:nvSpPr>
            <p:cNvPr name="TextBox 8" id="8"/>
            <p:cNvSpPr txBox="true"/>
            <p:nvPr/>
          </p:nvSpPr>
          <p:spPr>
            <a:xfrm rot="0">
              <a:off x="0" y="114300"/>
              <a:ext cx="13954177" cy="1196340"/>
            </a:xfrm>
            <a:prstGeom prst="rect">
              <a:avLst/>
            </a:prstGeom>
          </p:spPr>
          <p:txBody>
            <a:bodyPr anchor="t" rtlCol="false" tIns="0" lIns="0" bIns="0" rIns="0">
              <a:spAutoFit/>
            </a:bodyPr>
            <a:lstStyle/>
            <a:p>
              <a:pPr algn="ctr">
                <a:lnSpc>
                  <a:spcPts val="6435"/>
                </a:lnSpc>
              </a:pPr>
              <a:r>
                <a:rPr lang="en-US" sz="6500">
                  <a:solidFill>
                    <a:srgbClr val="000000"/>
                  </a:solidFill>
                  <a:latin typeface="Chewy"/>
                  <a:ea typeface="Chewy"/>
                  <a:cs typeface="Chewy"/>
                  <a:sym typeface="Chewy"/>
                </a:rPr>
                <a:t> Dataset </a:t>
              </a:r>
            </a:p>
          </p:txBody>
        </p:sp>
        <p:sp>
          <p:nvSpPr>
            <p:cNvPr name="TextBox 9" id="9"/>
            <p:cNvSpPr txBox="true"/>
            <p:nvPr/>
          </p:nvSpPr>
          <p:spPr>
            <a:xfrm rot="0">
              <a:off x="0" y="2093871"/>
              <a:ext cx="10145426" cy="438415"/>
            </a:xfrm>
            <a:prstGeom prst="rect">
              <a:avLst/>
            </a:prstGeom>
          </p:spPr>
          <p:txBody>
            <a:bodyPr anchor="t" rtlCol="false" tIns="0" lIns="0" bIns="0" rIns="0">
              <a:spAutoFit/>
            </a:bodyPr>
            <a:lstStyle/>
            <a:p>
              <a:pPr algn="ctr">
                <a:lnSpc>
                  <a:spcPts val="2707"/>
                </a:lnSpc>
              </a:pPr>
            </a:p>
          </p:txBody>
        </p:sp>
      </p:grpSp>
      <p:sp>
        <p:nvSpPr>
          <p:cNvPr name="TextBox 10" id="10"/>
          <p:cNvSpPr txBox="true"/>
          <p:nvPr/>
        </p:nvSpPr>
        <p:spPr>
          <a:xfrm rot="0">
            <a:off x="3300045" y="9095739"/>
            <a:ext cx="10465632" cy="666115"/>
          </a:xfrm>
          <a:prstGeom prst="rect">
            <a:avLst/>
          </a:prstGeom>
        </p:spPr>
        <p:txBody>
          <a:bodyPr anchor="t" rtlCol="false" tIns="0" lIns="0" bIns="0" rIns="0">
            <a:spAutoFit/>
          </a:bodyPr>
          <a:lstStyle/>
          <a:p>
            <a:pPr algn="ctr">
              <a:lnSpc>
                <a:spcPts val="2659"/>
              </a:lnSpc>
            </a:pPr>
            <a:r>
              <a:rPr lang="en-US" sz="1899" i="true">
                <a:solidFill>
                  <a:srgbClr val="000000"/>
                </a:solidFill>
                <a:latin typeface="Abhaya Libre Italics"/>
                <a:ea typeface="Abhaya Libre Italics"/>
                <a:cs typeface="Abhaya Libre Italics"/>
                <a:sym typeface="Abhaya Libre Italics"/>
              </a:rPr>
              <a:t>Photos retrieved from Google Gemini</a:t>
            </a:r>
          </a:p>
          <a:p>
            <a:pPr algn="ctr">
              <a:lnSpc>
                <a:spcPts val="2659"/>
              </a:lnSpc>
              <a:spcBef>
                <a:spcPct val="0"/>
              </a:spcBef>
            </a:pPr>
          </a:p>
        </p:txBody>
      </p:sp>
      <p:sp>
        <p:nvSpPr>
          <p:cNvPr name="TextBox 11" id="11"/>
          <p:cNvSpPr txBox="true"/>
          <p:nvPr/>
        </p:nvSpPr>
        <p:spPr>
          <a:xfrm rot="0">
            <a:off x="720635" y="9044940"/>
            <a:ext cx="8237055" cy="407669"/>
          </a:xfrm>
          <a:prstGeom prst="rect">
            <a:avLst/>
          </a:prstGeom>
        </p:spPr>
        <p:txBody>
          <a:bodyPr anchor="t" rtlCol="false" tIns="0" lIns="0" bIns="0" rIns="0">
            <a:spAutoFit/>
          </a:bodyPr>
          <a:lstStyle/>
          <a:p>
            <a:pPr algn="l">
              <a:lnSpc>
                <a:spcPts val="1680"/>
              </a:lnSpc>
            </a:pPr>
            <a:r>
              <a:rPr lang="en-US" sz="1200">
                <a:solidFill>
                  <a:srgbClr val="000000"/>
                </a:solidFill>
                <a:latin typeface="Canva Sans"/>
                <a:ea typeface="Canva Sans"/>
                <a:cs typeface="Canva Sans"/>
                <a:sym typeface="Canva Sans"/>
              </a:rPr>
              <a:t>Presented By </a:t>
            </a:r>
          </a:p>
          <a:p>
            <a:pPr algn="l">
              <a:lnSpc>
                <a:spcPts val="1680"/>
              </a:lnSpc>
            </a:pPr>
            <a:r>
              <a:rPr lang="en-US" sz="1200">
                <a:solidFill>
                  <a:srgbClr val="000000"/>
                </a:solidFill>
                <a:latin typeface="Canva Sans"/>
                <a:ea typeface="Canva Sans"/>
                <a:cs typeface="Canva Sans"/>
                <a:sym typeface="Canva Sans"/>
              </a:rPr>
              <a:t>Sakib Ahmed (232-15-085)</a:t>
            </a:r>
          </a:p>
        </p:txBody>
      </p:sp>
      <p:sp>
        <p:nvSpPr>
          <p:cNvPr name="TextBox 12" id="12"/>
          <p:cNvSpPr txBox="true"/>
          <p:nvPr/>
        </p:nvSpPr>
        <p:spPr>
          <a:xfrm rot="0">
            <a:off x="8749085" y="4953317"/>
            <a:ext cx="789831" cy="332740"/>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Abhaya Libre"/>
                <a:ea typeface="Abhaya Libre"/>
                <a:cs typeface="Abhaya Libre"/>
                <a:sym typeface="Abhaya Libre"/>
              </a:rPr>
              <a:t>Dataset </a:t>
            </a:r>
          </a:p>
        </p:txBody>
      </p:sp>
      <p:sp>
        <p:nvSpPr>
          <p:cNvPr name="TextBox 13" id="13"/>
          <p:cNvSpPr txBox="true"/>
          <p:nvPr/>
        </p:nvSpPr>
        <p:spPr>
          <a:xfrm rot="0">
            <a:off x="113573" y="2175217"/>
            <a:ext cx="9425343" cy="2463505"/>
          </a:xfrm>
          <a:prstGeom prst="rect">
            <a:avLst/>
          </a:prstGeom>
        </p:spPr>
        <p:txBody>
          <a:bodyPr anchor="t" rtlCol="false" tIns="0" lIns="0" bIns="0" rIns="0">
            <a:spAutoFit/>
          </a:bodyPr>
          <a:lstStyle/>
          <a:p>
            <a:pPr algn="ctr" marL="434306" indent="-217153" lvl="1">
              <a:lnSpc>
                <a:spcPts val="2816"/>
              </a:lnSpc>
              <a:spcBef>
                <a:spcPct val="0"/>
              </a:spcBef>
              <a:buFont typeface="Arial"/>
              <a:buChar char="•"/>
            </a:pPr>
            <a:r>
              <a:rPr lang="en-US" b="true" sz="2011">
                <a:solidFill>
                  <a:srgbClr val="000000"/>
                </a:solidFill>
                <a:latin typeface="Canva Sans Bold"/>
                <a:ea typeface="Canva Sans Bold"/>
                <a:cs typeface="Canva Sans Bold"/>
                <a:sym typeface="Canva Sans Bold"/>
              </a:rPr>
              <a:t>Custom d</a:t>
            </a:r>
            <a:r>
              <a:rPr lang="en-US" b="true" sz="2011">
                <a:solidFill>
                  <a:srgbClr val="000000"/>
                </a:solidFill>
                <a:latin typeface="Canva Sans Bold"/>
                <a:ea typeface="Canva Sans Bold"/>
                <a:cs typeface="Canva Sans Bold"/>
                <a:sym typeface="Canva Sans Bold"/>
              </a:rPr>
              <a:t>ataset developed for real-life garbage detection </a:t>
            </a:r>
          </a:p>
          <a:p>
            <a:pPr algn="ctr">
              <a:lnSpc>
                <a:spcPts val="2816"/>
              </a:lnSpc>
              <a:spcBef>
                <a:spcPct val="0"/>
              </a:spcBef>
            </a:pPr>
            <a:r>
              <a:rPr lang="en-US" b="true" sz="2011">
                <a:solidFill>
                  <a:srgbClr val="000000"/>
                </a:solidFill>
                <a:latin typeface="Canva Sans Bold"/>
                <a:ea typeface="Canva Sans Bold"/>
                <a:cs typeface="Canva Sans Bold"/>
                <a:sym typeface="Canva Sans Bold"/>
              </a:rPr>
              <a:t>Images collected from: </a:t>
            </a:r>
          </a:p>
          <a:p>
            <a:pPr algn="ctr" marL="434306" indent="-217153" lvl="1">
              <a:lnSpc>
                <a:spcPts val="2816"/>
              </a:lnSpc>
              <a:spcBef>
                <a:spcPct val="0"/>
              </a:spcBef>
              <a:buFont typeface="Arial"/>
              <a:buChar char="•"/>
            </a:pPr>
            <a:r>
              <a:rPr lang="en-US" b="true" sz="2011">
                <a:solidFill>
                  <a:srgbClr val="000000"/>
                </a:solidFill>
                <a:latin typeface="Canva Sans Bold"/>
                <a:ea typeface="Canva Sans Bold"/>
                <a:cs typeface="Canva Sans Bold"/>
                <a:sym typeface="Canva Sans Bold"/>
              </a:rPr>
              <a:t>Indoor environments (dormitory, garbage bags) </a:t>
            </a:r>
          </a:p>
          <a:p>
            <a:pPr algn="ctr" marL="434306" indent="-217153" lvl="1">
              <a:lnSpc>
                <a:spcPts val="2816"/>
              </a:lnSpc>
              <a:spcBef>
                <a:spcPct val="0"/>
              </a:spcBef>
              <a:buFont typeface="Arial"/>
              <a:buChar char="•"/>
            </a:pPr>
            <a:r>
              <a:rPr lang="en-US" b="true" sz="2011">
                <a:solidFill>
                  <a:srgbClr val="000000"/>
                </a:solidFill>
                <a:latin typeface="Canva Sans Bold"/>
                <a:ea typeface="Canva Sans Bold"/>
                <a:cs typeface="Canva Sans Bold"/>
                <a:sym typeface="Canva Sans Bold"/>
              </a:rPr>
              <a:t>Outdoor environments (grass, streets, pavement) </a:t>
            </a:r>
          </a:p>
          <a:p>
            <a:pPr algn="ctr" marL="434306" indent="-217153" lvl="1">
              <a:lnSpc>
                <a:spcPts val="2816"/>
              </a:lnSpc>
              <a:spcBef>
                <a:spcPct val="0"/>
              </a:spcBef>
              <a:buFont typeface="Arial"/>
              <a:buChar char="•"/>
            </a:pPr>
            <a:r>
              <a:rPr lang="en-US" b="true" sz="2011">
                <a:solidFill>
                  <a:srgbClr val="000000"/>
                </a:solidFill>
                <a:latin typeface="Canva Sans Bold"/>
                <a:ea typeface="Canva Sans Bold"/>
                <a:cs typeface="Canva Sans Bold"/>
                <a:sym typeface="Canva Sans Bold"/>
              </a:rPr>
              <a:t>Focus on complex and realistic scenes </a:t>
            </a:r>
          </a:p>
          <a:p>
            <a:pPr algn="ctr" marL="434306" indent="-217153" lvl="1">
              <a:lnSpc>
                <a:spcPts val="2816"/>
              </a:lnSpc>
              <a:spcBef>
                <a:spcPct val="0"/>
              </a:spcBef>
              <a:buFont typeface="Arial"/>
              <a:buChar char="•"/>
            </a:pPr>
            <a:r>
              <a:rPr lang="en-US" b="true" sz="2011">
                <a:solidFill>
                  <a:srgbClr val="000000"/>
                </a:solidFill>
                <a:latin typeface="Canva Sans Bold"/>
                <a:ea typeface="Canva Sans Bold"/>
                <a:cs typeface="Canva Sans Bold"/>
                <a:sym typeface="Canva Sans Bold"/>
              </a:rPr>
              <a:t>Designed to reflect real-world challenges </a:t>
            </a:r>
          </a:p>
          <a:p>
            <a:pPr algn="ctr">
              <a:lnSpc>
                <a:spcPts val="2816"/>
              </a:lnSpc>
              <a:spcBef>
                <a:spcPct val="0"/>
              </a:spcBef>
            </a:pPr>
          </a:p>
        </p:txBody>
      </p:sp>
      <p:sp>
        <p:nvSpPr>
          <p:cNvPr name="TextBox 14" id="14"/>
          <p:cNvSpPr txBox="true"/>
          <p:nvPr/>
        </p:nvSpPr>
        <p:spPr>
          <a:xfrm rot="0">
            <a:off x="212679" y="4581572"/>
            <a:ext cx="6865693" cy="1570818"/>
          </a:xfrm>
          <a:prstGeom prst="rect">
            <a:avLst/>
          </a:prstGeom>
        </p:spPr>
        <p:txBody>
          <a:bodyPr anchor="t" rtlCol="false" tIns="0" lIns="0" bIns="0" rIns="0">
            <a:spAutoFit/>
          </a:bodyPr>
          <a:lstStyle/>
          <a:p>
            <a:pPr algn="just">
              <a:lnSpc>
                <a:spcPts val="4225"/>
              </a:lnSpc>
            </a:pPr>
            <a:r>
              <a:rPr lang="en-US" b="true" sz="3018" i="true">
                <a:solidFill>
                  <a:srgbClr val="000000"/>
                </a:solidFill>
                <a:latin typeface="Canva Sans Bold Italics"/>
                <a:ea typeface="Canva Sans Bold Italics"/>
                <a:cs typeface="Canva Sans Bold Italics"/>
                <a:sym typeface="Canva Sans Bold Italics"/>
              </a:rPr>
              <a:t>Garbage Categories:</a:t>
            </a:r>
          </a:p>
          <a:p>
            <a:pPr algn="just">
              <a:lnSpc>
                <a:spcPts val="4225"/>
              </a:lnSpc>
            </a:pPr>
          </a:p>
          <a:p>
            <a:pPr algn="just">
              <a:lnSpc>
                <a:spcPts val="4225"/>
              </a:lnSpc>
            </a:pPr>
          </a:p>
        </p:txBody>
      </p:sp>
      <p:sp>
        <p:nvSpPr>
          <p:cNvPr name="TextBox 15" id="15"/>
          <p:cNvSpPr txBox="true"/>
          <p:nvPr/>
        </p:nvSpPr>
        <p:spPr>
          <a:xfrm rot="0">
            <a:off x="113573" y="5095875"/>
            <a:ext cx="9331405" cy="2463505"/>
          </a:xfrm>
          <a:prstGeom prst="rect">
            <a:avLst/>
          </a:prstGeom>
        </p:spPr>
        <p:txBody>
          <a:bodyPr anchor="t" rtlCol="false" tIns="0" lIns="0" bIns="0" rIns="0">
            <a:spAutoFit/>
          </a:bodyPr>
          <a:lstStyle/>
          <a:p>
            <a:pPr algn="ctr">
              <a:lnSpc>
                <a:spcPts val="2816"/>
              </a:lnSpc>
              <a:spcBef>
                <a:spcPct val="0"/>
              </a:spcBef>
            </a:pPr>
            <a:r>
              <a:rPr lang="en-US" b="true" sz="2011">
                <a:solidFill>
                  <a:srgbClr val="000000"/>
                </a:solidFill>
                <a:latin typeface="Canva Sans Bold"/>
                <a:ea typeface="Canva Sans Bold"/>
                <a:cs typeface="Canva Sans Bold"/>
                <a:sym typeface="Canva Sans Bold"/>
              </a:rPr>
              <a:t>C</a:t>
            </a:r>
            <a:r>
              <a:rPr lang="en-US" b="true" sz="2011">
                <a:solidFill>
                  <a:srgbClr val="000000"/>
                </a:solidFill>
                <a:latin typeface="Canva Sans Bold"/>
                <a:ea typeface="Canva Sans Bold"/>
                <a:cs typeface="Canva Sans Bold"/>
                <a:sym typeface="Canva Sans Bold"/>
              </a:rPr>
              <a:t>lassification Classes</a:t>
            </a:r>
          </a:p>
          <a:p>
            <a:pPr algn="ctr">
              <a:lnSpc>
                <a:spcPts val="2816"/>
              </a:lnSpc>
              <a:spcBef>
                <a:spcPct val="0"/>
              </a:spcBef>
            </a:pPr>
            <a:r>
              <a:rPr lang="en-US" b="true" sz="2011">
                <a:solidFill>
                  <a:srgbClr val="000000"/>
                </a:solidFill>
                <a:latin typeface="Canva Sans Bold"/>
                <a:ea typeface="Canva Sans Bold"/>
                <a:cs typeface="Canva Sans Bold"/>
                <a:sym typeface="Canva Sans Bold"/>
              </a:rPr>
              <a:t>         1.♻️ Recyclable Waste</a:t>
            </a:r>
          </a:p>
          <a:p>
            <a:pPr algn="ctr">
              <a:lnSpc>
                <a:spcPts val="2816"/>
              </a:lnSpc>
              <a:spcBef>
                <a:spcPct val="0"/>
              </a:spcBef>
            </a:pPr>
            <a:r>
              <a:rPr lang="en-US" b="true" sz="2011">
                <a:solidFill>
                  <a:srgbClr val="000000"/>
                </a:solidFill>
                <a:latin typeface="Canva Sans Bold"/>
                <a:ea typeface="Canva Sans Bold"/>
                <a:cs typeface="Canva Sans Bold"/>
                <a:sym typeface="Canva Sans Bold"/>
              </a:rPr>
              <a:t>                   2.</a:t>
            </a:r>
            <a:r>
              <a:rPr lang="en-US" b="true" sz="2011">
                <a:solidFill>
                  <a:srgbClr val="000000"/>
                </a:solidFill>
                <a:latin typeface="Canva Sans Bold"/>
                <a:ea typeface="Canva Sans Bold"/>
                <a:cs typeface="Canva Sans Bold"/>
                <a:sym typeface="Canva Sans Bold"/>
              </a:rPr>
              <a:t>🚫</a:t>
            </a:r>
            <a:r>
              <a:rPr lang="en-US" b="true" sz="2011">
                <a:solidFill>
                  <a:srgbClr val="000000"/>
                </a:solidFill>
                <a:latin typeface="Canva Sans Bold"/>
                <a:ea typeface="Canva Sans Bold"/>
                <a:cs typeface="Canva Sans Bold"/>
                <a:sym typeface="Canva Sans Bold"/>
              </a:rPr>
              <a:t> Non-Recyclable Waste</a:t>
            </a:r>
          </a:p>
          <a:p>
            <a:pPr algn="ctr">
              <a:lnSpc>
                <a:spcPts val="2816"/>
              </a:lnSpc>
              <a:spcBef>
                <a:spcPct val="0"/>
              </a:spcBef>
            </a:pPr>
            <a:r>
              <a:rPr lang="en-US" b="true" sz="2011">
                <a:solidFill>
                  <a:srgbClr val="000000"/>
                </a:solidFill>
                <a:latin typeface="Canva Sans Bold"/>
                <a:ea typeface="Canva Sans Bold"/>
                <a:cs typeface="Canva Sans Bold"/>
                <a:sym typeface="Canva Sans Bold"/>
              </a:rPr>
              <a:t>                                                       3. ☠️ Harmful Waste (battery, medicine, etc.)</a:t>
            </a:r>
          </a:p>
          <a:p>
            <a:pPr algn="ctr">
              <a:lnSpc>
                <a:spcPts val="2816"/>
              </a:lnSpc>
              <a:spcBef>
                <a:spcPct val="0"/>
              </a:spcBef>
            </a:pPr>
            <a:r>
              <a:rPr lang="en-US" b="true" sz="2011">
                <a:solidFill>
                  <a:srgbClr val="000000"/>
                </a:solidFill>
                <a:latin typeface="Canva Sans Bold"/>
                <a:ea typeface="Canva Sans Bold"/>
                <a:cs typeface="Canva Sans Bold"/>
                <a:sym typeface="Canva Sans Bold"/>
              </a:rPr>
              <a:t>4.</a:t>
            </a:r>
            <a:r>
              <a:rPr lang="en-US" b="true" sz="2011">
                <a:solidFill>
                  <a:srgbClr val="000000"/>
                </a:solidFill>
                <a:latin typeface="Canva Sans Bold"/>
                <a:ea typeface="Canva Sans Bold"/>
                <a:cs typeface="Canva Sans Bold"/>
                <a:sym typeface="Canva Sans Bold"/>
              </a:rPr>
              <a:t>📦</a:t>
            </a:r>
            <a:r>
              <a:rPr lang="en-US" b="true" sz="2011">
                <a:solidFill>
                  <a:srgbClr val="000000"/>
                </a:solidFill>
                <a:latin typeface="Canva Sans Bold"/>
                <a:ea typeface="Canva Sans Bold"/>
                <a:cs typeface="Canva Sans Bold"/>
                <a:sym typeface="Canva Sans Bold"/>
              </a:rPr>
              <a:t> Other Waste</a:t>
            </a:r>
          </a:p>
          <a:p>
            <a:pPr algn="ctr">
              <a:lnSpc>
                <a:spcPts val="2816"/>
              </a:lnSpc>
              <a:spcBef>
                <a:spcPct val="0"/>
              </a:spcBef>
            </a:pPr>
            <a:r>
              <a:rPr lang="en-US" b="true" sz="2011">
                <a:solidFill>
                  <a:srgbClr val="000000"/>
                </a:solidFill>
                <a:latin typeface="Canva Sans Bold"/>
                <a:ea typeface="Canva Sans Bold"/>
                <a:cs typeface="Canva Sans Bold"/>
                <a:sym typeface="Canva Sans Bold"/>
              </a:rPr>
              <a:t>its uses for Simulates real-world waste sorting systems</a:t>
            </a:r>
          </a:p>
          <a:p>
            <a:pPr algn="ctr">
              <a:lnSpc>
                <a:spcPts val="2816"/>
              </a:lnSpc>
              <a:spcBef>
                <a:spcPct val="0"/>
              </a:spcBef>
            </a:pPr>
          </a:p>
        </p:txBody>
      </p:sp>
    </p:spTree>
  </p:cSld>
  <p:clrMapOvr>
    <a:masterClrMapping/>
  </p:clrMapOvr>
  <p:transition spd="fast">
    <p:push dir="l"/>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4F2F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796301" y="832103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519527" y="0"/>
            <a:ext cx="5014135" cy="1698373"/>
          </a:xfrm>
          <a:custGeom>
            <a:avLst/>
            <a:gdLst/>
            <a:ahLst/>
            <a:cxnLst/>
            <a:rect r="r" b="b" t="t" l="l"/>
            <a:pathLst>
              <a:path h="1698373" w="5014135">
                <a:moveTo>
                  <a:pt x="0" y="0"/>
                </a:moveTo>
                <a:lnTo>
                  <a:pt x="5014135" y="0"/>
                </a:lnTo>
                <a:lnTo>
                  <a:pt x="5014135" y="1698373"/>
                </a:lnTo>
                <a:lnTo>
                  <a:pt x="0" y="16983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16</a:t>
            </a:r>
          </a:p>
        </p:txBody>
      </p:sp>
      <p:sp>
        <p:nvSpPr>
          <p:cNvPr name="TextBox 5" id="5"/>
          <p:cNvSpPr txBox="true"/>
          <p:nvPr/>
        </p:nvSpPr>
        <p:spPr>
          <a:xfrm rot="0">
            <a:off x="1603814" y="284846"/>
            <a:ext cx="8237055" cy="3700145"/>
          </a:xfrm>
          <a:prstGeom prst="rect">
            <a:avLst/>
          </a:prstGeom>
        </p:spPr>
        <p:txBody>
          <a:bodyPr anchor="t" rtlCol="false" tIns="0" lIns="0" bIns="0" rIns="0">
            <a:spAutoFit/>
          </a:bodyPr>
          <a:lstStyle/>
          <a:p>
            <a:pPr algn="just">
              <a:lnSpc>
                <a:spcPts val="4199"/>
              </a:lnSpc>
            </a:pPr>
            <a:r>
              <a:rPr lang="en-US" b="true" sz="2999" i="true">
                <a:solidFill>
                  <a:srgbClr val="000000"/>
                </a:solidFill>
                <a:latin typeface="Canva Sans Bold Italics"/>
                <a:ea typeface="Canva Sans Bold Italics"/>
                <a:cs typeface="Canva Sans Bold Italics"/>
                <a:sym typeface="Canva Sans Bold Italics"/>
              </a:rPr>
              <a:t>Data Dis</a:t>
            </a:r>
            <a:r>
              <a:rPr lang="en-US" b="true" sz="2999" i="true">
                <a:solidFill>
                  <a:srgbClr val="000000"/>
                </a:solidFill>
                <a:latin typeface="Canva Sans Bold Italics"/>
                <a:ea typeface="Canva Sans Bold Italics"/>
                <a:cs typeface="Canva Sans Bold Italics"/>
                <a:sym typeface="Canva Sans Bold Italics"/>
              </a:rPr>
              <a:t>tribution:</a:t>
            </a:r>
          </a:p>
          <a:p>
            <a:pPr algn="just" marL="539751" indent="-269876" lvl="1">
              <a:lnSpc>
                <a:spcPts val="3500"/>
              </a:lnSpc>
              <a:buFont typeface="Arial"/>
              <a:buChar char="•"/>
            </a:pPr>
            <a:r>
              <a:rPr lang="en-US" sz="2500" i="true">
                <a:solidFill>
                  <a:srgbClr val="000000"/>
                </a:solidFill>
                <a:latin typeface="Canva Sans Italics"/>
                <a:ea typeface="Canva Sans Italics"/>
                <a:cs typeface="Canva Sans Italics"/>
                <a:sym typeface="Canva Sans Italics"/>
              </a:rPr>
              <a:t>Total Images: 1218</a:t>
            </a:r>
          </a:p>
          <a:p>
            <a:pPr algn="just" marL="539751" indent="-269876" lvl="1">
              <a:lnSpc>
                <a:spcPts val="3500"/>
              </a:lnSpc>
              <a:buFont typeface="Arial"/>
              <a:buChar char="•"/>
            </a:pPr>
            <a:r>
              <a:rPr lang="en-US" sz="2500" i="true">
                <a:solidFill>
                  <a:srgbClr val="000000"/>
                </a:solidFill>
                <a:latin typeface="Canva Sans Italics"/>
                <a:ea typeface="Canva Sans Italics"/>
                <a:cs typeface="Canva Sans Italics"/>
                <a:sym typeface="Canva Sans Italics"/>
              </a:rPr>
              <a:t>304 → Single-class images</a:t>
            </a:r>
          </a:p>
          <a:p>
            <a:pPr algn="just" marL="539751" indent="-269876" lvl="1">
              <a:lnSpc>
                <a:spcPts val="3500"/>
              </a:lnSpc>
              <a:buFont typeface="Arial"/>
              <a:buChar char="•"/>
            </a:pPr>
            <a:r>
              <a:rPr lang="en-US" sz="2500" i="true">
                <a:solidFill>
                  <a:srgbClr val="000000"/>
                </a:solidFill>
                <a:latin typeface="Canva Sans Italics"/>
                <a:ea typeface="Canva Sans Italics"/>
                <a:cs typeface="Canva Sans Italics"/>
                <a:sym typeface="Canva Sans Italics"/>
              </a:rPr>
              <a:t>914 → Multi-class images</a:t>
            </a:r>
          </a:p>
          <a:p>
            <a:pPr algn="just">
              <a:lnSpc>
                <a:spcPts val="3500"/>
              </a:lnSpc>
            </a:pPr>
            <a:r>
              <a:rPr lang="en-US" sz="2500" i="true">
                <a:solidFill>
                  <a:srgbClr val="000000"/>
                </a:solidFill>
                <a:latin typeface="Canva Sans Italics"/>
                <a:ea typeface="Canva Sans Italics"/>
                <a:cs typeface="Canva Sans Italics"/>
                <a:sym typeface="Canva Sans Italics"/>
              </a:rPr>
              <a:t>Multi-class images improve real-world detection capability</a:t>
            </a:r>
          </a:p>
          <a:p>
            <a:pPr algn="l">
              <a:lnSpc>
                <a:spcPts val="3360"/>
              </a:lnSpc>
            </a:pPr>
          </a:p>
          <a:p>
            <a:pPr algn="just">
              <a:lnSpc>
                <a:spcPts val="4759"/>
              </a:lnSpc>
            </a:pPr>
          </a:p>
        </p:txBody>
      </p:sp>
      <p:sp>
        <p:nvSpPr>
          <p:cNvPr name="TextBox 6" id="6"/>
          <p:cNvSpPr txBox="true"/>
          <p:nvPr/>
        </p:nvSpPr>
        <p:spPr>
          <a:xfrm rot="0">
            <a:off x="4839163" y="3246485"/>
            <a:ext cx="7101938" cy="738506"/>
          </a:xfrm>
          <a:prstGeom prst="rect">
            <a:avLst/>
          </a:prstGeom>
        </p:spPr>
        <p:txBody>
          <a:bodyPr anchor="t" rtlCol="false" tIns="0" lIns="0" bIns="0" rIns="0">
            <a:spAutoFit/>
          </a:bodyPr>
          <a:lstStyle/>
          <a:p>
            <a:pPr algn="just">
              <a:lnSpc>
                <a:spcPts val="6019"/>
              </a:lnSpc>
            </a:pPr>
            <a:r>
              <a:rPr lang="en-US" b="true" sz="4299" i="true">
                <a:solidFill>
                  <a:srgbClr val="000000"/>
                </a:solidFill>
                <a:latin typeface="Canva Sans Bold Italics"/>
                <a:ea typeface="Canva Sans Bold Italics"/>
                <a:cs typeface="Canva Sans Bold Italics"/>
                <a:sym typeface="Canva Sans Bold Italics"/>
              </a:rPr>
              <a:t>Training Setup</a:t>
            </a:r>
          </a:p>
        </p:txBody>
      </p:sp>
      <p:sp>
        <p:nvSpPr>
          <p:cNvPr name="TextBox 7" id="7"/>
          <p:cNvSpPr txBox="true"/>
          <p:nvPr/>
        </p:nvSpPr>
        <p:spPr>
          <a:xfrm rot="0">
            <a:off x="1603814" y="4225799"/>
            <a:ext cx="8237055" cy="4805045"/>
          </a:xfrm>
          <a:prstGeom prst="rect">
            <a:avLst/>
          </a:prstGeom>
        </p:spPr>
        <p:txBody>
          <a:bodyPr anchor="t" rtlCol="false" tIns="0" lIns="0" bIns="0" rIns="0">
            <a:spAutoFit/>
          </a:bodyPr>
          <a:lstStyle/>
          <a:p>
            <a:pPr algn="just">
              <a:lnSpc>
                <a:spcPts val="4199"/>
              </a:lnSpc>
            </a:pPr>
            <a:r>
              <a:rPr lang="en-US" b="true" sz="2999" i="true">
                <a:solidFill>
                  <a:srgbClr val="000000"/>
                </a:solidFill>
                <a:latin typeface="Canva Sans Bold Italics"/>
                <a:ea typeface="Canva Sans Bold Italics"/>
                <a:cs typeface="Canva Sans Bold Italics"/>
                <a:sym typeface="Canva Sans Bold Italics"/>
              </a:rPr>
              <a:t>Model T</a:t>
            </a:r>
            <a:r>
              <a:rPr lang="en-US" b="true" sz="2999" i="true">
                <a:solidFill>
                  <a:srgbClr val="000000"/>
                </a:solidFill>
                <a:latin typeface="Canva Sans Bold Italics"/>
                <a:ea typeface="Canva Sans Bold Italics"/>
                <a:cs typeface="Canva Sans Bold Italics"/>
                <a:sym typeface="Canva Sans Bold Italics"/>
              </a:rPr>
              <a:t>raining Configuration</a:t>
            </a:r>
          </a:p>
          <a:p>
            <a:pPr algn="just" marL="518162" indent="-259081" lvl="1">
              <a:lnSpc>
                <a:spcPts val="3360"/>
              </a:lnSpc>
              <a:buFont typeface="Arial"/>
              <a:buChar char="•"/>
            </a:pPr>
            <a:r>
              <a:rPr lang="en-US" sz="2400" i="true">
                <a:solidFill>
                  <a:srgbClr val="000000"/>
                </a:solidFill>
                <a:latin typeface="Canva Sans Italics"/>
                <a:ea typeface="Canva Sans Italics"/>
                <a:cs typeface="Canva Sans Italics"/>
                <a:sym typeface="Canva Sans Italics"/>
              </a:rPr>
              <a:t>Image Size: 416 × 416</a:t>
            </a:r>
          </a:p>
          <a:p>
            <a:pPr algn="just" marL="518162" indent="-259081" lvl="1">
              <a:lnSpc>
                <a:spcPts val="3360"/>
              </a:lnSpc>
              <a:buFont typeface="Arial"/>
              <a:buChar char="•"/>
            </a:pPr>
            <a:r>
              <a:rPr lang="en-US" sz="2400" i="true">
                <a:solidFill>
                  <a:srgbClr val="000000"/>
                </a:solidFill>
                <a:latin typeface="Canva Sans Italics"/>
                <a:ea typeface="Canva Sans Italics"/>
                <a:cs typeface="Canva Sans Italics"/>
                <a:sym typeface="Canva Sans Italics"/>
              </a:rPr>
              <a:t>Model: YOLOv</a:t>
            </a:r>
            <a:r>
              <a:rPr lang="en-US" sz="2400" i="true">
                <a:solidFill>
                  <a:srgbClr val="000000"/>
                </a:solidFill>
                <a:latin typeface="Canva Sans Italics"/>
                <a:ea typeface="Canva Sans Italics"/>
                <a:cs typeface="Canva Sans Italics"/>
                <a:sym typeface="Canva Sans Italics"/>
              </a:rPr>
              <a:t>3 (base architecture)</a:t>
            </a:r>
          </a:p>
          <a:p>
            <a:pPr algn="just" marL="518162" indent="-259081" lvl="1">
              <a:lnSpc>
                <a:spcPts val="3360"/>
              </a:lnSpc>
              <a:buFont typeface="Arial"/>
              <a:buChar char="•"/>
            </a:pPr>
            <a:r>
              <a:rPr lang="en-US" sz="2400" i="true">
                <a:solidFill>
                  <a:srgbClr val="000000"/>
                </a:solidFill>
                <a:latin typeface="Canva Sans Italics"/>
                <a:ea typeface="Canva Sans Italics"/>
                <a:cs typeface="Canva Sans Italics"/>
                <a:sym typeface="Canva Sans Italics"/>
              </a:rPr>
              <a:t>Framework: Darknet</a:t>
            </a:r>
          </a:p>
          <a:p>
            <a:pPr algn="just" marL="518162" indent="-259081" lvl="1">
              <a:lnSpc>
                <a:spcPts val="3360"/>
              </a:lnSpc>
              <a:buFont typeface="Arial"/>
              <a:buChar char="•"/>
            </a:pPr>
            <a:r>
              <a:rPr lang="en-US" sz="2400" i="true">
                <a:solidFill>
                  <a:srgbClr val="000000"/>
                </a:solidFill>
                <a:latin typeface="Canva Sans Italics"/>
                <a:ea typeface="Canva Sans Italics"/>
                <a:cs typeface="Canva Sans Italics"/>
                <a:sym typeface="Canva Sans Italics"/>
              </a:rPr>
              <a:t>GPU:</a:t>
            </a:r>
            <a:r>
              <a:rPr lang="en-US" sz="2400" i="true">
                <a:solidFill>
                  <a:srgbClr val="000000"/>
                </a:solidFill>
                <a:latin typeface="Canva Sans Italics"/>
                <a:ea typeface="Canva Sans Italics"/>
                <a:cs typeface="Canva Sans Italics"/>
                <a:sym typeface="Canva Sans Italics"/>
              </a:rPr>
              <a:t> GTX 1660Ti</a:t>
            </a:r>
          </a:p>
          <a:p>
            <a:pPr algn="just">
              <a:lnSpc>
                <a:spcPts val="4199"/>
              </a:lnSpc>
            </a:pPr>
            <a:r>
              <a:rPr lang="en-US" b="true" sz="2999" i="true">
                <a:solidFill>
                  <a:srgbClr val="000000"/>
                </a:solidFill>
                <a:latin typeface="Canva Sans Bold Italics"/>
                <a:ea typeface="Canva Sans Bold Italics"/>
                <a:cs typeface="Canva Sans Bold Italics"/>
                <a:sym typeface="Canva Sans Bold Italics"/>
              </a:rPr>
              <a:t>Training Strategy:</a:t>
            </a:r>
          </a:p>
          <a:p>
            <a:pPr algn="just" marL="604519" indent="-302260" lvl="1">
              <a:lnSpc>
                <a:spcPts val="3919"/>
              </a:lnSpc>
              <a:buFont typeface="Arial"/>
              <a:buChar char="•"/>
            </a:pPr>
            <a:r>
              <a:rPr lang="en-US" sz="2799" i="true">
                <a:solidFill>
                  <a:srgbClr val="000000"/>
                </a:solidFill>
                <a:latin typeface="Canva Sans Italics"/>
                <a:ea typeface="Canva Sans Italics"/>
                <a:cs typeface="Canva Sans Italics"/>
                <a:sym typeface="Canva Sans Italics"/>
              </a:rPr>
              <a:t>Multi-scale training</a:t>
            </a:r>
          </a:p>
          <a:p>
            <a:pPr algn="just" marL="604519" indent="-302260" lvl="1">
              <a:lnSpc>
                <a:spcPts val="3919"/>
              </a:lnSpc>
              <a:buFont typeface="Arial"/>
              <a:buChar char="•"/>
            </a:pPr>
            <a:r>
              <a:rPr lang="en-US" sz="2799" i="true">
                <a:solidFill>
                  <a:srgbClr val="000000"/>
                </a:solidFill>
                <a:latin typeface="Canva Sans Italics"/>
                <a:ea typeface="Canva Sans Italics"/>
                <a:cs typeface="Canva Sans Italics"/>
                <a:sym typeface="Canva Sans Italics"/>
              </a:rPr>
              <a:t>Iterative learning</a:t>
            </a:r>
          </a:p>
          <a:p>
            <a:pPr algn="just">
              <a:lnSpc>
                <a:spcPts val="4199"/>
              </a:lnSpc>
            </a:pPr>
          </a:p>
          <a:p>
            <a:pPr algn="just">
              <a:lnSpc>
                <a:spcPts val="4759"/>
              </a:lnSpc>
            </a:pPr>
          </a:p>
        </p:txBody>
      </p:sp>
      <p:sp>
        <p:nvSpPr>
          <p:cNvPr name="TextBox 8" id="8"/>
          <p:cNvSpPr txBox="true"/>
          <p:nvPr/>
        </p:nvSpPr>
        <p:spPr>
          <a:xfrm rot="0">
            <a:off x="8136162" y="4225799"/>
            <a:ext cx="8237055" cy="2842895"/>
          </a:xfrm>
          <a:prstGeom prst="rect">
            <a:avLst/>
          </a:prstGeom>
        </p:spPr>
        <p:txBody>
          <a:bodyPr anchor="t" rtlCol="false" tIns="0" lIns="0" bIns="0" rIns="0">
            <a:spAutoFit/>
          </a:bodyPr>
          <a:lstStyle/>
          <a:p>
            <a:pPr algn="just">
              <a:lnSpc>
                <a:spcPts val="4199"/>
              </a:lnSpc>
            </a:pPr>
            <a:r>
              <a:rPr lang="en-US" b="true" sz="2999" i="true">
                <a:solidFill>
                  <a:srgbClr val="000000"/>
                </a:solidFill>
                <a:latin typeface="Canva Sans Bold Italics"/>
                <a:ea typeface="Canva Sans Bold Italics"/>
                <a:cs typeface="Canva Sans Bold Italics"/>
                <a:sym typeface="Canva Sans Bold Italics"/>
              </a:rPr>
              <a:t>T</a:t>
            </a:r>
            <a:r>
              <a:rPr lang="en-US" b="true" sz="2999" i="true">
                <a:solidFill>
                  <a:srgbClr val="000000"/>
                </a:solidFill>
                <a:latin typeface="Canva Sans Bold Italics"/>
                <a:ea typeface="Canva Sans Bold Italics"/>
                <a:cs typeface="Canva Sans Bold Italics"/>
                <a:sym typeface="Canva Sans Bold Italics"/>
              </a:rPr>
              <a:t>raining Para</a:t>
            </a:r>
            <a:r>
              <a:rPr lang="en-US" b="true" sz="2999" i="true">
                <a:solidFill>
                  <a:srgbClr val="000000"/>
                </a:solidFill>
                <a:latin typeface="Canva Sans Bold Italics"/>
                <a:ea typeface="Canva Sans Bold Italics"/>
                <a:cs typeface="Canva Sans Bold Italics"/>
                <a:sym typeface="Canva Sans Bold Italics"/>
              </a:rPr>
              <a:t>meters</a:t>
            </a:r>
          </a:p>
          <a:p>
            <a:pPr algn="just" marL="539751" indent="-269876" lvl="1">
              <a:lnSpc>
                <a:spcPts val="3500"/>
              </a:lnSpc>
              <a:buFont typeface="Arial"/>
              <a:buChar char="•"/>
            </a:pPr>
            <a:r>
              <a:rPr lang="en-US" sz="2500" i="true">
                <a:solidFill>
                  <a:srgbClr val="000000"/>
                </a:solidFill>
                <a:latin typeface="Canva Sans Italics"/>
                <a:ea typeface="Canva Sans Italics"/>
                <a:cs typeface="Canva Sans Italics"/>
                <a:sym typeface="Canva Sans Italics"/>
              </a:rPr>
              <a:t>L</a:t>
            </a:r>
            <a:r>
              <a:rPr lang="en-US" sz="2500" i="true">
                <a:solidFill>
                  <a:srgbClr val="000000"/>
                </a:solidFill>
                <a:latin typeface="Canva Sans Italics"/>
                <a:ea typeface="Canva Sans Italics"/>
                <a:cs typeface="Canva Sans Italics"/>
                <a:sym typeface="Canva Sans Italics"/>
              </a:rPr>
              <a:t>earning Rate: 0.001</a:t>
            </a:r>
          </a:p>
          <a:p>
            <a:pPr algn="just" marL="539751" indent="-269876" lvl="1">
              <a:lnSpc>
                <a:spcPts val="3500"/>
              </a:lnSpc>
              <a:buFont typeface="Arial"/>
              <a:buChar char="•"/>
            </a:pPr>
            <a:r>
              <a:rPr lang="en-US" sz="2500" i="true">
                <a:solidFill>
                  <a:srgbClr val="000000"/>
                </a:solidFill>
                <a:latin typeface="Canva Sans Italics"/>
                <a:ea typeface="Canva Sans Italics"/>
                <a:cs typeface="Canva Sans Italics"/>
                <a:sym typeface="Canva Sans Italics"/>
              </a:rPr>
              <a:t>Mo</a:t>
            </a:r>
            <a:r>
              <a:rPr lang="en-US" sz="2500" i="true">
                <a:solidFill>
                  <a:srgbClr val="000000"/>
                </a:solidFill>
                <a:latin typeface="Canva Sans Italics"/>
                <a:ea typeface="Canva Sans Italics"/>
                <a:cs typeface="Canva Sans Italics"/>
                <a:sym typeface="Canva Sans Italics"/>
              </a:rPr>
              <a:t>mentum</a:t>
            </a:r>
            <a:r>
              <a:rPr lang="en-US" sz="2500" i="true">
                <a:solidFill>
                  <a:srgbClr val="000000"/>
                </a:solidFill>
                <a:latin typeface="Canva Sans Italics"/>
                <a:ea typeface="Canva Sans Italics"/>
                <a:cs typeface="Canva Sans Italics"/>
                <a:sym typeface="Canva Sans Italics"/>
              </a:rPr>
              <a:t>:</a:t>
            </a:r>
            <a:r>
              <a:rPr lang="en-US" sz="2500" i="true">
                <a:solidFill>
                  <a:srgbClr val="000000"/>
                </a:solidFill>
                <a:latin typeface="Canva Sans Italics"/>
                <a:ea typeface="Canva Sans Italics"/>
                <a:cs typeface="Canva Sans Italics"/>
                <a:sym typeface="Canva Sans Italics"/>
              </a:rPr>
              <a:t> 0.9</a:t>
            </a:r>
          </a:p>
          <a:p>
            <a:pPr algn="just" marL="539751" indent="-269876" lvl="1">
              <a:lnSpc>
                <a:spcPts val="3500"/>
              </a:lnSpc>
              <a:buFont typeface="Arial"/>
              <a:buChar char="•"/>
            </a:pPr>
            <a:r>
              <a:rPr lang="en-US" sz="2500" i="true">
                <a:solidFill>
                  <a:srgbClr val="000000"/>
                </a:solidFill>
                <a:latin typeface="Canva Sans Italics"/>
                <a:ea typeface="Canva Sans Italics"/>
                <a:cs typeface="Canva Sans Italics"/>
                <a:sym typeface="Canva Sans Italics"/>
              </a:rPr>
              <a:t>We</a:t>
            </a:r>
            <a:r>
              <a:rPr lang="en-US" sz="2500" i="true">
                <a:solidFill>
                  <a:srgbClr val="000000"/>
                </a:solidFill>
                <a:latin typeface="Canva Sans Italics"/>
                <a:ea typeface="Canva Sans Italics"/>
                <a:cs typeface="Canva Sans Italics"/>
                <a:sym typeface="Canva Sans Italics"/>
              </a:rPr>
              <a:t>ight Decay: 0.0005</a:t>
            </a:r>
          </a:p>
          <a:p>
            <a:pPr algn="just">
              <a:lnSpc>
                <a:spcPts val="3500"/>
              </a:lnSpc>
            </a:pPr>
            <a:r>
              <a:rPr lang="en-US" sz="2500">
                <a:solidFill>
                  <a:srgbClr val="000000"/>
                </a:solidFill>
                <a:latin typeface="Canva Sans"/>
                <a:ea typeface="Canva Sans"/>
                <a:cs typeface="Canva Sans"/>
                <a:sym typeface="Canva Sans"/>
              </a:rPr>
              <a:t>Its </a:t>
            </a:r>
            <a:r>
              <a:rPr lang="en-US" sz="2500" i="true">
                <a:solidFill>
                  <a:srgbClr val="000000"/>
                </a:solidFill>
                <a:latin typeface="Canva Sans Italics"/>
                <a:ea typeface="Canva Sans Italics"/>
                <a:cs typeface="Canva Sans Italics"/>
                <a:sym typeface="Canva Sans Italics"/>
              </a:rPr>
              <a:t> </a:t>
            </a:r>
            <a:r>
              <a:rPr lang="en-US" sz="2500" i="true">
                <a:solidFill>
                  <a:srgbClr val="000000"/>
                </a:solidFill>
                <a:latin typeface="Canva Sans Italics"/>
                <a:ea typeface="Canva Sans Italics"/>
                <a:cs typeface="Canva Sans Italics"/>
                <a:sym typeface="Canva Sans Italics"/>
              </a:rPr>
              <a:t>Ens</a:t>
            </a:r>
            <a:r>
              <a:rPr lang="en-US" sz="2500" i="true">
                <a:solidFill>
                  <a:srgbClr val="000000"/>
                </a:solidFill>
                <a:latin typeface="Canva Sans Italics"/>
                <a:ea typeface="Canva Sans Italics"/>
                <a:cs typeface="Canva Sans Italics"/>
                <a:sym typeface="Canva Sans Italics"/>
              </a:rPr>
              <a:t>ures stable, efficient, and balanced learning</a:t>
            </a:r>
          </a:p>
          <a:p>
            <a:pPr algn="just">
              <a:lnSpc>
                <a:spcPts val="4759"/>
              </a:lnSpc>
            </a:pPr>
          </a:p>
        </p:txBody>
      </p:sp>
      <p:sp>
        <p:nvSpPr>
          <p:cNvPr name="TextBox 9" id="9"/>
          <p:cNvSpPr txBox="true"/>
          <p:nvPr/>
        </p:nvSpPr>
        <p:spPr>
          <a:xfrm rot="0">
            <a:off x="720635" y="9044940"/>
            <a:ext cx="8237055" cy="407669"/>
          </a:xfrm>
          <a:prstGeom prst="rect">
            <a:avLst/>
          </a:prstGeom>
        </p:spPr>
        <p:txBody>
          <a:bodyPr anchor="t" rtlCol="false" tIns="0" lIns="0" bIns="0" rIns="0">
            <a:spAutoFit/>
          </a:bodyPr>
          <a:lstStyle/>
          <a:p>
            <a:pPr algn="l">
              <a:lnSpc>
                <a:spcPts val="1680"/>
              </a:lnSpc>
            </a:pPr>
            <a:r>
              <a:rPr lang="en-US" sz="1200">
                <a:solidFill>
                  <a:srgbClr val="000000"/>
                </a:solidFill>
                <a:latin typeface="Canva Sans"/>
                <a:ea typeface="Canva Sans"/>
                <a:cs typeface="Canva Sans"/>
                <a:sym typeface="Canva Sans"/>
              </a:rPr>
              <a:t>Presented By </a:t>
            </a:r>
          </a:p>
          <a:p>
            <a:pPr algn="l">
              <a:lnSpc>
                <a:spcPts val="1680"/>
              </a:lnSpc>
            </a:pPr>
            <a:r>
              <a:rPr lang="en-US" sz="1200">
                <a:solidFill>
                  <a:srgbClr val="000000"/>
                </a:solidFill>
                <a:latin typeface="Canva Sans"/>
                <a:ea typeface="Canva Sans"/>
                <a:cs typeface="Canva Sans"/>
                <a:sym typeface="Canva Sans"/>
              </a:rPr>
              <a:t>Sakib Ahmed (232-15-085)</a:t>
            </a:r>
          </a:p>
        </p:txBody>
      </p:sp>
    </p:spTree>
  </p:cSld>
  <p:clrMapOvr>
    <a:masterClrMapping/>
  </p:clrMapOvr>
  <p:transition spd="slow">
    <p:wipe dir="l"/>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4F2FD"/>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796301" y="832103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519527" y="0"/>
            <a:ext cx="5014135" cy="1698373"/>
          </a:xfrm>
          <a:custGeom>
            <a:avLst/>
            <a:gdLst/>
            <a:ahLst/>
            <a:cxnLst/>
            <a:rect r="r" b="b" t="t" l="l"/>
            <a:pathLst>
              <a:path h="1698373" w="5014135">
                <a:moveTo>
                  <a:pt x="0" y="0"/>
                </a:moveTo>
                <a:lnTo>
                  <a:pt x="5014135" y="0"/>
                </a:lnTo>
                <a:lnTo>
                  <a:pt x="5014135" y="1698373"/>
                </a:lnTo>
                <a:lnTo>
                  <a:pt x="0" y="16983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17</a:t>
            </a:r>
          </a:p>
        </p:txBody>
      </p:sp>
      <p:sp>
        <p:nvSpPr>
          <p:cNvPr name="TextBox 5" id="5"/>
          <p:cNvSpPr txBox="true"/>
          <p:nvPr/>
        </p:nvSpPr>
        <p:spPr>
          <a:xfrm rot="0">
            <a:off x="126562" y="1892613"/>
            <a:ext cx="8237055" cy="2623820"/>
          </a:xfrm>
          <a:prstGeom prst="rect">
            <a:avLst/>
          </a:prstGeom>
        </p:spPr>
        <p:txBody>
          <a:bodyPr anchor="t" rtlCol="false" tIns="0" lIns="0" bIns="0" rIns="0">
            <a:spAutoFit/>
          </a:bodyPr>
          <a:lstStyle/>
          <a:p>
            <a:pPr algn="just">
              <a:lnSpc>
                <a:spcPts val="4759"/>
              </a:lnSpc>
            </a:pPr>
            <a:r>
              <a:rPr lang="en-US" b="true" sz="3399" i="true">
                <a:solidFill>
                  <a:srgbClr val="000000"/>
                </a:solidFill>
                <a:latin typeface="Canva Sans Bold Italics"/>
                <a:ea typeface="Canva Sans Bold Italics"/>
                <a:cs typeface="Canva Sans Bold Italics"/>
                <a:sym typeface="Canva Sans Bold Italics"/>
              </a:rPr>
              <a:t> Perform</a:t>
            </a:r>
            <a:r>
              <a:rPr lang="en-US" b="true" sz="3399" i="true">
                <a:solidFill>
                  <a:srgbClr val="000000"/>
                </a:solidFill>
                <a:latin typeface="Canva Sans Bold Italics"/>
                <a:ea typeface="Canva Sans Bold Italics"/>
                <a:cs typeface="Canva Sans Bold Italics"/>
                <a:sym typeface="Canva Sans Bold Italics"/>
              </a:rPr>
              <a:t>ance Measurement:</a:t>
            </a:r>
          </a:p>
          <a:p>
            <a:pPr algn="just" marL="539751" indent="-269876" lvl="1">
              <a:lnSpc>
                <a:spcPts val="3500"/>
              </a:lnSpc>
              <a:buFont typeface="Arial"/>
              <a:buChar char="•"/>
            </a:pPr>
            <a:r>
              <a:rPr lang="en-US" sz="2500" i="true">
                <a:solidFill>
                  <a:srgbClr val="000000"/>
                </a:solidFill>
                <a:latin typeface="Canva Sans Italics"/>
                <a:ea typeface="Canva Sans Italics"/>
                <a:cs typeface="Canva Sans Italics"/>
                <a:sym typeface="Canva Sans Italics"/>
              </a:rPr>
              <a:t>Precision (P)</a:t>
            </a:r>
          </a:p>
          <a:p>
            <a:pPr algn="just" marL="539751" indent="-269876" lvl="1">
              <a:lnSpc>
                <a:spcPts val="3500"/>
              </a:lnSpc>
              <a:buFont typeface="Arial"/>
              <a:buChar char="•"/>
            </a:pPr>
            <a:r>
              <a:rPr lang="en-US" sz="2500" i="true">
                <a:solidFill>
                  <a:srgbClr val="000000"/>
                </a:solidFill>
                <a:latin typeface="Canva Sans Italics"/>
                <a:ea typeface="Canva Sans Italics"/>
                <a:cs typeface="Canva Sans Italics"/>
                <a:sym typeface="Canva Sans Italics"/>
              </a:rPr>
              <a:t>Recall (R)</a:t>
            </a:r>
          </a:p>
          <a:p>
            <a:pPr algn="just" marL="539751" indent="-269876" lvl="1">
              <a:lnSpc>
                <a:spcPts val="3500"/>
              </a:lnSpc>
              <a:buFont typeface="Arial"/>
              <a:buChar char="•"/>
            </a:pPr>
            <a:r>
              <a:rPr lang="en-US" sz="2500" i="true">
                <a:solidFill>
                  <a:srgbClr val="000000"/>
                </a:solidFill>
                <a:latin typeface="Canva Sans Italics"/>
                <a:ea typeface="Canva Sans Italics"/>
                <a:cs typeface="Canva Sans Italics"/>
                <a:sym typeface="Canva Sans Italics"/>
              </a:rPr>
              <a:t>mAP (Mean Average</a:t>
            </a:r>
            <a:r>
              <a:rPr lang="en-US" sz="2500" i="true">
                <a:solidFill>
                  <a:srgbClr val="000000"/>
                </a:solidFill>
                <a:latin typeface="Canva Sans Italics"/>
                <a:ea typeface="Canva Sans Italics"/>
                <a:cs typeface="Canva Sans Italics"/>
                <a:sym typeface="Canva Sans Italics"/>
              </a:rPr>
              <a:t> </a:t>
            </a:r>
            <a:r>
              <a:rPr lang="en-US" sz="2500" i="true">
                <a:solidFill>
                  <a:srgbClr val="000000"/>
                </a:solidFill>
                <a:latin typeface="Canva Sans Italics"/>
                <a:ea typeface="Canva Sans Italics"/>
                <a:cs typeface="Canva Sans Italics"/>
                <a:sym typeface="Canva Sans Italics"/>
              </a:rPr>
              <a:t>Precision)</a:t>
            </a:r>
          </a:p>
          <a:p>
            <a:pPr algn="just">
              <a:lnSpc>
                <a:spcPts val="3500"/>
              </a:lnSpc>
            </a:pPr>
            <a:r>
              <a:rPr lang="en-US" sz="2500" i="true">
                <a:solidFill>
                  <a:srgbClr val="000000"/>
                </a:solidFill>
                <a:latin typeface="Canva Sans Italics"/>
                <a:ea typeface="Canva Sans Italics"/>
                <a:cs typeface="Canva Sans Italics"/>
                <a:sym typeface="Canva Sans Italics"/>
              </a:rPr>
              <a:t> </a:t>
            </a:r>
            <a:r>
              <a:rPr lang="en-US" sz="2500" i="true">
                <a:solidFill>
                  <a:srgbClr val="000000"/>
                </a:solidFill>
                <a:latin typeface="Canva Sans Italics"/>
                <a:ea typeface="Canva Sans Italics"/>
                <a:cs typeface="Canva Sans Italics"/>
                <a:sym typeface="Canva Sans Italics"/>
              </a:rPr>
              <a:t>Standard metrics for object detection models</a:t>
            </a:r>
          </a:p>
          <a:p>
            <a:pPr algn="l">
              <a:lnSpc>
                <a:spcPts val="2100"/>
              </a:lnSpc>
            </a:pPr>
          </a:p>
        </p:txBody>
      </p:sp>
      <p:sp>
        <p:nvSpPr>
          <p:cNvPr name="TextBox 6" id="6"/>
          <p:cNvSpPr txBox="true"/>
          <p:nvPr/>
        </p:nvSpPr>
        <p:spPr>
          <a:xfrm rot="0">
            <a:off x="694121" y="8946070"/>
            <a:ext cx="8237055" cy="407669"/>
          </a:xfrm>
          <a:prstGeom prst="rect">
            <a:avLst/>
          </a:prstGeom>
        </p:spPr>
        <p:txBody>
          <a:bodyPr anchor="t" rtlCol="false" tIns="0" lIns="0" bIns="0" rIns="0">
            <a:spAutoFit/>
          </a:bodyPr>
          <a:lstStyle/>
          <a:p>
            <a:pPr algn="l">
              <a:lnSpc>
                <a:spcPts val="1680"/>
              </a:lnSpc>
            </a:pPr>
            <a:r>
              <a:rPr lang="en-US" sz="1200">
                <a:solidFill>
                  <a:srgbClr val="000000"/>
                </a:solidFill>
                <a:latin typeface="Canva Sans"/>
                <a:ea typeface="Canva Sans"/>
                <a:cs typeface="Canva Sans"/>
                <a:sym typeface="Canva Sans"/>
              </a:rPr>
              <a:t>Presented By </a:t>
            </a:r>
          </a:p>
          <a:p>
            <a:pPr algn="l">
              <a:lnSpc>
                <a:spcPts val="1680"/>
              </a:lnSpc>
            </a:pPr>
            <a:r>
              <a:rPr lang="en-US" sz="1200">
                <a:solidFill>
                  <a:srgbClr val="000000"/>
                </a:solidFill>
                <a:latin typeface="Canva Sans"/>
                <a:ea typeface="Canva Sans"/>
                <a:cs typeface="Canva Sans"/>
                <a:sym typeface="Canva Sans"/>
              </a:rPr>
              <a:t>Sakib Ahmed (232-15-085)</a:t>
            </a:r>
          </a:p>
        </p:txBody>
      </p:sp>
      <p:sp>
        <p:nvSpPr>
          <p:cNvPr name="TextBox 7" id="7"/>
          <p:cNvSpPr txBox="true"/>
          <p:nvPr/>
        </p:nvSpPr>
        <p:spPr>
          <a:xfrm rot="0">
            <a:off x="4812648" y="616584"/>
            <a:ext cx="7101938" cy="738506"/>
          </a:xfrm>
          <a:prstGeom prst="rect">
            <a:avLst/>
          </a:prstGeom>
        </p:spPr>
        <p:txBody>
          <a:bodyPr anchor="t" rtlCol="false" tIns="0" lIns="0" bIns="0" rIns="0">
            <a:spAutoFit/>
          </a:bodyPr>
          <a:lstStyle/>
          <a:p>
            <a:pPr algn="just">
              <a:lnSpc>
                <a:spcPts val="6019"/>
              </a:lnSpc>
            </a:pPr>
            <a:r>
              <a:rPr lang="en-US" b="true" sz="4299" i="true">
                <a:solidFill>
                  <a:srgbClr val="000000"/>
                </a:solidFill>
                <a:latin typeface="Canva Sans Bold Italics"/>
                <a:ea typeface="Canva Sans Bold Italics"/>
                <a:cs typeface="Canva Sans Bold Italics"/>
                <a:sym typeface="Canva Sans Bold Italics"/>
              </a:rPr>
              <a:t>Evaluation Metrics</a:t>
            </a:r>
          </a:p>
        </p:txBody>
      </p:sp>
      <p:sp>
        <p:nvSpPr>
          <p:cNvPr name="TextBox 8" id="8"/>
          <p:cNvSpPr txBox="true"/>
          <p:nvPr/>
        </p:nvSpPr>
        <p:spPr>
          <a:xfrm rot="0">
            <a:off x="126562" y="4449758"/>
            <a:ext cx="8237055" cy="2623820"/>
          </a:xfrm>
          <a:prstGeom prst="rect">
            <a:avLst/>
          </a:prstGeom>
        </p:spPr>
        <p:txBody>
          <a:bodyPr anchor="t" rtlCol="false" tIns="0" lIns="0" bIns="0" rIns="0">
            <a:spAutoFit/>
          </a:bodyPr>
          <a:lstStyle/>
          <a:p>
            <a:pPr algn="just">
              <a:lnSpc>
                <a:spcPts val="4759"/>
              </a:lnSpc>
            </a:pPr>
            <a:r>
              <a:rPr lang="en-US" b="true" sz="3399" i="true">
                <a:solidFill>
                  <a:srgbClr val="000000"/>
                </a:solidFill>
                <a:latin typeface="Canva Sans Bold Italics"/>
                <a:ea typeface="Canva Sans Bold Italics"/>
                <a:cs typeface="Canva Sans Bold Italics"/>
                <a:sym typeface="Canva Sans Bold Italics"/>
              </a:rPr>
              <a:t>Pr</a:t>
            </a:r>
            <a:r>
              <a:rPr lang="en-US" b="true" sz="3399" i="true">
                <a:solidFill>
                  <a:srgbClr val="000000"/>
                </a:solidFill>
                <a:latin typeface="Canva Sans Bold Italics"/>
                <a:ea typeface="Canva Sans Bold Italics"/>
                <a:cs typeface="Canva Sans Bold Italics"/>
                <a:sym typeface="Canva Sans Bold Italics"/>
              </a:rPr>
              <a:t>ecision</a:t>
            </a:r>
          </a:p>
          <a:p>
            <a:pPr algn="just" marL="539751" indent="-269876" lvl="1">
              <a:lnSpc>
                <a:spcPts val="3500"/>
              </a:lnSpc>
              <a:buFont typeface="Arial"/>
              <a:buChar char="•"/>
            </a:pPr>
            <a:r>
              <a:rPr lang="en-US" sz="2500" i="true">
                <a:solidFill>
                  <a:srgbClr val="000000"/>
                </a:solidFill>
                <a:latin typeface="Canva Sans Italics"/>
                <a:ea typeface="Canva Sans Italics"/>
                <a:cs typeface="Canva Sans Italics"/>
                <a:sym typeface="Canva Sans Italics"/>
              </a:rPr>
              <a:t>M</a:t>
            </a:r>
            <a:r>
              <a:rPr lang="en-US" sz="2500" i="true">
                <a:solidFill>
                  <a:srgbClr val="000000"/>
                </a:solidFill>
                <a:latin typeface="Canva Sans Italics"/>
                <a:ea typeface="Canva Sans Italics"/>
                <a:cs typeface="Canva Sans Italics"/>
                <a:sym typeface="Canva Sans Italics"/>
              </a:rPr>
              <a:t>easures</a:t>
            </a:r>
            <a:r>
              <a:rPr lang="en-US" sz="2500" i="true">
                <a:solidFill>
                  <a:srgbClr val="000000"/>
                </a:solidFill>
                <a:latin typeface="Canva Sans Italics"/>
                <a:ea typeface="Canva Sans Italics"/>
                <a:cs typeface="Canva Sans Italics"/>
                <a:sym typeface="Canva Sans Italics"/>
              </a:rPr>
              <a:t> correctness of predictions</a:t>
            </a:r>
          </a:p>
          <a:p>
            <a:pPr algn="just" marL="539751" indent="-269876" lvl="1">
              <a:lnSpc>
                <a:spcPts val="3500"/>
              </a:lnSpc>
              <a:buFont typeface="Arial"/>
              <a:buChar char="•"/>
            </a:pPr>
            <a:r>
              <a:rPr lang="en-US" sz="2500" i="true">
                <a:solidFill>
                  <a:srgbClr val="000000"/>
                </a:solidFill>
                <a:latin typeface="Canva Sans Italics"/>
                <a:ea typeface="Canva Sans Italics"/>
                <a:cs typeface="Canva Sans Italics"/>
                <a:sym typeface="Canva Sans Italics"/>
              </a:rPr>
              <a:t>Formula:</a:t>
            </a:r>
          </a:p>
          <a:p>
            <a:pPr algn="just" marL="539751" indent="-269876" lvl="1">
              <a:lnSpc>
                <a:spcPts val="3500"/>
              </a:lnSpc>
              <a:buFont typeface="Arial"/>
              <a:buChar char="•"/>
            </a:pPr>
            <a:r>
              <a:rPr lang="en-US" sz="2500" i="true">
                <a:solidFill>
                  <a:srgbClr val="000000"/>
                </a:solidFill>
                <a:latin typeface="Canva Sans Italics"/>
                <a:ea typeface="Canva Sans Italics"/>
                <a:cs typeface="Canva Sans Italics"/>
                <a:sym typeface="Canva Sans Italics"/>
              </a:rPr>
              <a:t>P = TP / (TP + FP)</a:t>
            </a:r>
          </a:p>
          <a:p>
            <a:pPr algn="just">
              <a:lnSpc>
                <a:spcPts val="3500"/>
              </a:lnSpc>
            </a:pPr>
            <a:r>
              <a:rPr lang="en-US" sz="2500" i="true">
                <a:solidFill>
                  <a:srgbClr val="000000"/>
                </a:solidFill>
                <a:latin typeface="Canva Sans Italics"/>
                <a:ea typeface="Canva Sans Italics"/>
                <a:cs typeface="Canva Sans Italics"/>
                <a:sym typeface="Canva Sans Italics"/>
              </a:rPr>
              <a:t>High</a:t>
            </a:r>
            <a:r>
              <a:rPr lang="en-US" sz="2500" i="true">
                <a:solidFill>
                  <a:srgbClr val="000000"/>
                </a:solidFill>
                <a:latin typeface="Canva Sans Italics"/>
                <a:ea typeface="Canva Sans Italics"/>
                <a:cs typeface="Canva Sans Italics"/>
                <a:sym typeface="Canva Sans Italics"/>
              </a:rPr>
              <a:t> </a:t>
            </a:r>
            <a:r>
              <a:rPr lang="en-US" sz="2500" i="true">
                <a:solidFill>
                  <a:srgbClr val="000000"/>
                </a:solidFill>
                <a:latin typeface="Canva Sans Italics"/>
                <a:ea typeface="Canva Sans Italics"/>
                <a:cs typeface="Canva Sans Italics"/>
                <a:sym typeface="Canva Sans Italics"/>
              </a:rPr>
              <a:t>Precision</a:t>
            </a:r>
            <a:r>
              <a:rPr lang="en-US" sz="2500" i="true">
                <a:solidFill>
                  <a:srgbClr val="000000"/>
                </a:solidFill>
                <a:latin typeface="Canva Sans Italics"/>
                <a:ea typeface="Canva Sans Italics"/>
                <a:cs typeface="Canva Sans Italics"/>
                <a:sym typeface="Canva Sans Italics"/>
              </a:rPr>
              <a:t> →</a:t>
            </a:r>
            <a:r>
              <a:rPr lang="en-US" sz="2500" i="true">
                <a:solidFill>
                  <a:srgbClr val="000000"/>
                </a:solidFill>
                <a:latin typeface="Canva Sans Italics"/>
                <a:ea typeface="Canva Sans Italics"/>
                <a:cs typeface="Canva Sans Italics"/>
                <a:sym typeface="Canva Sans Italics"/>
              </a:rPr>
              <a:t> Fewer false detections</a:t>
            </a:r>
          </a:p>
          <a:p>
            <a:pPr algn="l">
              <a:lnSpc>
                <a:spcPts val="2100"/>
              </a:lnSpc>
            </a:pPr>
          </a:p>
        </p:txBody>
      </p:sp>
      <p:sp>
        <p:nvSpPr>
          <p:cNvPr name="TextBox 9" id="9"/>
          <p:cNvSpPr txBox="true"/>
          <p:nvPr/>
        </p:nvSpPr>
        <p:spPr>
          <a:xfrm rot="0">
            <a:off x="8676966" y="2166531"/>
            <a:ext cx="8237055" cy="2419006"/>
          </a:xfrm>
          <a:prstGeom prst="rect">
            <a:avLst/>
          </a:prstGeom>
        </p:spPr>
        <p:txBody>
          <a:bodyPr anchor="t" rtlCol="false" tIns="0" lIns="0" bIns="0" rIns="0">
            <a:spAutoFit/>
          </a:bodyPr>
          <a:lstStyle/>
          <a:p>
            <a:pPr algn="just">
              <a:lnSpc>
                <a:spcPts val="4759"/>
              </a:lnSpc>
            </a:pPr>
            <a:r>
              <a:rPr lang="en-US" b="true" sz="3399" i="true">
                <a:solidFill>
                  <a:srgbClr val="000000"/>
                </a:solidFill>
                <a:latin typeface="Canva Sans Bold Italics"/>
                <a:ea typeface="Canva Sans Bold Italics"/>
                <a:cs typeface="Canva Sans Bold Italics"/>
                <a:sym typeface="Canva Sans Bold Italics"/>
              </a:rPr>
              <a:t>R</a:t>
            </a:r>
            <a:r>
              <a:rPr lang="en-US" b="true" sz="3399" i="true">
                <a:solidFill>
                  <a:srgbClr val="000000"/>
                </a:solidFill>
                <a:latin typeface="Canva Sans Bold Italics"/>
                <a:ea typeface="Canva Sans Bold Italics"/>
                <a:cs typeface="Canva Sans Bold Italics"/>
                <a:sym typeface="Canva Sans Bold Italics"/>
              </a:rPr>
              <a:t>ecall</a:t>
            </a:r>
          </a:p>
          <a:p>
            <a:pPr algn="just" marL="561340" indent="-280670" lvl="1">
              <a:lnSpc>
                <a:spcPts val="3639"/>
              </a:lnSpc>
              <a:buFont typeface="Arial"/>
              <a:buChar char="•"/>
            </a:pPr>
            <a:r>
              <a:rPr lang="en-US" sz="2599" i="true">
                <a:solidFill>
                  <a:srgbClr val="000000"/>
                </a:solidFill>
                <a:latin typeface="Canva Sans Italics"/>
                <a:ea typeface="Canva Sans Italics"/>
                <a:cs typeface="Canva Sans Italics"/>
                <a:sym typeface="Canva Sans Italics"/>
              </a:rPr>
              <a:t>M</a:t>
            </a:r>
            <a:r>
              <a:rPr lang="en-US" sz="2599" i="true">
                <a:solidFill>
                  <a:srgbClr val="000000"/>
                </a:solidFill>
                <a:latin typeface="Canva Sans Italics"/>
                <a:ea typeface="Canva Sans Italics"/>
                <a:cs typeface="Canva Sans Italics"/>
                <a:sym typeface="Canva Sans Italics"/>
              </a:rPr>
              <a:t>easures</a:t>
            </a:r>
            <a:r>
              <a:rPr lang="en-US" sz="2599" i="true">
                <a:solidFill>
                  <a:srgbClr val="000000"/>
                </a:solidFill>
                <a:latin typeface="Canva Sans Italics"/>
                <a:ea typeface="Canva Sans Italics"/>
                <a:cs typeface="Canva Sans Italics"/>
                <a:sym typeface="Canva Sans Italics"/>
              </a:rPr>
              <a:t> detection completeness</a:t>
            </a:r>
          </a:p>
          <a:p>
            <a:pPr algn="just" marL="518160" indent="-259080" lvl="1">
              <a:lnSpc>
                <a:spcPts val="3360"/>
              </a:lnSpc>
              <a:buFont typeface="Arial"/>
              <a:buChar char="•"/>
            </a:pPr>
            <a:r>
              <a:rPr lang="en-US" sz="2400" i="true">
                <a:solidFill>
                  <a:srgbClr val="000000"/>
                </a:solidFill>
                <a:latin typeface="Canva Sans Italics"/>
                <a:ea typeface="Canva Sans Italics"/>
                <a:cs typeface="Canva Sans Italics"/>
                <a:sym typeface="Canva Sans Italics"/>
              </a:rPr>
              <a:t>Formula:</a:t>
            </a:r>
          </a:p>
          <a:p>
            <a:pPr algn="just" marL="518160" indent="-259080" lvl="1">
              <a:lnSpc>
                <a:spcPts val="3360"/>
              </a:lnSpc>
              <a:buFont typeface="Arial"/>
              <a:buChar char="•"/>
            </a:pPr>
            <a:r>
              <a:rPr lang="en-US" sz="2400" i="true">
                <a:solidFill>
                  <a:srgbClr val="000000"/>
                </a:solidFill>
                <a:latin typeface="Canva Sans Italics"/>
                <a:ea typeface="Canva Sans Italics"/>
                <a:cs typeface="Canva Sans Italics"/>
                <a:sym typeface="Canva Sans Italics"/>
              </a:rPr>
              <a:t>R</a:t>
            </a:r>
            <a:r>
              <a:rPr lang="en-US" sz="2400" i="true">
                <a:solidFill>
                  <a:srgbClr val="000000"/>
                </a:solidFill>
                <a:latin typeface="Canva Sans Italics"/>
                <a:ea typeface="Canva Sans Italics"/>
                <a:cs typeface="Canva Sans Italics"/>
                <a:sym typeface="Canva Sans Italics"/>
              </a:rPr>
              <a:t> = TP / (TP + FN)</a:t>
            </a:r>
          </a:p>
          <a:p>
            <a:pPr algn="just">
              <a:lnSpc>
                <a:spcPts val="3360"/>
              </a:lnSpc>
            </a:pPr>
            <a:r>
              <a:rPr lang="en-US" sz="2400" i="true">
                <a:solidFill>
                  <a:srgbClr val="000000"/>
                </a:solidFill>
                <a:latin typeface="Canva Sans Italics"/>
                <a:ea typeface="Canva Sans Italics"/>
                <a:cs typeface="Canva Sans Italics"/>
                <a:sym typeface="Canva Sans Italics"/>
              </a:rPr>
              <a:t>High</a:t>
            </a:r>
            <a:r>
              <a:rPr lang="en-US" sz="2400" i="true">
                <a:solidFill>
                  <a:srgbClr val="000000"/>
                </a:solidFill>
                <a:latin typeface="Canva Sans Italics"/>
                <a:ea typeface="Canva Sans Italics"/>
                <a:cs typeface="Canva Sans Italics"/>
                <a:sym typeface="Canva Sans Italics"/>
              </a:rPr>
              <a:t> R</a:t>
            </a:r>
            <a:r>
              <a:rPr lang="en-US" sz="2400" i="true">
                <a:solidFill>
                  <a:srgbClr val="000000"/>
                </a:solidFill>
                <a:latin typeface="Canva Sans Italics"/>
                <a:ea typeface="Canva Sans Italics"/>
                <a:cs typeface="Canva Sans Italics"/>
                <a:sym typeface="Canva Sans Italics"/>
              </a:rPr>
              <a:t>ecall</a:t>
            </a:r>
            <a:r>
              <a:rPr lang="en-US" sz="2400" i="true">
                <a:solidFill>
                  <a:srgbClr val="000000"/>
                </a:solidFill>
                <a:latin typeface="Canva Sans Italics"/>
                <a:ea typeface="Canva Sans Italics"/>
                <a:cs typeface="Canva Sans Italics"/>
                <a:sym typeface="Canva Sans Italics"/>
              </a:rPr>
              <a:t> →</a:t>
            </a:r>
            <a:r>
              <a:rPr lang="en-US" sz="2400" i="true">
                <a:solidFill>
                  <a:srgbClr val="000000"/>
                </a:solidFill>
                <a:latin typeface="Canva Sans Italics"/>
                <a:ea typeface="Canva Sans Italics"/>
                <a:cs typeface="Canva Sans Italics"/>
                <a:sym typeface="Canva Sans Italics"/>
              </a:rPr>
              <a:t> Fewer missed objects</a:t>
            </a:r>
          </a:p>
          <a:p>
            <a:pPr algn="l">
              <a:lnSpc>
                <a:spcPts val="560"/>
              </a:lnSpc>
            </a:pPr>
          </a:p>
        </p:txBody>
      </p:sp>
      <p:sp>
        <p:nvSpPr>
          <p:cNvPr name="TextBox 10" id="10"/>
          <p:cNvSpPr txBox="true"/>
          <p:nvPr/>
        </p:nvSpPr>
        <p:spPr>
          <a:xfrm rot="0">
            <a:off x="8522208" y="5052262"/>
            <a:ext cx="8237055" cy="2623820"/>
          </a:xfrm>
          <a:prstGeom prst="rect">
            <a:avLst/>
          </a:prstGeom>
        </p:spPr>
        <p:txBody>
          <a:bodyPr anchor="t" rtlCol="false" tIns="0" lIns="0" bIns="0" rIns="0">
            <a:spAutoFit/>
          </a:bodyPr>
          <a:lstStyle/>
          <a:p>
            <a:pPr algn="just">
              <a:lnSpc>
                <a:spcPts val="4759"/>
              </a:lnSpc>
            </a:pPr>
            <a:r>
              <a:rPr lang="en-US" b="true" sz="3399" i="true">
                <a:solidFill>
                  <a:srgbClr val="000000"/>
                </a:solidFill>
                <a:latin typeface="Canva Sans Bold Italics"/>
                <a:ea typeface="Canva Sans Bold Italics"/>
                <a:cs typeface="Canva Sans Bold Italics"/>
                <a:sym typeface="Canva Sans Bold Italics"/>
              </a:rPr>
              <a:t>mAP</a:t>
            </a:r>
          </a:p>
          <a:p>
            <a:pPr algn="just" marL="539751" indent="-269876" lvl="1">
              <a:lnSpc>
                <a:spcPts val="3500"/>
              </a:lnSpc>
              <a:buFont typeface="Arial"/>
              <a:buChar char="•"/>
            </a:pPr>
            <a:r>
              <a:rPr lang="en-US" sz="2500" i="true">
                <a:solidFill>
                  <a:srgbClr val="000000"/>
                </a:solidFill>
                <a:latin typeface="Canva Sans Italics"/>
                <a:ea typeface="Canva Sans Italics"/>
                <a:cs typeface="Canva Sans Italics"/>
                <a:sym typeface="Canva Sans Italics"/>
              </a:rPr>
              <a:t>M</a:t>
            </a:r>
            <a:r>
              <a:rPr lang="en-US" sz="2500" i="true">
                <a:solidFill>
                  <a:srgbClr val="000000"/>
                </a:solidFill>
                <a:latin typeface="Canva Sans Italics"/>
                <a:ea typeface="Canva Sans Italics"/>
                <a:cs typeface="Canva Sans Italics"/>
                <a:sym typeface="Canva Sans Italics"/>
              </a:rPr>
              <a:t>easures</a:t>
            </a:r>
            <a:r>
              <a:rPr lang="en-US" sz="2500" i="true">
                <a:solidFill>
                  <a:srgbClr val="000000"/>
                </a:solidFill>
                <a:latin typeface="Canva Sans Italics"/>
                <a:ea typeface="Canva Sans Italics"/>
                <a:cs typeface="Canva Sans Italics"/>
                <a:sym typeface="Canva Sans Italics"/>
              </a:rPr>
              <a:t> overall model performance</a:t>
            </a:r>
          </a:p>
          <a:p>
            <a:pPr algn="just" marL="539751" indent="-269876" lvl="1">
              <a:lnSpc>
                <a:spcPts val="3500"/>
              </a:lnSpc>
              <a:buFont typeface="Arial"/>
              <a:buChar char="•"/>
            </a:pPr>
            <a:r>
              <a:rPr lang="en-US" sz="2500" i="true">
                <a:solidFill>
                  <a:srgbClr val="000000"/>
                </a:solidFill>
                <a:latin typeface="Canva Sans Italics"/>
                <a:ea typeface="Canva Sans Italics"/>
                <a:cs typeface="Canva Sans Italics"/>
                <a:sym typeface="Canva Sans Italics"/>
              </a:rPr>
              <a:t>Combines precision across all classes</a:t>
            </a:r>
          </a:p>
          <a:p>
            <a:pPr algn="just" marL="539751" indent="-269876" lvl="1">
              <a:lnSpc>
                <a:spcPts val="3500"/>
              </a:lnSpc>
              <a:buFont typeface="Arial"/>
              <a:buChar char="•"/>
            </a:pPr>
            <a:r>
              <a:rPr lang="en-US" sz="2500" i="true">
                <a:solidFill>
                  <a:srgbClr val="000000"/>
                </a:solidFill>
                <a:latin typeface="Canva Sans Italics"/>
                <a:ea typeface="Canva Sans Italics"/>
                <a:cs typeface="Canva Sans Italics"/>
                <a:sym typeface="Canva Sans Italics"/>
              </a:rPr>
              <a:t>Common</a:t>
            </a:r>
            <a:r>
              <a:rPr lang="en-US" sz="2500" i="true">
                <a:solidFill>
                  <a:srgbClr val="000000"/>
                </a:solidFill>
                <a:latin typeface="Canva Sans Italics"/>
                <a:ea typeface="Canva Sans Italics"/>
                <a:cs typeface="Canva Sans Italics"/>
                <a:sym typeface="Canva Sans Italics"/>
              </a:rPr>
              <a:t> metric: mAP@50</a:t>
            </a:r>
          </a:p>
          <a:p>
            <a:pPr algn="just">
              <a:lnSpc>
                <a:spcPts val="3500"/>
              </a:lnSpc>
            </a:pPr>
            <a:r>
              <a:rPr lang="en-US" sz="2500" i="true">
                <a:solidFill>
                  <a:srgbClr val="000000"/>
                </a:solidFill>
                <a:latin typeface="Canva Sans Italics"/>
                <a:ea typeface="Canva Sans Italics"/>
                <a:cs typeface="Canva Sans Italics"/>
                <a:sym typeface="Canva Sans Italics"/>
              </a:rPr>
              <a:t>Higher</a:t>
            </a:r>
            <a:r>
              <a:rPr lang="en-US" sz="2500" i="true">
                <a:solidFill>
                  <a:srgbClr val="000000"/>
                </a:solidFill>
                <a:latin typeface="Canva Sans Italics"/>
                <a:ea typeface="Canva Sans Italics"/>
                <a:cs typeface="Canva Sans Italics"/>
                <a:sym typeface="Canva Sans Italics"/>
              </a:rPr>
              <a:t> mA</a:t>
            </a:r>
            <a:r>
              <a:rPr lang="en-US" sz="2500" i="true">
                <a:solidFill>
                  <a:srgbClr val="000000"/>
                </a:solidFill>
                <a:latin typeface="Canva Sans Italics"/>
                <a:ea typeface="Canva Sans Italics"/>
                <a:cs typeface="Canva Sans Italics"/>
                <a:sym typeface="Canva Sans Italics"/>
              </a:rPr>
              <a:t>P</a:t>
            </a:r>
            <a:r>
              <a:rPr lang="en-US" sz="2500" i="true">
                <a:solidFill>
                  <a:srgbClr val="000000"/>
                </a:solidFill>
                <a:latin typeface="Canva Sans Italics"/>
                <a:ea typeface="Canva Sans Italics"/>
                <a:cs typeface="Canva Sans Italics"/>
                <a:sym typeface="Canva Sans Italics"/>
              </a:rPr>
              <a:t> →</a:t>
            </a:r>
            <a:r>
              <a:rPr lang="en-US" sz="2500" i="true">
                <a:solidFill>
                  <a:srgbClr val="000000"/>
                </a:solidFill>
                <a:latin typeface="Canva Sans Italics"/>
                <a:ea typeface="Canva Sans Italics"/>
                <a:cs typeface="Canva Sans Italics"/>
                <a:sym typeface="Canva Sans Italics"/>
              </a:rPr>
              <a:t> Better detection accuracy</a:t>
            </a:r>
          </a:p>
          <a:p>
            <a:pPr algn="l">
              <a:lnSpc>
                <a:spcPts val="2100"/>
              </a:lnSpc>
            </a:pPr>
          </a:p>
        </p:txBody>
      </p:sp>
    </p:spTree>
  </p:cSld>
  <p:clrMapOvr>
    <a:masterClrMapping/>
  </p:clrMapOvr>
  <p:transition spd="slow">
    <p:wipe dir="l"/>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4F2FD"/>
        </a:solidFill>
      </p:bgPr>
    </p:bg>
    <p:spTree>
      <p:nvGrpSpPr>
        <p:cNvPr id="1" name=""/>
        <p:cNvGrpSpPr/>
        <p:nvPr/>
      </p:nvGrpSpPr>
      <p:grpSpPr>
        <a:xfrm>
          <a:off x="0" y="0"/>
          <a:ext cx="0" cy="0"/>
          <a:chOff x="0" y="0"/>
          <a:chExt cx="0" cy="0"/>
        </a:xfrm>
      </p:grpSpPr>
      <p:grpSp>
        <p:nvGrpSpPr>
          <p:cNvPr name="Group 2" id="2"/>
          <p:cNvGrpSpPr/>
          <p:nvPr/>
        </p:nvGrpSpPr>
        <p:grpSpPr>
          <a:xfrm rot="0">
            <a:off x="2088471" y="0"/>
            <a:ext cx="2119542" cy="10287000"/>
            <a:chOff x="0" y="0"/>
            <a:chExt cx="558233" cy="2709333"/>
          </a:xfrm>
        </p:grpSpPr>
        <p:sp>
          <p:nvSpPr>
            <p:cNvPr name="Freeform 3" id="3"/>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66BDEE"/>
            </a:solidFill>
          </p:spPr>
        </p:sp>
        <p:sp>
          <p:nvSpPr>
            <p:cNvPr name="TextBox 4" id="4"/>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0"/>
            <a:ext cx="2119542" cy="10287000"/>
            <a:chOff x="0" y="0"/>
            <a:chExt cx="558233" cy="2709333"/>
          </a:xfrm>
        </p:grpSpPr>
        <p:sp>
          <p:nvSpPr>
            <p:cNvPr name="Freeform 6" id="6"/>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1993E9"/>
            </a:solidFill>
          </p:spPr>
        </p:sp>
        <p:sp>
          <p:nvSpPr>
            <p:cNvPr name="TextBox 7" id="7"/>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31071" y="0"/>
            <a:ext cx="2119542" cy="10287000"/>
            <a:chOff x="0" y="0"/>
            <a:chExt cx="558233" cy="2709333"/>
          </a:xfrm>
        </p:grpSpPr>
        <p:sp>
          <p:nvSpPr>
            <p:cNvPr name="Freeform 9" id="9"/>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246FCC"/>
            </a:solidFill>
          </p:spPr>
        </p:sp>
        <p:sp>
          <p:nvSpPr>
            <p:cNvPr name="TextBox 10" id="10"/>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2412831" y="802621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1413653" y="-57369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18</a:t>
            </a:r>
          </a:p>
        </p:txBody>
      </p:sp>
      <p:sp>
        <p:nvSpPr>
          <p:cNvPr name="TextBox 14" id="14"/>
          <p:cNvSpPr txBox="true"/>
          <p:nvPr/>
        </p:nvSpPr>
        <p:spPr>
          <a:xfrm rot="0">
            <a:off x="8631869" y="5560890"/>
            <a:ext cx="8380070" cy="679450"/>
          </a:xfrm>
          <a:prstGeom prst="rect">
            <a:avLst/>
          </a:prstGeom>
        </p:spPr>
        <p:txBody>
          <a:bodyPr anchor="t" rtlCol="false" tIns="0" lIns="0" bIns="0" rIns="0">
            <a:spAutoFit/>
          </a:bodyPr>
          <a:lstStyle/>
          <a:p>
            <a:pPr algn="ctr">
              <a:lnSpc>
                <a:spcPts val="5599"/>
              </a:lnSpc>
            </a:pPr>
            <a:r>
              <a:rPr lang="en-US" sz="3999">
                <a:solidFill>
                  <a:srgbClr val="000000"/>
                </a:solidFill>
                <a:latin typeface="Alatsi"/>
                <a:ea typeface="Alatsi"/>
                <a:cs typeface="Alatsi"/>
                <a:sym typeface="Alatsi"/>
              </a:rPr>
              <a:t>-ABDUL ALIM (232-15-051)</a:t>
            </a:r>
          </a:p>
        </p:txBody>
      </p:sp>
      <p:sp>
        <p:nvSpPr>
          <p:cNvPr name="TextBox 15" id="15"/>
          <p:cNvSpPr txBox="true"/>
          <p:nvPr/>
        </p:nvSpPr>
        <p:spPr>
          <a:xfrm rot="0">
            <a:off x="3148242" y="3123929"/>
            <a:ext cx="14875738" cy="2192643"/>
          </a:xfrm>
          <a:prstGeom prst="rect">
            <a:avLst/>
          </a:prstGeom>
        </p:spPr>
        <p:txBody>
          <a:bodyPr anchor="t" rtlCol="false" tIns="0" lIns="0" bIns="0" rIns="0">
            <a:spAutoFit/>
          </a:bodyPr>
          <a:lstStyle/>
          <a:p>
            <a:pPr algn="ctr">
              <a:lnSpc>
                <a:spcPts val="8820"/>
              </a:lnSpc>
            </a:pPr>
            <a:r>
              <a:rPr lang="en-US" sz="6300" b="true">
                <a:solidFill>
                  <a:srgbClr val="000000"/>
                </a:solidFill>
                <a:latin typeface="Canva Sans Bold"/>
                <a:ea typeface="Canva Sans Bold"/>
                <a:cs typeface="Canva Sans Bold"/>
                <a:sym typeface="Canva Sans Bold"/>
              </a:rPr>
              <a:t>The</a:t>
            </a:r>
            <a:r>
              <a:rPr lang="en-US" b="true" sz="6300">
                <a:solidFill>
                  <a:srgbClr val="000000"/>
                </a:solidFill>
                <a:latin typeface="Canva Sans Bold"/>
                <a:ea typeface="Canva Sans Bold"/>
                <a:cs typeface="Canva Sans Bold"/>
                <a:sym typeface="Canva Sans Bold"/>
              </a:rPr>
              <a:t> results, performance, and application of Skip-YOLO.</a:t>
            </a:r>
          </a:p>
        </p:txBody>
      </p:sp>
    </p:spTree>
  </p:cSld>
  <p:clrMapOvr>
    <a:masterClrMapping/>
  </p:clrMapOvr>
  <p:transition spd="fast">
    <p:wipe dir="l"/>
  </p:transition>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4F2FD"/>
        </a:solidFill>
      </p:bgPr>
    </p:bg>
    <p:spTree>
      <p:nvGrpSpPr>
        <p:cNvPr id="1" name=""/>
        <p:cNvGrpSpPr/>
        <p:nvPr/>
      </p:nvGrpSpPr>
      <p:grpSpPr>
        <a:xfrm>
          <a:off x="0" y="0"/>
          <a:ext cx="0" cy="0"/>
          <a:chOff x="0" y="0"/>
          <a:chExt cx="0" cy="0"/>
        </a:xfrm>
      </p:grpSpPr>
      <p:sp>
        <p:nvSpPr>
          <p:cNvPr name="Freeform 2" id="2"/>
          <p:cNvSpPr/>
          <p:nvPr/>
        </p:nvSpPr>
        <p:spPr>
          <a:xfrm flipH="false" flipV="false" rot="0">
            <a:off x="-1145203" y="-40227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982801" y="5143500"/>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4390303" y="8608129"/>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396212" y="2994512"/>
            <a:ext cx="7891788" cy="5261192"/>
          </a:xfrm>
          <a:custGeom>
            <a:avLst/>
            <a:gdLst/>
            <a:ahLst/>
            <a:cxnLst/>
            <a:rect r="r" b="b" t="t" l="l"/>
            <a:pathLst>
              <a:path h="5261192" w="7891788">
                <a:moveTo>
                  <a:pt x="0" y="0"/>
                </a:moveTo>
                <a:lnTo>
                  <a:pt x="7891788" y="0"/>
                </a:lnTo>
                <a:lnTo>
                  <a:pt x="7891788" y="5261192"/>
                </a:lnTo>
                <a:lnTo>
                  <a:pt x="0" y="5261192"/>
                </a:lnTo>
                <a:lnTo>
                  <a:pt x="0" y="0"/>
                </a:lnTo>
                <a:close/>
              </a:path>
            </a:pathLst>
          </a:custGeom>
          <a:blipFill>
            <a:blip r:embed="rId6"/>
            <a:stretch>
              <a:fillRect l="0" t="0" r="0" b="0"/>
            </a:stretch>
          </a:blipFill>
        </p:spPr>
      </p:sp>
      <p:sp>
        <p:nvSpPr>
          <p:cNvPr name="TextBox 6" id="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19</a:t>
            </a:r>
          </a:p>
        </p:txBody>
      </p:sp>
      <p:sp>
        <p:nvSpPr>
          <p:cNvPr name="TextBox 7" id="7"/>
          <p:cNvSpPr txBox="true"/>
          <p:nvPr/>
        </p:nvSpPr>
        <p:spPr>
          <a:xfrm rot="0">
            <a:off x="2526872" y="228917"/>
            <a:ext cx="13358301" cy="1177290"/>
          </a:xfrm>
          <a:prstGeom prst="rect">
            <a:avLst/>
          </a:prstGeom>
        </p:spPr>
        <p:txBody>
          <a:bodyPr anchor="t" rtlCol="false" tIns="0" lIns="0" bIns="0" rIns="0">
            <a:spAutoFit/>
          </a:bodyPr>
          <a:lstStyle/>
          <a:p>
            <a:pPr algn="ctr">
              <a:lnSpc>
                <a:spcPts val="9659"/>
              </a:lnSpc>
              <a:spcBef>
                <a:spcPct val="0"/>
              </a:spcBef>
            </a:pPr>
            <a:r>
              <a:rPr lang="en-US" b="true" sz="6899">
                <a:solidFill>
                  <a:srgbClr val="000000"/>
                </a:solidFill>
                <a:latin typeface="Canva Sans Bold"/>
                <a:ea typeface="Canva Sans Bold"/>
                <a:cs typeface="Canva Sans Bold"/>
                <a:sym typeface="Canva Sans Bold"/>
              </a:rPr>
              <a:t>Results </a:t>
            </a:r>
          </a:p>
        </p:txBody>
      </p:sp>
      <p:grpSp>
        <p:nvGrpSpPr>
          <p:cNvPr name="Group 8" id="8"/>
          <p:cNvGrpSpPr/>
          <p:nvPr/>
        </p:nvGrpSpPr>
        <p:grpSpPr>
          <a:xfrm rot="0">
            <a:off x="2476492" y="4119641"/>
            <a:ext cx="606895" cy="303447"/>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000000"/>
            </a:solidFill>
          </p:spPr>
        </p:sp>
        <p:sp>
          <p:nvSpPr>
            <p:cNvPr name="TextBox 10" id="10"/>
            <p:cNvSpPr txBox="true"/>
            <p:nvPr/>
          </p:nvSpPr>
          <p:spPr>
            <a:xfrm>
              <a:off x="177800" y="-47625"/>
              <a:ext cx="558800" cy="454025"/>
            </a:xfrm>
            <a:prstGeom prst="rect">
              <a:avLst/>
            </a:prstGeom>
          </p:spPr>
          <p:txBody>
            <a:bodyPr anchor="ctr" rtlCol="false" tIns="50800" lIns="50800" bIns="50800" rIns="50800"/>
            <a:lstStyle/>
            <a:p>
              <a:pPr algn="ctr">
                <a:lnSpc>
                  <a:spcPts val="2800"/>
                </a:lnSpc>
              </a:pPr>
            </a:p>
          </p:txBody>
        </p:sp>
      </p:grpSp>
      <p:sp>
        <p:nvSpPr>
          <p:cNvPr name="TextBox 11" id="11"/>
          <p:cNvSpPr txBox="true"/>
          <p:nvPr/>
        </p:nvSpPr>
        <p:spPr>
          <a:xfrm rot="0">
            <a:off x="3236414" y="3792811"/>
            <a:ext cx="4811489" cy="861857"/>
          </a:xfrm>
          <a:prstGeom prst="rect">
            <a:avLst/>
          </a:prstGeom>
        </p:spPr>
        <p:txBody>
          <a:bodyPr anchor="t" rtlCol="false" tIns="0" lIns="0" bIns="0" rIns="0">
            <a:spAutoFit/>
          </a:bodyPr>
          <a:lstStyle/>
          <a:p>
            <a:pPr algn="ctr">
              <a:lnSpc>
                <a:spcPts val="7096"/>
              </a:lnSpc>
            </a:pPr>
            <a:r>
              <a:rPr lang="en-US" sz="5068">
                <a:solidFill>
                  <a:srgbClr val="000000"/>
                </a:solidFill>
                <a:latin typeface="Canva Sans"/>
                <a:ea typeface="Canva Sans"/>
                <a:cs typeface="Canva Sans"/>
                <a:sym typeface="Canva Sans"/>
              </a:rPr>
              <a:t>m</a:t>
            </a:r>
            <a:r>
              <a:rPr lang="en-US" sz="5068">
                <a:solidFill>
                  <a:srgbClr val="000000"/>
                </a:solidFill>
                <a:latin typeface="Canva Sans"/>
                <a:ea typeface="Canva Sans"/>
                <a:cs typeface="Canva Sans"/>
                <a:sym typeface="Canva Sans"/>
              </a:rPr>
              <a:t>AP = 90.38%</a:t>
            </a:r>
          </a:p>
        </p:txBody>
      </p:sp>
      <p:sp>
        <p:nvSpPr>
          <p:cNvPr name="TextBox 12" id="12"/>
          <p:cNvSpPr txBox="true"/>
          <p:nvPr/>
        </p:nvSpPr>
        <p:spPr>
          <a:xfrm rot="0">
            <a:off x="1788622" y="4914648"/>
            <a:ext cx="7707073" cy="861857"/>
          </a:xfrm>
          <a:prstGeom prst="rect">
            <a:avLst/>
          </a:prstGeom>
        </p:spPr>
        <p:txBody>
          <a:bodyPr anchor="t" rtlCol="false" tIns="0" lIns="0" bIns="0" rIns="0">
            <a:spAutoFit/>
          </a:bodyPr>
          <a:lstStyle/>
          <a:p>
            <a:pPr algn="ctr">
              <a:lnSpc>
                <a:spcPts val="7096"/>
              </a:lnSpc>
            </a:pPr>
            <a:r>
              <a:rPr lang="en-US" sz="5068">
                <a:solidFill>
                  <a:srgbClr val="000000"/>
                </a:solidFill>
                <a:latin typeface="Canva Sans"/>
                <a:ea typeface="Canva Sans"/>
                <a:cs typeface="Canva Sans"/>
                <a:sym typeface="Canva Sans"/>
              </a:rPr>
              <a:t>High</a:t>
            </a:r>
            <a:r>
              <a:rPr lang="en-US" sz="5068">
                <a:solidFill>
                  <a:srgbClr val="000000"/>
                </a:solidFill>
                <a:latin typeface="Canva Sans"/>
                <a:ea typeface="Canva Sans"/>
                <a:cs typeface="Canva Sans"/>
                <a:sym typeface="Canva Sans"/>
              </a:rPr>
              <a:t> detection accuracy</a:t>
            </a:r>
          </a:p>
        </p:txBody>
      </p:sp>
      <p:grpSp>
        <p:nvGrpSpPr>
          <p:cNvPr name="Group 13" id="13"/>
          <p:cNvGrpSpPr/>
          <p:nvPr/>
        </p:nvGrpSpPr>
        <p:grpSpPr>
          <a:xfrm rot="0">
            <a:off x="1028700" y="5241478"/>
            <a:ext cx="606895" cy="303447"/>
            <a:chOff x="0" y="0"/>
            <a:chExt cx="812800" cy="406400"/>
          </a:xfrm>
        </p:grpSpPr>
        <p:sp>
          <p:nvSpPr>
            <p:cNvPr name="Freeform 14" id="14"/>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000000"/>
            </a:solidFill>
          </p:spPr>
        </p:sp>
        <p:sp>
          <p:nvSpPr>
            <p:cNvPr name="TextBox 15" id="15"/>
            <p:cNvSpPr txBox="true"/>
            <p:nvPr/>
          </p:nvSpPr>
          <p:spPr>
            <a:xfrm>
              <a:off x="177800" y="-47625"/>
              <a:ext cx="558800" cy="454025"/>
            </a:xfrm>
            <a:prstGeom prst="rect">
              <a:avLst/>
            </a:prstGeom>
          </p:spPr>
          <p:txBody>
            <a:bodyPr anchor="ctr" rtlCol="false" tIns="50800" lIns="50800" bIns="50800" rIns="50800"/>
            <a:lstStyle/>
            <a:p>
              <a:pPr algn="ctr">
                <a:lnSpc>
                  <a:spcPts val="2800"/>
                </a:lnSpc>
              </a:pPr>
            </a:p>
          </p:txBody>
        </p:sp>
      </p:grpSp>
      <p:sp>
        <p:nvSpPr>
          <p:cNvPr name="TextBox 16" id="16"/>
          <p:cNvSpPr txBox="true"/>
          <p:nvPr/>
        </p:nvSpPr>
        <p:spPr>
          <a:xfrm rot="0">
            <a:off x="2493231" y="6036485"/>
            <a:ext cx="6408406" cy="861857"/>
          </a:xfrm>
          <a:prstGeom prst="rect">
            <a:avLst/>
          </a:prstGeom>
        </p:spPr>
        <p:txBody>
          <a:bodyPr anchor="t" rtlCol="false" tIns="0" lIns="0" bIns="0" rIns="0">
            <a:spAutoFit/>
          </a:bodyPr>
          <a:lstStyle/>
          <a:p>
            <a:pPr algn="ctr">
              <a:lnSpc>
                <a:spcPts val="7096"/>
              </a:lnSpc>
            </a:pPr>
            <a:r>
              <a:rPr lang="en-US" sz="5068">
                <a:solidFill>
                  <a:srgbClr val="000000"/>
                </a:solidFill>
                <a:latin typeface="Canva Sans"/>
                <a:ea typeface="Canva Sans"/>
                <a:cs typeface="Canva Sans"/>
                <a:sym typeface="Canva Sans"/>
              </a:rPr>
              <a:t>Better</a:t>
            </a:r>
            <a:r>
              <a:rPr lang="en-US" sz="5068">
                <a:solidFill>
                  <a:srgbClr val="000000"/>
                </a:solidFill>
                <a:latin typeface="Canva Sans"/>
                <a:ea typeface="Canva Sans"/>
                <a:cs typeface="Canva Sans"/>
                <a:sym typeface="Canva Sans"/>
              </a:rPr>
              <a:t> than YOLOv3</a:t>
            </a:r>
          </a:p>
        </p:txBody>
      </p:sp>
      <p:grpSp>
        <p:nvGrpSpPr>
          <p:cNvPr name="Group 17" id="17"/>
          <p:cNvGrpSpPr/>
          <p:nvPr/>
        </p:nvGrpSpPr>
        <p:grpSpPr>
          <a:xfrm rot="0">
            <a:off x="1622758" y="6363315"/>
            <a:ext cx="606895" cy="303447"/>
            <a:chOff x="0" y="0"/>
            <a:chExt cx="812800" cy="406400"/>
          </a:xfrm>
        </p:grpSpPr>
        <p:sp>
          <p:nvSpPr>
            <p:cNvPr name="Freeform 18" id="18"/>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000000"/>
            </a:solidFill>
          </p:spPr>
        </p:sp>
        <p:sp>
          <p:nvSpPr>
            <p:cNvPr name="TextBox 19" id="19"/>
            <p:cNvSpPr txBox="true"/>
            <p:nvPr/>
          </p:nvSpPr>
          <p:spPr>
            <a:xfrm>
              <a:off x="177800" y="-47625"/>
              <a:ext cx="558800" cy="454025"/>
            </a:xfrm>
            <a:prstGeom prst="rect">
              <a:avLst/>
            </a:prstGeom>
          </p:spPr>
          <p:txBody>
            <a:bodyPr anchor="ctr" rtlCol="false" tIns="50800" lIns="50800" bIns="50800" rIns="50800"/>
            <a:lstStyle/>
            <a:p>
              <a:pPr algn="ctr">
                <a:lnSpc>
                  <a:spcPts val="2800"/>
                </a:lnSpc>
              </a:pPr>
            </a:p>
          </p:txBody>
        </p:sp>
      </p:grpSp>
      <p:sp>
        <p:nvSpPr>
          <p:cNvPr name="TextBox 20" id="20"/>
          <p:cNvSpPr txBox="true"/>
          <p:nvPr/>
        </p:nvSpPr>
        <p:spPr>
          <a:xfrm rot="0">
            <a:off x="13099193" y="8208079"/>
            <a:ext cx="2485827" cy="349249"/>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Result of  Skip-YOLO</a:t>
            </a:r>
          </a:p>
        </p:txBody>
      </p:sp>
    </p:spTree>
  </p:cSld>
  <p:clrMapOvr>
    <a:masterClrMapping/>
  </p:clrMapOvr>
  <p:transition spd="fast">
    <p:push dir="l"/>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7F5FF"/>
        </a:solidFill>
      </p:bgPr>
    </p:bg>
    <p:spTree>
      <p:nvGrpSpPr>
        <p:cNvPr id="1" name=""/>
        <p:cNvGrpSpPr/>
        <p:nvPr/>
      </p:nvGrpSpPr>
      <p:grpSpPr>
        <a:xfrm>
          <a:off x="0" y="0"/>
          <a:ext cx="0" cy="0"/>
          <a:chOff x="0" y="0"/>
          <a:chExt cx="0" cy="0"/>
        </a:xfrm>
      </p:grpSpPr>
      <p:sp>
        <p:nvSpPr>
          <p:cNvPr name="Freeform 2" id="2"/>
          <p:cNvSpPr/>
          <p:nvPr/>
        </p:nvSpPr>
        <p:spPr>
          <a:xfrm flipH="false" flipV="false" rot="0">
            <a:off x="13872091" y="-105934"/>
            <a:ext cx="5037450" cy="1706271"/>
          </a:xfrm>
          <a:custGeom>
            <a:avLst/>
            <a:gdLst/>
            <a:ahLst/>
            <a:cxnLst/>
            <a:rect r="r" b="b" t="t" l="l"/>
            <a:pathLst>
              <a:path h="1706271" w="5037450">
                <a:moveTo>
                  <a:pt x="0" y="0"/>
                </a:moveTo>
                <a:lnTo>
                  <a:pt x="5037450" y="0"/>
                </a:lnTo>
                <a:lnTo>
                  <a:pt x="5037450" y="1706270"/>
                </a:lnTo>
                <a:lnTo>
                  <a:pt x="0" y="17062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27629" y="9016242"/>
            <a:ext cx="5037450" cy="1706271"/>
          </a:xfrm>
          <a:custGeom>
            <a:avLst/>
            <a:gdLst/>
            <a:ahLst/>
            <a:cxnLst/>
            <a:rect r="r" b="b" t="t" l="l"/>
            <a:pathLst>
              <a:path h="1706271" w="5037450">
                <a:moveTo>
                  <a:pt x="0" y="0"/>
                </a:moveTo>
                <a:lnTo>
                  <a:pt x="5037450" y="0"/>
                </a:lnTo>
                <a:lnTo>
                  <a:pt x="5037450" y="1706270"/>
                </a:lnTo>
                <a:lnTo>
                  <a:pt x="0" y="17062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188264" y="2922772"/>
            <a:ext cx="8099736" cy="5396449"/>
          </a:xfrm>
          <a:custGeom>
            <a:avLst/>
            <a:gdLst/>
            <a:ahLst/>
            <a:cxnLst/>
            <a:rect r="r" b="b" t="t" l="l"/>
            <a:pathLst>
              <a:path h="5396449" w="8099736">
                <a:moveTo>
                  <a:pt x="0" y="0"/>
                </a:moveTo>
                <a:lnTo>
                  <a:pt x="8099736" y="0"/>
                </a:lnTo>
                <a:lnTo>
                  <a:pt x="8099736" y="5396450"/>
                </a:lnTo>
                <a:lnTo>
                  <a:pt x="0" y="5396450"/>
                </a:lnTo>
                <a:lnTo>
                  <a:pt x="0" y="0"/>
                </a:lnTo>
                <a:close/>
              </a:path>
            </a:pathLst>
          </a:custGeom>
          <a:blipFill>
            <a:blip r:embed="rId4"/>
            <a:stretch>
              <a:fillRect l="0" t="0" r="0" b="0"/>
            </a:stretch>
          </a:blipFill>
        </p:spPr>
      </p:sp>
      <p:sp>
        <p:nvSpPr>
          <p:cNvPr name="TextBox 5" id="5"/>
          <p:cNvSpPr txBox="true"/>
          <p:nvPr/>
        </p:nvSpPr>
        <p:spPr>
          <a:xfrm rot="0">
            <a:off x="10188264" y="-884384"/>
            <a:ext cx="10408848" cy="976630"/>
          </a:xfrm>
          <a:prstGeom prst="rect">
            <a:avLst/>
          </a:prstGeom>
        </p:spPr>
        <p:txBody>
          <a:bodyPr anchor="t" rtlCol="false" tIns="0" lIns="0" bIns="0" rIns="0">
            <a:spAutoFit/>
          </a:bodyPr>
          <a:lstStyle/>
          <a:p>
            <a:pPr algn="ctr" marL="604519" indent="-302260" lvl="1">
              <a:lnSpc>
                <a:spcPts val="3919"/>
              </a:lnSpc>
              <a:buFont typeface="Arial"/>
              <a:buChar char="•"/>
            </a:pPr>
            <a:r>
              <a:rPr lang="en-US" b="true" sz="2799">
                <a:solidFill>
                  <a:srgbClr val="000000"/>
                </a:solidFill>
                <a:latin typeface="Canva Sans Bold"/>
                <a:ea typeface="Canva Sans Bold"/>
                <a:cs typeface="Canva Sans Bold"/>
                <a:sym typeface="Canva Sans Bold"/>
              </a:rPr>
              <a:t>Probability given evidence</a:t>
            </a:r>
          </a:p>
          <a:p>
            <a:pPr algn="ctr">
              <a:lnSpc>
                <a:spcPts val="3919"/>
              </a:lnSpc>
              <a:spcBef>
                <a:spcPct val="0"/>
              </a:spcBef>
            </a:pPr>
          </a:p>
        </p:txBody>
      </p:sp>
      <p:sp>
        <p:nvSpPr>
          <p:cNvPr name="TextBox 6" id="6"/>
          <p:cNvSpPr txBox="true"/>
          <p:nvPr/>
        </p:nvSpPr>
        <p:spPr>
          <a:xfrm rot="0">
            <a:off x="2464849" y="91881"/>
            <a:ext cx="13358301" cy="1177290"/>
          </a:xfrm>
          <a:prstGeom prst="rect">
            <a:avLst/>
          </a:prstGeom>
        </p:spPr>
        <p:txBody>
          <a:bodyPr anchor="t" rtlCol="false" tIns="0" lIns="0" bIns="0" rIns="0">
            <a:spAutoFit/>
          </a:bodyPr>
          <a:lstStyle/>
          <a:p>
            <a:pPr algn="ctr">
              <a:lnSpc>
                <a:spcPts val="9659"/>
              </a:lnSpc>
              <a:spcBef>
                <a:spcPct val="0"/>
              </a:spcBef>
            </a:pPr>
            <a:r>
              <a:rPr lang="en-US" b="true" sz="6899">
                <a:solidFill>
                  <a:srgbClr val="000000"/>
                </a:solidFill>
                <a:latin typeface="Canva Sans Bold"/>
                <a:ea typeface="Canva Sans Bold"/>
                <a:cs typeface="Canva Sans Bold"/>
                <a:sym typeface="Canva Sans Bold"/>
              </a:rPr>
              <a:t>Model Comparison</a:t>
            </a:r>
          </a:p>
        </p:txBody>
      </p:sp>
      <p:sp>
        <p:nvSpPr>
          <p:cNvPr name="TextBox 7" id="7"/>
          <p:cNvSpPr txBox="true"/>
          <p:nvPr/>
        </p:nvSpPr>
        <p:spPr>
          <a:xfrm rot="0">
            <a:off x="2378937" y="3242433"/>
            <a:ext cx="5333097" cy="794855"/>
          </a:xfrm>
          <a:prstGeom prst="rect">
            <a:avLst/>
          </a:prstGeom>
        </p:spPr>
        <p:txBody>
          <a:bodyPr anchor="t" rtlCol="false" tIns="0" lIns="0" bIns="0" rIns="0">
            <a:spAutoFit/>
          </a:bodyPr>
          <a:lstStyle/>
          <a:p>
            <a:pPr algn="l" marL="1016136" indent="-508068" lvl="1">
              <a:lnSpc>
                <a:spcPts val="6589"/>
              </a:lnSpc>
              <a:buFont typeface="Arial"/>
              <a:buChar char="•"/>
            </a:pPr>
            <a:r>
              <a:rPr lang="en-US" sz="4706">
                <a:solidFill>
                  <a:srgbClr val="000000"/>
                </a:solidFill>
                <a:latin typeface="Canva Sans"/>
                <a:ea typeface="Canva Sans"/>
                <a:cs typeface="Canva Sans"/>
                <a:sym typeface="Canva Sans"/>
              </a:rPr>
              <a:t>YOLOv3:</a:t>
            </a:r>
            <a:r>
              <a:rPr lang="en-US" sz="4706">
                <a:solidFill>
                  <a:srgbClr val="000000"/>
                </a:solidFill>
                <a:latin typeface="Canva Sans"/>
                <a:ea typeface="Canva Sans"/>
                <a:cs typeface="Canva Sans"/>
                <a:sym typeface="Canva Sans"/>
              </a:rPr>
              <a:t> 73%</a:t>
            </a:r>
          </a:p>
        </p:txBody>
      </p:sp>
      <p:sp>
        <p:nvSpPr>
          <p:cNvPr name="TextBox 8" id="8"/>
          <p:cNvSpPr txBox="true"/>
          <p:nvPr/>
        </p:nvSpPr>
        <p:spPr>
          <a:xfrm rot="0">
            <a:off x="2506494" y="4216285"/>
            <a:ext cx="5333097" cy="794855"/>
          </a:xfrm>
          <a:prstGeom prst="rect">
            <a:avLst/>
          </a:prstGeom>
        </p:spPr>
        <p:txBody>
          <a:bodyPr anchor="t" rtlCol="false" tIns="0" lIns="0" bIns="0" rIns="0">
            <a:spAutoFit/>
          </a:bodyPr>
          <a:lstStyle/>
          <a:p>
            <a:pPr algn="l" marL="1016136" indent="-508068" lvl="1">
              <a:lnSpc>
                <a:spcPts val="6589"/>
              </a:lnSpc>
              <a:buFont typeface="Arial"/>
              <a:buChar char="•"/>
            </a:pPr>
            <a:r>
              <a:rPr lang="en-US" sz="4706">
                <a:solidFill>
                  <a:srgbClr val="000000"/>
                </a:solidFill>
                <a:latin typeface="Canva Sans"/>
                <a:ea typeface="Canva Sans"/>
                <a:cs typeface="Canva Sans"/>
                <a:sym typeface="Canva Sans"/>
              </a:rPr>
              <a:t>YOLOv7:</a:t>
            </a:r>
            <a:r>
              <a:rPr lang="en-US" sz="4706">
                <a:solidFill>
                  <a:srgbClr val="000000"/>
                </a:solidFill>
                <a:latin typeface="Canva Sans"/>
                <a:ea typeface="Canva Sans"/>
                <a:cs typeface="Canva Sans"/>
                <a:sym typeface="Canva Sans"/>
              </a:rPr>
              <a:t> 80%</a:t>
            </a:r>
          </a:p>
        </p:txBody>
      </p:sp>
      <p:sp>
        <p:nvSpPr>
          <p:cNvPr name="TextBox 9" id="9"/>
          <p:cNvSpPr txBox="true"/>
          <p:nvPr/>
        </p:nvSpPr>
        <p:spPr>
          <a:xfrm rot="0">
            <a:off x="1580537" y="5190136"/>
            <a:ext cx="6929897" cy="794855"/>
          </a:xfrm>
          <a:prstGeom prst="rect">
            <a:avLst/>
          </a:prstGeom>
        </p:spPr>
        <p:txBody>
          <a:bodyPr anchor="t" rtlCol="false" tIns="0" lIns="0" bIns="0" rIns="0">
            <a:spAutoFit/>
          </a:bodyPr>
          <a:lstStyle/>
          <a:p>
            <a:pPr algn="l" marL="1016136" indent="-508068" lvl="1">
              <a:lnSpc>
                <a:spcPts val="6589"/>
              </a:lnSpc>
              <a:buFont typeface="Arial"/>
              <a:buChar char="•"/>
            </a:pPr>
            <a:r>
              <a:rPr lang="en-US" sz="4706">
                <a:solidFill>
                  <a:srgbClr val="000000"/>
                </a:solidFill>
                <a:latin typeface="Canva Sans"/>
                <a:ea typeface="Canva Sans"/>
                <a:cs typeface="Canva Sans"/>
                <a:sym typeface="Canva Sans"/>
              </a:rPr>
              <a:t>Faster R-CNN:</a:t>
            </a:r>
            <a:r>
              <a:rPr lang="en-US" sz="4706">
                <a:solidFill>
                  <a:srgbClr val="000000"/>
                </a:solidFill>
                <a:latin typeface="Canva Sans"/>
                <a:ea typeface="Canva Sans"/>
                <a:cs typeface="Canva Sans"/>
                <a:sym typeface="Canva Sans"/>
              </a:rPr>
              <a:t> 86%</a:t>
            </a:r>
          </a:p>
        </p:txBody>
      </p:sp>
      <p:sp>
        <p:nvSpPr>
          <p:cNvPr name="TextBox 10" id="10"/>
          <p:cNvSpPr txBox="true"/>
          <p:nvPr/>
        </p:nvSpPr>
        <p:spPr>
          <a:xfrm rot="0">
            <a:off x="2190945" y="6163987"/>
            <a:ext cx="5964195" cy="794855"/>
          </a:xfrm>
          <a:prstGeom prst="rect">
            <a:avLst/>
          </a:prstGeom>
        </p:spPr>
        <p:txBody>
          <a:bodyPr anchor="t" rtlCol="false" tIns="0" lIns="0" bIns="0" rIns="0">
            <a:spAutoFit/>
          </a:bodyPr>
          <a:lstStyle/>
          <a:p>
            <a:pPr algn="l" marL="1016136" indent="-508068" lvl="1">
              <a:lnSpc>
                <a:spcPts val="6589"/>
              </a:lnSpc>
              <a:buFont typeface="Arial"/>
              <a:buChar char="•"/>
            </a:pPr>
            <a:r>
              <a:rPr lang="en-US" sz="4706">
                <a:solidFill>
                  <a:srgbClr val="000000"/>
                </a:solidFill>
                <a:latin typeface="Canva Sans"/>
                <a:ea typeface="Canva Sans"/>
                <a:cs typeface="Canva Sans"/>
                <a:sym typeface="Canva Sans"/>
              </a:rPr>
              <a:t>Skip-YOLO:</a:t>
            </a:r>
            <a:r>
              <a:rPr lang="en-US" sz="4706">
                <a:solidFill>
                  <a:srgbClr val="000000"/>
                </a:solidFill>
                <a:latin typeface="Canva Sans"/>
                <a:ea typeface="Canva Sans"/>
                <a:cs typeface="Canva Sans"/>
                <a:sym typeface="Canva Sans"/>
              </a:rPr>
              <a:t> 90%</a:t>
            </a:r>
          </a:p>
        </p:txBody>
      </p:sp>
      <p:sp>
        <p:nvSpPr>
          <p:cNvPr name="TextBox 11" id="11"/>
          <p:cNvSpPr txBox="true"/>
          <p:nvPr/>
        </p:nvSpPr>
        <p:spPr>
          <a:xfrm rot="0">
            <a:off x="12486326" y="8271597"/>
            <a:ext cx="3503613" cy="349249"/>
          </a:xfrm>
          <a:prstGeom prst="rect">
            <a:avLst/>
          </a:prstGeom>
        </p:spPr>
        <p:txBody>
          <a:bodyPr anchor="t" rtlCol="false" tIns="0" lIns="0" bIns="0" rIns="0">
            <a:spAutoFit/>
          </a:bodyPr>
          <a:lstStyle/>
          <a:p>
            <a:pPr algn="ctr">
              <a:lnSpc>
                <a:spcPts val="2800"/>
              </a:lnSpc>
            </a:pPr>
            <a:r>
              <a:rPr lang="en-US" sz="2000">
                <a:solidFill>
                  <a:srgbClr val="000000"/>
                </a:solidFill>
                <a:latin typeface="Canva Sans"/>
                <a:ea typeface="Canva Sans"/>
                <a:cs typeface="Canva Sans"/>
                <a:sym typeface="Canva Sans"/>
              </a:rPr>
              <a:t>coparison with other models</a:t>
            </a:r>
          </a:p>
        </p:txBody>
      </p:sp>
    </p:spTree>
  </p:cSld>
  <p:clrMapOvr>
    <a:masterClrMapping/>
  </p:clrMapOvr>
  <p:transition spd="fast">
    <p:push dir="l"/>
  </p:transition>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7F5FF"/>
        </a:solidFill>
      </p:bgPr>
    </p:bg>
    <p:spTree>
      <p:nvGrpSpPr>
        <p:cNvPr id="1" name=""/>
        <p:cNvGrpSpPr/>
        <p:nvPr/>
      </p:nvGrpSpPr>
      <p:grpSpPr>
        <a:xfrm>
          <a:off x="0" y="0"/>
          <a:ext cx="0" cy="0"/>
          <a:chOff x="0" y="0"/>
          <a:chExt cx="0" cy="0"/>
        </a:xfrm>
      </p:grpSpPr>
      <p:sp>
        <p:nvSpPr>
          <p:cNvPr name="Freeform 2" id="2"/>
          <p:cNvSpPr/>
          <p:nvPr/>
        </p:nvSpPr>
        <p:spPr>
          <a:xfrm flipH="false" flipV="false" rot="-7022774">
            <a:off x="14113776" y="11011235"/>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082278" y="163035"/>
            <a:ext cx="5014135" cy="1698373"/>
          </a:xfrm>
          <a:custGeom>
            <a:avLst/>
            <a:gdLst/>
            <a:ahLst/>
            <a:cxnLst/>
            <a:rect r="r" b="b" t="t" l="l"/>
            <a:pathLst>
              <a:path h="1698373" w="5014135">
                <a:moveTo>
                  <a:pt x="0" y="0"/>
                </a:moveTo>
                <a:lnTo>
                  <a:pt x="5014135" y="0"/>
                </a:lnTo>
                <a:lnTo>
                  <a:pt x="5014135" y="1698373"/>
                </a:lnTo>
                <a:lnTo>
                  <a:pt x="0" y="16983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flipV="true">
            <a:off x="513601" y="1587230"/>
            <a:ext cx="12096337" cy="0"/>
          </a:xfrm>
          <a:prstGeom prst="line">
            <a:avLst/>
          </a:prstGeom>
          <a:ln cap="flat" w="38100">
            <a:solidFill>
              <a:srgbClr val="000000"/>
            </a:solidFill>
            <a:prstDash val="solid"/>
            <a:headEnd type="none" len="sm" w="sm"/>
            <a:tailEnd type="none" len="sm" w="sm"/>
          </a:ln>
        </p:spPr>
      </p:sp>
      <p:sp>
        <p:nvSpPr>
          <p:cNvPr name="Freeform 5" id="5"/>
          <p:cNvSpPr/>
          <p:nvPr/>
        </p:nvSpPr>
        <p:spPr>
          <a:xfrm flipH="false" flipV="false" rot="0">
            <a:off x="10306441" y="3111473"/>
            <a:ext cx="7981559" cy="5317714"/>
          </a:xfrm>
          <a:custGeom>
            <a:avLst/>
            <a:gdLst/>
            <a:ahLst/>
            <a:cxnLst/>
            <a:rect r="r" b="b" t="t" l="l"/>
            <a:pathLst>
              <a:path h="5317714" w="7981559">
                <a:moveTo>
                  <a:pt x="0" y="0"/>
                </a:moveTo>
                <a:lnTo>
                  <a:pt x="7981559" y="0"/>
                </a:lnTo>
                <a:lnTo>
                  <a:pt x="7981559" y="5317714"/>
                </a:lnTo>
                <a:lnTo>
                  <a:pt x="0" y="5317714"/>
                </a:lnTo>
                <a:lnTo>
                  <a:pt x="0" y="0"/>
                </a:lnTo>
                <a:close/>
              </a:path>
            </a:pathLst>
          </a:custGeom>
          <a:blipFill>
            <a:blip r:embed="rId4"/>
            <a:stretch>
              <a:fillRect l="0" t="0" r="0" b="0"/>
            </a:stretch>
          </a:blipFill>
        </p:spPr>
      </p:sp>
      <p:sp>
        <p:nvSpPr>
          <p:cNvPr name="TextBox 6" id="6"/>
          <p:cNvSpPr txBox="true"/>
          <p:nvPr/>
        </p:nvSpPr>
        <p:spPr>
          <a:xfrm rot="0">
            <a:off x="434269" y="635031"/>
            <a:ext cx="12264100" cy="868680"/>
          </a:xfrm>
          <a:prstGeom prst="rect">
            <a:avLst/>
          </a:prstGeom>
        </p:spPr>
        <p:txBody>
          <a:bodyPr anchor="t" rtlCol="false" tIns="0" lIns="0" bIns="0" rIns="0">
            <a:spAutoFit/>
          </a:bodyPr>
          <a:lstStyle/>
          <a:p>
            <a:pPr algn="ctr">
              <a:lnSpc>
                <a:spcPts val="6435"/>
              </a:lnSpc>
            </a:pPr>
            <a:r>
              <a:rPr lang="en-US" sz="6500">
                <a:solidFill>
                  <a:srgbClr val="000000"/>
                </a:solidFill>
                <a:latin typeface="Chewy"/>
                <a:ea typeface="Chewy"/>
                <a:cs typeface="Chewy"/>
                <a:sym typeface="Chewy"/>
              </a:rPr>
              <a:t>Why Skip-YOLO Works Better</a:t>
            </a:r>
          </a:p>
        </p:txBody>
      </p:sp>
      <p:sp>
        <p:nvSpPr>
          <p:cNvPr name="TextBox 7" id="7"/>
          <p:cNvSpPr txBox="true"/>
          <p:nvPr/>
        </p:nvSpPr>
        <p:spPr>
          <a:xfrm rot="0">
            <a:off x="513601" y="1964755"/>
            <a:ext cx="7088666" cy="688974"/>
          </a:xfrm>
          <a:prstGeom prst="rect">
            <a:avLst/>
          </a:prstGeom>
        </p:spPr>
        <p:txBody>
          <a:bodyPr anchor="t" rtlCol="false" tIns="0" lIns="0" bIns="0" rIns="0">
            <a:spAutoFit/>
          </a:bodyPr>
          <a:lstStyle/>
          <a:p>
            <a:pPr algn="l" marL="863606" indent="-431803" lvl="1">
              <a:lnSpc>
                <a:spcPts val="5600"/>
              </a:lnSpc>
              <a:buFont typeface="Arial"/>
              <a:buChar char="•"/>
            </a:pPr>
            <a:r>
              <a:rPr lang="en-US" b="true" sz="4000">
                <a:solidFill>
                  <a:srgbClr val="000000"/>
                </a:solidFill>
                <a:latin typeface="Canva Sans Bold"/>
                <a:ea typeface="Canva Sans Bold"/>
                <a:cs typeface="Canva Sans Bold"/>
                <a:sym typeface="Canva Sans Bold"/>
              </a:rPr>
              <a:t>Dense</a:t>
            </a:r>
            <a:r>
              <a:rPr lang="en-US" b="true" sz="4000">
                <a:solidFill>
                  <a:srgbClr val="000000"/>
                </a:solidFill>
                <a:latin typeface="Canva Sans Bold"/>
                <a:ea typeface="Canva Sans Bold"/>
                <a:cs typeface="Canva Sans Bold"/>
                <a:sym typeface="Canva Sans Bold"/>
              </a:rPr>
              <a:t> connections</a:t>
            </a:r>
          </a:p>
        </p:txBody>
      </p:sp>
      <p:sp>
        <p:nvSpPr>
          <p:cNvPr name="TextBox 8" id="8"/>
          <p:cNvSpPr txBox="true"/>
          <p:nvPr/>
        </p:nvSpPr>
        <p:spPr>
          <a:xfrm rot="0">
            <a:off x="513601" y="4455778"/>
            <a:ext cx="7088666" cy="688974"/>
          </a:xfrm>
          <a:prstGeom prst="rect">
            <a:avLst/>
          </a:prstGeom>
        </p:spPr>
        <p:txBody>
          <a:bodyPr anchor="t" rtlCol="false" tIns="0" lIns="0" bIns="0" rIns="0">
            <a:spAutoFit/>
          </a:bodyPr>
          <a:lstStyle/>
          <a:p>
            <a:pPr algn="l" marL="863606" indent="-431803" lvl="1">
              <a:lnSpc>
                <a:spcPts val="5600"/>
              </a:lnSpc>
              <a:buFont typeface="Arial"/>
              <a:buChar char="•"/>
            </a:pPr>
            <a:r>
              <a:rPr lang="en-US" sz="4000">
                <a:solidFill>
                  <a:srgbClr val="000000"/>
                </a:solidFill>
                <a:latin typeface="Canva Sans"/>
                <a:ea typeface="Canva Sans"/>
                <a:cs typeface="Canva Sans"/>
                <a:sym typeface="Canva Sans"/>
              </a:rPr>
              <a:t>Skip</a:t>
            </a:r>
            <a:r>
              <a:rPr lang="en-US" sz="4000">
                <a:solidFill>
                  <a:srgbClr val="000000"/>
                </a:solidFill>
                <a:latin typeface="Canva Sans"/>
                <a:ea typeface="Canva Sans"/>
                <a:cs typeface="Canva Sans"/>
                <a:sym typeface="Canva Sans"/>
              </a:rPr>
              <a:t> connections</a:t>
            </a:r>
          </a:p>
        </p:txBody>
      </p:sp>
      <p:sp>
        <p:nvSpPr>
          <p:cNvPr name="TextBox 9" id="9"/>
          <p:cNvSpPr txBox="true"/>
          <p:nvPr/>
        </p:nvSpPr>
        <p:spPr>
          <a:xfrm rot="0">
            <a:off x="414987" y="7070517"/>
            <a:ext cx="7177293" cy="688974"/>
          </a:xfrm>
          <a:prstGeom prst="rect">
            <a:avLst/>
          </a:prstGeom>
        </p:spPr>
        <p:txBody>
          <a:bodyPr anchor="t" rtlCol="false" tIns="0" lIns="0" bIns="0" rIns="0">
            <a:spAutoFit/>
          </a:bodyPr>
          <a:lstStyle/>
          <a:p>
            <a:pPr algn="l" marL="863606" indent="-431803" lvl="1">
              <a:lnSpc>
                <a:spcPts val="5600"/>
              </a:lnSpc>
              <a:buFont typeface="Arial"/>
              <a:buChar char="•"/>
            </a:pPr>
            <a:r>
              <a:rPr lang="en-US" sz="4000">
                <a:solidFill>
                  <a:srgbClr val="000000"/>
                </a:solidFill>
                <a:latin typeface="Canva Sans"/>
                <a:ea typeface="Canva Sans"/>
                <a:cs typeface="Canva Sans"/>
                <a:sym typeface="Canva Sans"/>
              </a:rPr>
              <a:t>Multi-scale</a:t>
            </a:r>
            <a:r>
              <a:rPr lang="en-US" sz="4000">
                <a:solidFill>
                  <a:srgbClr val="000000"/>
                </a:solidFill>
                <a:latin typeface="Canva Sans"/>
                <a:ea typeface="Canva Sans"/>
                <a:cs typeface="Canva Sans"/>
                <a:sym typeface="Canva Sans"/>
              </a:rPr>
              <a:t> fusion</a:t>
            </a:r>
          </a:p>
        </p:txBody>
      </p:sp>
      <p:sp>
        <p:nvSpPr>
          <p:cNvPr name="TextBox 10" id="10"/>
          <p:cNvSpPr txBox="true"/>
          <p:nvPr/>
        </p:nvSpPr>
        <p:spPr>
          <a:xfrm rot="0">
            <a:off x="1968391" y="2663254"/>
            <a:ext cx="8338050" cy="1526539"/>
          </a:xfrm>
          <a:prstGeom prst="rect">
            <a:avLst/>
          </a:prstGeom>
        </p:spPr>
        <p:txBody>
          <a:bodyPr anchor="t" rtlCol="false" tIns="0" lIns="0" bIns="0" rIns="0">
            <a:spAutoFit/>
          </a:bodyPr>
          <a:lstStyle/>
          <a:p>
            <a:pPr algn="l">
              <a:lnSpc>
                <a:spcPts val="4060"/>
              </a:lnSpc>
            </a:pPr>
            <a:r>
              <a:rPr lang="en-US" sz="2900">
                <a:solidFill>
                  <a:srgbClr val="000000"/>
                </a:solidFill>
                <a:latin typeface="Canva Sans"/>
                <a:ea typeface="Canva Sans"/>
                <a:cs typeface="Canva Sans"/>
                <a:sym typeface="Canva Sans"/>
              </a:rPr>
              <a:t>Dense</a:t>
            </a:r>
            <a:r>
              <a:rPr lang="en-US" sz="2900">
                <a:solidFill>
                  <a:srgbClr val="000000"/>
                </a:solidFill>
                <a:latin typeface="Canva Sans"/>
                <a:ea typeface="Canva Sans"/>
                <a:cs typeface="Canva Sans"/>
                <a:sym typeface="Canva Sans"/>
              </a:rPr>
              <a:t> connections mean every layer shares information with previous layers, so the model learns more useful features.</a:t>
            </a:r>
          </a:p>
        </p:txBody>
      </p:sp>
      <p:sp>
        <p:nvSpPr>
          <p:cNvPr name="TextBox 11" id="11"/>
          <p:cNvSpPr txBox="true"/>
          <p:nvPr/>
        </p:nvSpPr>
        <p:spPr>
          <a:xfrm rot="0">
            <a:off x="1968391" y="5277993"/>
            <a:ext cx="8338050" cy="1526539"/>
          </a:xfrm>
          <a:prstGeom prst="rect">
            <a:avLst/>
          </a:prstGeom>
        </p:spPr>
        <p:txBody>
          <a:bodyPr anchor="t" rtlCol="false" tIns="0" lIns="0" bIns="0" rIns="0">
            <a:spAutoFit/>
          </a:bodyPr>
          <a:lstStyle/>
          <a:p>
            <a:pPr algn="l">
              <a:lnSpc>
                <a:spcPts val="4060"/>
              </a:lnSpc>
            </a:pPr>
            <a:r>
              <a:rPr lang="en-US" sz="2900">
                <a:solidFill>
                  <a:srgbClr val="000000"/>
                </a:solidFill>
                <a:latin typeface="Canva Sans"/>
                <a:ea typeface="Canva Sans"/>
                <a:cs typeface="Canva Sans"/>
                <a:sym typeface="Canva Sans"/>
              </a:rPr>
              <a:t>Skip</a:t>
            </a:r>
            <a:r>
              <a:rPr lang="en-US" sz="2900">
                <a:solidFill>
                  <a:srgbClr val="000000"/>
                </a:solidFill>
                <a:latin typeface="Canva Sans"/>
                <a:ea typeface="Canva Sans"/>
                <a:cs typeface="Canva Sans"/>
                <a:sym typeface="Canva Sans"/>
              </a:rPr>
              <a:t> connections help important information pass directly to deeper layers, which reduces information loss.</a:t>
            </a:r>
          </a:p>
        </p:txBody>
      </p:sp>
      <p:sp>
        <p:nvSpPr>
          <p:cNvPr name="TextBox 12" id="12"/>
          <p:cNvSpPr txBox="true"/>
          <p:nvPr/>
        </p:nvSpPr>
        <p:spPr>
          <a:xfrm rot="0">
            <a:off x="1676008" y="7959516"/>
            <a:ext cx="8630432" cy="1526539"/>
          </a:xfrm>
          <a:prstGeom prst="rect">
            <a:avLst/>
          </a:prstGeom>
        </p:spPr>
        <p:txBody>
          <a:bodyPr anchor="t" rtlCol="false" tIns="0" lIns="0" bIns="0" rIns="0">
            <a:spAutoFit/>
          </a:bodyPr>
          <a:lstStyle/>
          <a:p>
            <a:pPr algn="l">
              <a:lnSpc>
                <a:spcPts val="4060"/>
              </a:lnSpc>
            </a:pPr>
            <a:r>
              <a:rPr lang="en-US" sz="2900">
                <a:solidFill>
                  <a:srgbClr val="000000"/>
                </a:solidFill>
                <a:latin typeface="Canva Sans"/>
                <a:ea typeface="Canva Sans"/>
                <a:cs typeface="Canva Sans"/>
                <a:sym typeface="Canva Sans"/>
              </a:rPr>
              <a:t>Multi-s</a:t>
            </a:r>
            <a:r>
              <a:rPr lang="en-US" sz="2900">
                <a:solidFill>
                  <a:srgbClr val="000000"/>
                </a:solidFill>
                <a:latin typeface="Canva Sans"/>
                <a:ea typeface="Canva Sans"/>
                <a:cs typeface="Canva Sans"/>
                <a:sym typeface="Canva Sans"/>
              </a:rPr>
              <a:t>cale fusion allows the model to detect both small and large objects in the same image, which improves real-world performance.</a:t>
            </a:r>
          </a:p>
        </p:txBody>
      </p:sp>
    </p:spTree>
  </p:cSld>
  <p:clrMapOvr>
    <a:masterClrMapping/>
  </p:clrMapOvr>
  <p:transition spd="fast">
    <p:wipe dir="l"/>
  </p:transition>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7F5FF"/>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2297763" y="9048108"/>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082278" y="163035"/>
            <a:ext cx="5014135" cy="1698373"/>
          </a:xfrm>
          <a:custGeom>
            <a:avLst/>
            <a:gdLst/>
            <a:ahLst/>
            <a:cxnLst/>
            <a:rect r="r" b="b" t="t" l="l"/>
            <a:pathLst>
              <a:path h="1698373" w="5014135">
                <a:moveTo>
                  <a:pt x="0" y="0"/>
                </a:moveTo>
                <a:lnTo>
                  <a:pt x="5014135" y="0"/>
                </a:lnTo>
                <a:lnTo>
                  <a:pt x="5014135" y="1698373"/>
                </a:lnTo>
                <a:lnTo>
                  <a:pt x="0" y="16983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flipV="true">
            <a:off x="513601" y="1587230"/>
            <a:ext cx="12096337" cy="0"/>
          </a:xfrm>
          <a:prstGeom prst="line">
            <a:avLst/>
          </a:prstGeom>
          <a:ln cap="flat" w="38100">
            <a:solidFill>
              <a:srgbClr val="000000"/>
            </a:solidFill>
            <a:prstDash val="solid"/>
            <a:headEnd type="none" len="sm" w="sm"/>
            <a:tailEnd type="none" len="sm" w="sm"/>
          </a:ln>
        </p:spPr>
      </p:sp>
      <p:grpSp>
        <p:nvGrpSpPr>
          <p:cNvPr name="Group 5" id="5"/>
          <p:cNvGrpSpPr/>
          <p:nvPr/>
        </p:nvGrpSpPr>
        <p:grpSpPr>
          <a:xfrm rot="0">
            <a:off x="2900859" y="3247699"/>
            <a:ext cx="601966" cy="60196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000000"/>
            </a:solidFill>
          </p:spPr>
        </p:sp>
        <p:sp>
          <p:nvSpPr>
            <p:cNvPr name="TextBox 7" id="7"/>
            <p:cNvSpPr txBox="true"/>
            <p:nvPr/>
          </p:nvSpPr>
          <p:spPr>
            <a:xfrm>
              <a:off x="203200" y="-47625"/>
              <a:ext cx="406400" cy="75882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9311980" y="3247685"/>
            <a:ext cx="601966" cy="601966"/>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000000"/>
            </a:solidFill>
          </p:spPr>
        </p:sp>
        <p:sp>
          <p:nvSpPr>
            <p:cNvPr name="TextBox 10" id="10"/>
            <p:cNvSpPr txBox="true"/>
            <p:nvPr/>
          </p:nvSpPr>
          <p:spPr>
            <a:xfrm>
              <a:off x="203200" y="-47625"/>
              <a:ext cx="406400" cy="758825"/>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4804989" y="3247699"/>
            <a:ext cx="601966" cy="60196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812800"/>
                  </a:moveTo>
                  <a:lnTo>
                    <a:pt x="0" y="406400"/>
                  </a:lnTo>
                  <a:lnTo>
                    <a:pt x="203200" y="406400"/>
                  </a:lnTo>
                  <a:lnTo>
                    <a:pt x="203200" y="0"/>
                  </a:lnTo>
                  <a:lnTo>
                    <a:pt x="609600" y="0"/>
                  </a:lnTo>
                  <a:lnTo>
                    <a:pt x="609600" y="406400"/>
                  </a:lnTo>
                  <a:lnTo>
                    <a:pt x="812800" y="406400"/>
                  </a:lnTo>
                  <a:lnTo>
                    <a:pt x="406400" y="812800"/>
                  </a:lnTo>
                  <a:close/>
                </a:path>
              </a:pathLst>
            </a:custGeom>
            <a:solidFill>
              <a:srgbClr val="000000"/>
            </a:solidFill>
          </p:spPr>
        </p:sp>
        <p:sp>
          <p:nvSpPr>
            <p:cNvPr name="TextBox 13" id="13"/>
            <p:cNvSpPr txBox="true"/>
            <p:nvPr/>
          </p:nvSpPr>
          <p:spPr>
            <a:xfrm>
              <a:off x="203200" y="-47625"/>
              <a:ext cx="406400" cy="758825"/>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493707" y="5115986"/>
            <a:ext cx="3743291" cy="2283914"/>
            <a:chOff x="0" y="0"/>
            <a:chExt cx="985887" cy="601525"/>
          </a:xfrm>
        </p:grpSpPr>
        <p:sp>
          <p:nvSpPr>
            <p:cNvPr name="Freeform 15" id="15"/>
            <p:cNvSpPr/>
            <p:nvPr/>
          </p:nvSpPr>
          <p:spPr>
            <a:xfrm flipH="false" flipV="false" rot="0">
              <a:off x="0" y="0"/>
              <a:ext cx="985887" cy="601525"/>
            </a:xfrm>
            <a:custGeom>
              <a:avLst/>
              <a:gdLst/>
              <a:ahLst/>
              <a:cxnLst/>
              <a:rect r="r" b="b" t="t" l="l"/>
              <a:pathLst>
                <a:path h="601525" w="985887">
                  <a:moveTo>
                    <a:pt x="76524" y="0"/>
                  </a:moveTo>
                  <a:lnTo>
                    <a:pt x="909364" y="0"/>
                  </a:lnTo>
                  <a:cubicBezTo>
                    <a:pt x="951627" y="0"/>
                    <a:pt x="985887" y="34261"/>
                    <a:pt x="985887" y="76524"/>
                  </a:cubicBezTo>
                  <a:lnTo>
                    <a:pt x="985887" y="525001"/>
                  </a:lnTo>
                  <a:cubicBezTo>
                    <a:pt x="985887" y="567264"/>
                    <a:pt x="951627" y="601525"/>
                    <a:pt x="909364" y="601525"/>
                  </a:cubicBezTo>
                  <a:lnTo>
                    <a:pt x="76524" y="601525"/>
                  </a:lnTo>
                  <a:cubicBezTo>
                    <a:pt x="34261" y="601525"/>
                    <a:pt x="0" y="567264"/>
                    <a:pt x="0" y="525001"/>
                  </a:cubicBezTo>
                  <a:lnTo>
                    <a:pt x="0" y="76524"/>
                  </a:lnTo>
                  <a:cubicBezTo>
                    <a:pt x="0" y="34261"/>
                    <a:pt x="34261" y="0"/>
                    <a:pt x="76524" y="0"/>
                  </a:cubicBezTo>
                  <a:close/>
                </a:path>
              </a:pathLst>
            </a:custGeom>
            <a:solidFill>
              <a:srgbClr val="66BDEE"/>
            </a:solidFill>
          </p:spPr>
        </p:sp>
        <p:sp>
          <p:nvSpPr>
            <p:cNvPr name="TextBox 16" id="16"/>
            <p:cNvSpPr txBox="true"/>
            <p:nvPr/>
          </p:nvSpPr>
          <p:spPr>
            <a:xfrm>
              <a:off x="0" y="-47625"/>
              <a:ext cx="985887" cy="649150"/>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434269" y="635031"/>
            <a:ext cx="12264100" cy="868680"/>
          </a:xfrm>
          <a:prstGeom prst="rect">
            <a:avLst/>
          </a:prstGeom>
        </p:spPr>
        <p:txBody>
          <a:bodyPr anchor="t" rtlCol="false" tIns="0" lIns="0" bIns="0" rIns="0">
            <a:spAutoFit/>
          </a:bodyPr>
          <a:lstStyle/>
          <a:p>
            <a:pPr algn="ctr">
              <a:lnSpc>
                <a:spcPts val="6435"/>
              </a:lnSpc>
            </a:pPr>
            <a:r>
              <a:rPr lang="en-US" sz="6500">
                <a:solidFill>
                  <a:srgbClr val="000000"/>
                </a:solidFill>
                <a:latin typeface="Chewy"/>
                <a:ea typeface="Chewy"/>
                <a:cs typeface="Chewy"/>
                <a:sym typeface="Chewy"/>
              </a:rPr>
              <a:t>Why Skip-YOLO Works Better</a:t>
            </a:r>
          </a:p>
        </p:txBody>
      </p:sp>
      <p:sp>
        <p:nvSpPr>
          <p:cNvPr name="TextBox 18" id="18"/>
          <p:cNvSpPr txBox="true"/>
          <p:nvPr/>
        </p:nvSpPr>
        <p:spPr>
          <a:xfrm rot="0">
            <a:off x="1028700" y="3963965"/>
            <a:ext cx="4346285" cy="1085346"/>
          </a:xfrm>
          <a:prstGeom prst="rect">
            <a:avLst/>
          </a:prstGeom>
        </p:spPr>
        <p:txBody>
          <a:bodyPr anchor="t" rtlCol="false" tIns="0" lIns="0" bIns="0" rIns="0">
            <a:spAutoFit/>
          </a:bodyPr>
          <a:lstStyle/>
          <a:p>
            <a:pPr algn="ctr">
              <a:lnSpc>
                <a:spcPts val="4242"/>
              </a:lnSpc>
            </a:pPr>
            <a:r>
              <a:rPr lang="en-US" b="true" sz="3754" spc="18">
                <a:solidFill>
                  <a:srgbClr val="000000"/>
                </a:solidFill>
                <a:latin typeface="Canva Sans Bold"/>
                <a:ea typeface="Canva Sans Bold"/>
                <a:cs typeface="Canva Sans Bold"/>
                <a:sym typeface="Canva Sans Bold"/>
              </a:rPr>
              <a:t>Better feature learning</a:t>
            </a:r>
          </a:p>
        </p:txBody>
      </p:sp>
      <p:sp>
        <p:nvSpPr>
          <p:cNvPr name="TextBox 19" id="19"/>
          <p:cNvSpPr txBox="true"/>
          <p:nvPr/>
        </p:nvSpPr>
        <p:spPr>
          <a:xfrm rot="0">
            <a:off x="1810058" y="5124450"/>
            <a:ext cx="3426940" cy="2040890"/>
          </a:xfrm>
          <a:prstGeom prst="rect">
            <a:avLst/>
          </a:prstGeom>
        </p:spPr>
        <p:txBody>
          <a:bodyPr anchor="t" rtlCol="false" tIns="0" lIns="0" bIns="0" rIns="0">
            <a:spAutoFit/>
          </a:bodyPr>
          <a:lstStyle/>
          <a:p>
            <a:pPr algn="l">
              <a:lnSpc>
                <a:spcPts val="4060"/>
              </a:lnSpc>
            </a:pPr>
            <a:r>
              <a:rPr lang="en-US" sz="2900">
                <a:solidFill>
                  <a:srgbClr val="000000"/>
                </a:solidFill>
                <a:latin typeface="Canva Sans"/>
                <a:ea typeface="Canva Sans"/>
                <a:cs typeface="Canva Sans"/>
                <a:sym typeface="Canva Sans"/>
              </a:rPr>
              <a:t>The</a:t>
            </a:r>
            <a:r>
              <a:rPr lang="en-US" sz="2900">
                <a:solidFill>
                  <a:srgbClr val="000000"/>
                </a:solidFill>
                <a:latin typeface="Canva Sans"/>
                <a:ea typeface="Canva Sans"/>
                <a:cs typeface="Canva Sans"/>
                <a:sym typeface="Canva Sans"/>
              </a:rPr>
              <a:t> model learns image features more clearly and effectively.</a:t>
            </a:r>
          </a:p>
        </p:txBody>
      </p:sp>
      <p:grpSp>
        <p:nvGrpSpPr>
          <p:cNvPr name="Group 20" id="20"/>
          <p:cNvGrpSpPr/>
          <p:nvPr/>
        </p:nvGrpSpPr>
        <p:grpSpPr>
          <a:xfrm rot="0">
            <a:off x="7816130" y="5087411"/>
            <a:ext cx="3743291" cy="2283914"/>
            <a:chOff x="0" y="0"/>
            <a:chExt cx="985887" cy="601525"/>
          </a:xfrm>
        </p:grpSpPr>
        <p:sp>
          <p:nvSpPr>
            <p:cNvPr name="Freeform 21" id="21"/>
            <p:cNvSpPr/>
            <p:nvPr/>
          </p:nvSpPr>
          <p:spPr>
            <a:xfrm flipH="false" flipV="false" rot="0">
              <a:off x="0" y="0"/>
              <a:ext cx="985887" cy="601525"/>
            </a:xfrm>
            <a:custGeom>
              <a:avLst/>
              <a:gdLst/>
              <a:ahLst/>
              <a:cxnLst/>
              <a:rect r="r" b="b" t="t" l="l"/>
              <a:pathLst>
                <a:path h="601525" w="985887">
                  <a:moveTo>
                    <a:pt x="76524" y="0"/>
                  </a:moveTo>
                  <a:lnTo>
                    <a:pt x="909364" y="0"/>
                  </a:lnTo>
                  <a:cubicBezTo>
                    <a:pt x="951627" y="0"/>
                    <a:pt x="985887" y="34261"/>
                    <a:pt x="985887" y="76524"/>
                  </a:cubicBezTo>
                  <a:lnTo>
                    <a:pt x="985887" y="525001"/>
                  </a:lnTo>
                  <a:cubicBezTo>
                    <a:pt x="985887" y="567264"/>
                    <a:pt x="951627" y="601525"/>
                    <a:pt x="909364" y="601525"/>
                  </a:cubicBezTo>
                  <a:lnTo>
                    <a:pt x="76524" y="601525"/>
                  </a:lnTo>
                  <a:cubicBezTo>
                    <a:pt x="34261" y="601525"/>
                    <a:pt x="0" y="567264"/>
                    <a:pt x="0" y="525001"/>
                  </a:cubicBezTo>
                  <a:lnTo>
                    <a:pt x="0" y="76524"/>
                  </a:lnTo>
                  <a:cubicBezTo>
                    <a:pt x="0" y="34261"/>
                    <a:pt x="34261" y="0"/>
                    <a:pt x="76524" y="0"/>
                  </a:cubicBezTo>
                  <a:close/>
                </a:path>
              </a:pathLst>
            </a:custGeom>
            <a:solidFill>
              <a:srgbClr val="66BDEE"/>
            </a:solidFill>
          </p:spPr>
        </p:sp>
        <p:sp>
          <p:nvSpPr>
            <p:cNvPr name="TextBox 22" id="22"/>
            <p:cNvSpPr txBox="true"/>
            <p:nvPr/>
          </p:nvSpPr>
          <p:spPr>
            <a:xfrm>
              <a:off x="0" y="-47625"/>
              <a:ext cx="985887" cy="649150"/>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8089878" y="5086335"/>
            <a:ext cx="3420927" cy="2040904"/>
          </a:xfrm>
          <a:prstGeom prst="rect">
            <a:avLst/>
          </a:prstGeom>
        </p:spPr>
        <p:txBody>
          <a:bodyPr anchor="t" rtlCol="false" tIns="0" lIns="0" bIns="0" rIns="0">
            <a:spAutoFit/>
          </a:bodyPr>
          <a:lstStyle/>
          <a:p>
            <a:pPr algn="l">
              <a:lnSpc>
                <a:spcPts val="4059"/>
              </a:lnSpc>
            </a:pPr>
            <a:r>
              <a:rPr lang="en-US" sz="2899">
                <a:solidFill>
                  <a:srgbClr val="000000"/>
                </a:solidFill>
                <a:latin typeface="Canva Sans"/>
                <a:ea typeface="Canva Sans"/>
                <a:cs typeface="Canva Sans"/>
                <a:sym typeface="Canva Sans"/>
              </a:rPr>
              <a:t>I</a:t>
            </a:r>
            <a:r>
              <a:rPr lang="en-US" sz="2899">
                <a:solidFill>
                  <a:srgbClr val="000000"/>
                </a:solidFill>
                <a:latin typeface="Canva Sans"/>
                <a:ea typeface="Canva Sans"/>
                <a:cs typeface="Canva Sans"/>
                <a:sym typeface="Canva Sans"/>
              </a:rPr>
              <a:t>mportant information is not lost while passing through layers.</a:t>
            </a:r>
          </a:p>
        </p:txBody>
      </p:sp>
      <p:grpSp>
        <p:nvGrpSpPr>
          <p:cNvPr name="Group 24" id="24"/>
          <p:cNvGrpSpPr/>
          <p:nvPr/>
        </p:nvGrpSpPr>
        <p:grpSpPr>
          <a:xfrm rot="0">
            <a:off x="13369500" y="5058836"/>
            <a:ext cx="4074909" cy="2331539"/>
            <a:chOff x="0" y="0"/>
            <a:chExt cx="1073227" cy="614068"/>
          </a:xfrm>
        </p:grpSpPr>
        <p:sp>
          <p:nvSpPr>
            <p:cNvPr name="Freeform 25" id="25"/>
            <p:cNvSpPr/>
            <p:nvPr/>
          </p:nvSpPr>
          <p:spPr>
            <a:xfrm flipH="false" flipV="false" rot="0">
              <a:off x="0" y="0"/>
              <a:ext cx="1073227" cy="614068"/>
            </a:xfrm>
            <a:custGeom>
              <a:avLst/>
              <a:gdLst/>
              <a:ahLst/>
              <a:cxnLst/>
              <a:rect r="r" b="b" t="t" l="l"/>
              <a:pathLst>
                <a:path h="614068" w="1073227">
                  <a:moveTo>
                    <a:pt x="70296" y="0"/>
                  </a:moveTo>
                  <a:lnTo>
                    <a:pt x="1002931" y="0"/>
                  </a:lnTo>
                  <a:cubicBezTo>
                    <a:pt x="1021574" y="0"/>
                    <a:pt x="1039454" y="7406"/>
                    <a:pt x="1052638" y="20589"/>
                  </a:cubicBezTo>
                  <a:cubicBezTo>
                    <a:pt x="1065821" y="33772"/>
                    <a:pt x="1073227" y="51653"/>
                    <a:pt x="1073227" y="70296"/>
                  </a:cubicBezTo>
                  <a:lnTo>
                    <a:pt x="1073227" y="543772"/>
                  </a:lnTo>
                  <a:cubicBezTo>
                    <a:pt x="1073227" y="562415"/>
                    <a:pt x="1065821" y="580295"/>
                    <a:pt x="1052638" y="593479"/>
                  </a:cubicBezTo>
                  <a:cubicBezTo>
                    <a:pt x="1039454" y="606662"/>
                    <a:pt x="1021574" y="614068"/>
                    <a:pt x="1002931" y="614068"/>
                  </a:cubicBezTo>
                  <a:lnTo>
                    <a:pt x="70296" y="614068"/>
                  </a:lnTo>
                  <a:cubicBezTo>
                    <a:pt x="51653" y="614068"/>
                    <a:pt x="33772" y="606662"/>
                    <a:pt x="20589" y="593479"/>
                  </a:cubicBezTo>
                  <a:cubicBezTo>
                    <a:pt x="7406" y="580295"/>
                    <a:pt x="0" y="562415"/>
                    <a:pt x="0" y="543772"/>
                  </a:cubicBezTo>
                  <a:lnTo>
                    <a:pt x="0" y="70296"/>
                  </a:lnTo>
                  <a:cubicBezTo>
                    <a:pt x="0" y="51653"/>
                    <a:pt x="7406" y="33772"/>
                    <a:pt x="20589" y="20589"/>
                  </a:cubicBezTo>
                  <a:cubicBezTo>
                    <a:pt x="33772" y="7406"/>
                    <a:pt x="51653" y="0"/>
                    <a:pt x="70296" y="0"/>
                  </a:cubicBezTo>
                  <a:close/>
                </a:path>
              </a:pathLst>
            </a:custGeom>
            <a:solidFill>
              <a:srgbClr val="66BDEE"/>
            </a:solidFill>
          </p:spPr>
        </p:sp>
        <p:sp>
          <p:nvSpPr>
            <p:cNvPr name="TextBox 26" id="26"/>
            <p:cNvSpPr txBox="true"/>
            <p:nvPr/>
          </p:nvSpPr>
          <p:spPr>
            <a:xfrm>
              <a:off x="0" y="-47625"/>
              <a:ext cx="1073227" cy="661693"/>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13554609" y="5362578"/>
            <a:ext cx="3704691" cy="1497944"/>
          </a:xfrm>
          <a:prstGeom prst="rect">
            <a:avLst/>
          </a:prstGeom>
        </p:spPr>
        <p:txBody>
          <a:bodyPr anchor="t" rtlCol="false" tIns="0" lIns="0" bIns="0" rIns="0">
            <a:spAutoFit/>
          </a:bodyPr>
          <a:lstStyle/>
          <a:p>
            <a:pPr algn="l">
              <a:lnSpc>
                <a:spcPts val="4090"/>
              </a:lnSpc>
            </a:pPr>
            <a:r>
              <a:rPr lang="en-US" sz="2921">
                <a:solidFill>
                  <a:srgbClr val="000000"/>
                </a:solidFill>
                <a:latin typeface="Canva Sans"/>
                <a:ea typeface="Canva Sans"/>
                <a:cs typeface="Canva Sans"/>
                <a:sym typeface="Canva Sans"/>
              </a:rPr>
              <a:t>It works well </a:t>
            </a:r>
            <a:r>
              <a:rPr lang="en-US" sz="2921">
                <a:solidFill>
                  <a:srgbClr val="000000"/>
                </a:solidFill>
                <a:latin typeface="Canva Sans"/>
                <a:ea typeface="Canva Sans"/>
                <a:cs typeface="Canva Sans"/>
                <a:sym typeface="Canva Sans"/>
              </a:rPr>
              <a:t>even in messy and complex backgrounds.</a:t>
            </a:r>
          </a:p>
        </p:txBody>
      </p:sp>
      <p:sp>
        <p:nvSpPr>
          <p:cNvPr name="TextBox 28" id="28"/>
          <p:cNvSpPr txBox="true"/>
          <p:nvPr/>
        </p:nvSpPr>
        <p:spPr>
          <a:xfrm rot="0">
            <a:off x="7222661" y="3963951"/>
            <a:ext cx="4346285" cy="1085346"/>
          </a:xfrm>
          <a:prstGeom prst="rect">
            <a:avLst/>
          </a:prstGeom>
        </p:spPr>
        <p:txBody>
          <a:bodyPr anchor="t" rtlCol="false" tIns="0" lIns="0" bIns="0" rIns="0">
            <a:spAutoFit/>
          </a:bodyPr>
          <a:lstStyle/>
          <a:p>
            <a:pPr algn="ctr">
              <a:lnSpc>
                <a:spcPts val="4242"/>
              </a:lnSpc>
            </a:pPr>
            <a:r>
              <a:rPr lang="en-US" b="true" sz="3754" spc="18">
                <a:solidFill>
                  <a:srgbClr val="000000"/>
                </a:solidFill>
                <a:latin typeface="Canva Sans Bold"/>
                <a:ea typeface="Canva Sans Bold"/>
                <a:cs typeface="Canva Sans Bold"/>
                <a:sym typeface="Canva Sans Bold"/>
              </a:rPr>
              <a:t>L</a:t>
            </a:r>
            <a:r>
              <a:rPr lang="en-US" b="true" sz="3754" spc="18">
                <a:solidFill>
                  <a:srgbClr val="000000"/>
                </a:solidFill>
                <a:latin typeface="Canva Sans Bold"/>
                <a:ea typeface="Canva Sans Bold"/>
                <a:cs typeface="Canva Sans Bold"/>
                <a:sym typeface="Canva Sans Bold"/>
              </a:rPr>
              <a:t>ess information loss</a:t>
            </a:r>
          </a:p>
        </p:txBody>
      </p:sp>
      <p:sp>
        <p:nvSpPr>
          <p:cNvPr name="TextBox 29" id="29"/>
          <p:cNvSpPr txBox="true"/>
          <p:nvPr/>
        </p:nvSpPr>
        <p:spPr>
          <a:xfrm rot="0">
            <a:off x="12913015" y="3963965"/>
            <a:ext cx="4346285" cy="1085346"/>
          </a:xfrm>
          <a:prstGeom prst="rect">
            <a:avLst/>
          </a:prstGeom>
        </p:spPr>
        <p:txBody>
          <a:bodyPr anchor="t" rtlCol="false" tIns="0" lIns="0" bIns="0" rIns="0">
            <a:spAutoFit/>
          </a:bodyPr>
          <a:lstStyle/>
          <a:p>
            <a:pPr algn="ctr">
              <a:lnSpc>
                <a:spcPts val="4242"/>
              </a:lnSpc>
            </a:pPr>
            <a:r>
              <a:rPr lang="en-US" b="true" sz="3754" spc="18">
                <a:solidFill>
                  <a:srgbClr val="000000"/>
                </a:solidFill>
                <a:latin typeface="Canva Sans Bold"/>
                <a:ea typeface="Canva Sans Bold"/>
                <a:cs typeface="Canva Sans Bold"/>
                <a:sym typeface="Canva Sans Bold"/>
              </a:rPr>
              <a:t>Handl</a:t>
            </a:r>
            <a:r>
              <a:rPr lang="en-US" b="true" sz="3754" spc="18">
                <a:solidFill>
                  <a:srgbClr val="000000"/>
                </a:solidFill>
                <a:latin typeface="Canva Sans Bold"/>
                <a:ea typeface="Canva Sans Bold"/>
                <a:cs typeface="Canva Sans Bold"/>
                <a:sym typeface="Canva Sans Bold"/>
              </a:rPr>
              <a:t>es complex scenes</a:t>
            </a:r>
          </a:p>
        </p:txBody>
      </p:sp>
    </p:spTree>
  </p:cSld>
  <p:clrMapOvr>
    <a:masterClrMapping/>
  </p:clrMapOvr>
  <p:transition spd="fast">
    <p:cover dir="l"/>
  </p:transition>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E7F5FF"/>
        </a:solidFill>
      </p:bgPr>
    </p:bg>
    <p:spTree>
      <p:nvGrpSpPr>
        <p:cNvPr id="1" name=""/>
        <p:cNvGrpSpPr/>
        <p:nvPr/>
      </p:nvGrpSpPr>
      <p:grpSpPr>
        <a:xfrm>
          <a:off x="0" y="0"/>
          <a:ext cx="0" cy="0"/>
          <a:chOff x="0" y="0"/>
          <a:chExt cx="0" cy="0"/>
        </a:xfrm>
      </p:grpSpPr>
      <p:sp>
        <p:nvSpPr>
          <p:cNvPr name="Freeform 2" id="2"/>
          <p:cNvSpPr/>
          <p:nvPr/>
        </p:nvSpPr>
        <p:spPr>
          <a:xfrm flipH="false" flipV="false" rot="0">
            <a:off x="-3223331" y="8734786"/>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082278" y="163035"/>
            <a:ext cx="5014135" cy="1698373"/>
          </a:xfrm>
          <a:custGeom>
            <a:avLst/>
            <a:gdLst/>
            <a:ahLst/>
            <a:cxnLst/>
            <a:rect r="r" b="b" t="t" l="l"/>
            <a:pathLst>
              <a:path h="1698373" w="5014135">
                <a:moveTo>
                  <a:pt x="0" y="0"/>
                </a:moveTo>
                <a:lnTo>
                  <a:pt x="5014135" y="0"/>
                </a:lnTo>
                <a:lnTo>
                  <a:pt x="5014135" y="1698373"/>
                </a:lnTo>
                <a:lnTo>
                  <a:pt x="0" y="16983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flipV="true">
            <a:off x="513601" y="1587230"/>
            <a:ext cx="12096337" cy="0"/>
          </a:xfrm>
          <a:prstGeom prst="line">
            <a:avLst/>
          </a:prstGeom>
          <a:ln cap="flat" w="38100">
            <a:solidFill>
              <a:srgbClr val="000000"/>
            </a:solidFill>
            <a:prstDash val="solid"/>
            <a:headEnd type="none" len="sm" w="sm"/>
            <a:tailEnd type="none" len="sm" w="sm"/>
          </a:ln>
        </p:spPr>
      </p:sp>
      <p:sp>
        <p:nvSpPr>
          <p:cNvPr name="Freeform 5" id="5"/>
          <p:cNvSpPr/>
          <p:nvPr/>
        </p:nvSpPr>
        <p:spPr>
          <a:xfrm flipH="false" flipV="false" rot="0">
            <a:off x="0" y="2230798"/>
            <a:ext cx="8743570" cy="5825403"/>
          </a:xfrm>
          <a:custGeom>
            <a:avLst/>
            <a:gdLst/>
            <a:ahLst/>
            <a:cxnLst/>
            <a:rect r="r" b="b" t="t" l="l"/>
            <a:pathLst>
              <a:path h="5825403" w="8743570">
                <a:moveTo>
                  <a:pt x="0" y="0"/>
                </a:moveTo>
                <a:lnTo>
                  <a:pt x="8743570" y="0"/>
                </a:lnTo>
                <a:lnTo>
                  <a:pt x="8743570" y="5825404"/>
                </a:lnTo>
                <a:lnTo>
                  <a:pt x="0" y="5825404"/>
                </a:lnTo>
                <a:lnTo>
                  <a:pt x="0" y="0"/>
                </a:lnTo>
                <a:close/>
              </a:path>
            </a:pathLst>
          </a:custGeom>
          <a:blipFill>
            <a:blip r:embed="rId4"/>
            <a:stretch>
              <a:fillRect l="0" t="-31" r="0" b="-31"/>
            </a:stretch>
          </a:blipFill>
        </p:spPr>
      </p:sp>
      <p:sp>
        <p:nvSpPr>
          <p:cNvPr name="TextBox 6" id="6"/>
          <p:cNvSpPr txBox="true"/>
          <p:nvPr/>
        </p:nvSpPr>
        <p:spPr>
          <a:xfrm rot="0">
            <a:off x="434269" y="635031"/>
            <a:ext cx="12264100" cy="868680"/>
          </a:xfrm>
          <a:prstGeom prst="rect">
            <a:avLst/>
          </a:prstGeom>
        </p:spPr>
        <p:txBody>
          <a:bodyPr anchor="t" rtlCol="false" tIns="0" lIns="0" bIns="0" rIns="0">
            <a:spAutoFit/>
          </a:bodyPr>
          <a:lstStyle/>
          <a:p>
            <a:pPr algn="ctr">
              <a:lnSpc>
                <a:spcPts val="6435"/>
              </a:lnSpc>
            </a:pPr>
            <a:r>
              <a:rPr lang="en-US" sz="6500">
                <a:solidFill>
                  <a:srgbClr val="000000"/>
                </a:solidFill>
                <a:latin typeface="Chewy"/>
                <a:ea typeface="Chewy"/>
                <a:cs typeface="Chewy"/>
                <a:sym typeface="Chewy"/>
              </a:rPr>
              <a:t>Real-Life Application</a:t>
            </a:r>
          </a:p>
        </p:txBody>
      </p:sp>
      <p:sp>
        <p:nvSpPr>
          <p:cNvPr name="TextBox 7" id="7"/>
          <p:cNvSpPr txBox="true"/>
          <p:nvPr/>
        </p:nvSpPr>
        <p:spPr>
          <a:xfrm rot="0">
            <a:off x="9458746" y="3794762"/>
            <a:ext cx="8309174" cy="2912390"/>
          </a:xfrm>
          <a:prstGeom prst="rect">
            <a:avLst/>
          </a:prstGeom>
        </p:spPr>
        <p:txBody>
          <a:bodyPr anchor="t" rtlCol="false" tIns="0" lIns="0" bIns="0" rIns="0">
            <a:spAutoFit/>
          </a:bodyPr>
          <a:lstStyle/>
          <a:p>
            <a:pPr algn="l" marL="927638" indent="-463819" lvl="1">
              <a:lnSpc>
                <a:spcPts val="7948"/>
              </a:lnSpc>
              <a:buFont typeface="Arial"/>
              <a:buChar char="•"/>
            </a:pPr>
            <a:r>
              <a:rPr lang="en-US" sz="4296">
                <a:solidFill>
                  <a:srgbClr val="000000"/>
                </a:solidFill>
                <a:latin typeface="Canva Sans"/>
                <a:ea typeface="Canva Sans"/>
                <a:cs typeface="Canva Sans"/>
                <a:sym typeface="Canva Sans"/>
              </a:rPr>
              <a:t>Waste sorting system</a:t>
            </a:r>
          </a:p>
          <a:p>
            <a:pPr algn="l" marL="927638" indent="-463819" lvl="1">
              <a:lnSpc>
                <a:spcPts val="7948"/>
              </a:lnSpc>
              <a:buFont typeface="Arial"/>
              <a:buChar char="•"/>
            </a:pPr>
            <a:r>
              <a:rPr lang="en-US" sz="4296">
                <a:solidFill>
                  <a:srgbClr val="000000"/>
                </a:solidFill>
                <a:latin typeface="Canva Sans"/>
                <a:ea typeface="Canva Sans"/>
                <a:cs typeface="Canva Sans"/>
                <a:sym typeface="Canva Sans"/>
              </a:rPr>
              <a:t>Conveyor belt detection</a:t>
            </a:r>
          </a:p>
          <a:p>
            <a:pPr algn="l" marL="927638" indent="-463819" lvl="1">
              <a:lnSpc>
                <a:spcPts val="7948"/>
              </a:lnSpc>
              <a:buFont typeface="Arial"/>
              <a:buChar char="•"/>
            </a:pPr>
            <a:r>
              <a:rPr lang="en-US" sz="4296">
                <a:solidFill>
                  <a:srgbClr val="000000"/>
                </a:solidFill>
                <a:latin typeface="Canva Sans"/>
                <a:ea typeface="Canva Sans"/>
                <a:cs typeface="Canva Sans"/>
                <a:sym typeface="Canva Sans"/>
              </a:rPr>
              <a:t>Smart garbage management</a:t>
            </a:r>
          </a:p>
        </p:txBody>
      </p:sp>
    </p:spTree>
  </p:cSld>
  <p:clrMapOvr>
    <a:masterClrMapping/>
  </p:clrMapOvr>
  <p:transition spd="fast">
    <p:wipe dir="l"/>
  </p:transition>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E4F2FD"/>
        </a:solidFill>
      </p:bgPr>
    </p:bg>
    <p:spTree>
      <p:nvGrpSpPr>
        <p:cNvPr id="1" name=""/>
        <p:cNvGrpSpPr/>
        <p:nvPr/>
      </p:nvGrpSpPr>
      <p:grpSpPr>
        <a:xfrm>
          <a:off x="0" y="0"/>
          <a:ext cx="0" cy="0"/>
          <a:chOff x="0" y="0"/>
          <a:chExt cx="0" cy="0"/>
        </a:xfrm>
      </p:grpSpPr>
      <p:grpSp>
        <p:nvGrpSpPr>
          <p:cNvPr name="Group 2" id="2"/>
          <p:cNvGrpSpPr/>
          <p:nvPr/>
        </p:nvGrpSpPr>
        <p:grpSpPr>
          <a:xfrm rot="0">
            <a:off x="2088471" y="0"/>
            <a:ext cx="2119542" cy="10287000"/>
            <a:chOff x="0" y="0"/>
            <a:chExt cx="558233" cy="2709333"/>
          </a:xfrm>
        </p:grpSpPr>
        <p:sp>
          <p:nvSpPr>
            <p:cNvPr name="Freeform 3" id="3"/>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66BDEE"/>
            </a:solidFill>
          </p:spPr>
        </p:sp>
        <p:sp>
          <p:nvSpPr>
            <p:cNvPr name="TextBox 4" id="4"/>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0"/>
            <a:ext cx="2119542" cy="10287000"/>
            <a:chOff x="0" y="0"/>
            <a:chExt cx="558233" cy="2709333"/>
          </a:xfrm>
        </p:grpSpPr>
        <p:sp>
          <p:nvSpPr>
            <p:cNvPr name="Freeform 6" id="6"/>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1993E9"/>
            </a:solidFill>
          </p:spPr>
        </p:sp>
        <p:sp>
          <p:nvSpPr>
            <p:cNvPr name="TextBox 7" id="7"/>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31071" y="0"/>
            <a:ext cx="2119542" cy="10287000"/>
            <a:chOff x="0" y="0"/>
            <a:chExt cx="558233" cy="2709333"/>
          </a:xfrm>
        </p:grpSpPr>
        <p:sp>
          <p:nvSpPr>
            <p:cNvPr name="Freeform 9" id="9"/>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246FCC"/>
            </a:solidFill>
          </p:spPr>
        </p:sp>
        <p:sp>
          <p:nvSpPr>
            <p:cNvPr name="TextBox 10" id="10"/>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2412831" y="802621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1413653" y="-57369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4428730" y="3927232"/>
            <a:ext cx="12112646" cy="1866287"/>
          </a:xfrm>
          <a:prstGeom prst="rect">
            <a:avLst/>
          </a:prstGeom>
        </p:spPr>
        <p:txBody>
          <a:bodyPr anchor="t" rtlCol="false" tIns="0" lIns="0" bIns="0" rIns="0">
            <a:spAutoFit/>
          </a:bodyPr>
          <a:lstStyle/>
          <a:p>
            <a:pPr algn="ctr">
              <a:lnSpc>
                <a:spcPts val="15258"/>
              </a:lnSpc>
            </a:pPr>
            <a:r>
              <a:rPr lang="en-US" sz="10899">
                <a:solidFill>
                  <a:srgbClr val="000000"/>
                </a:solidFill>
                <a:latin typeface="Alatsi"/>
                <a:ea typeface="Alatsi"/>
                <a:cs typeface="Alatsi"/>
                <a:sym typeface="Alatsi"/>
              </a:rPr>
              <a:t>QUESTION?</a:t>
            </a:r>
          </a:p>
        </p:txBody>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24</a:t>
            </a:r>
          </a:p>
        </p:txBody>
      </p:sp>
    </p:spTree>
  </p:cSld>
  <p:clrMapOvr>
    <a:masterClrMapping/>
  </p:clrMapOvr>
  <p:transition spd="fast">
    <p:cover dir="l"/>
  </p:transition>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E7F5FF"/>
        </a:solidFill>
      </p:bgPr>
    </p:bg>
    <p:spTree>
      <p:nvGrpSpPr>
        <p:cNvPr id="1" name=""/>
        <p:cNvGrpSpPr/>
        <p:nvPr/>
      </p:nvGrpSpPr>
      <p:grpSpPr>
        <a:xfrm>
          <a:off x="0" y="0"/>
          <a:ext cx="0" cy="0"/>
          <a:chOff x="0" y="0"/>
          <a:chExt cx="0" cy="0"/>
        </a:xfrm>
      </p:grpSpPr>
      <p:grpSp>
        <p:nvGrpSpPr>
          <p:cNvPr name="Group 2" id="2"/>
          <p:cNvGrpSpPr/>
          <p:nvPr/>
        </p:nvGrpSpPr>
        <p:grpSpPr>
          <a:xfrm rot="0">
            <a:off x="2088471" y="0"/>
            <a:ext cx="2119542" cy="10287000"/>
            <a:chOff x="0" y="0"/>
            <a:chExt cx="558233" cy="2709333"/>
          </a:xfrm>
        </p:grpSpPr>
        <p:sp>
          <p:nvSpPr>
            <p:cNvPr name="Freeform 3" id="3"/>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66BDEE"/>
            </a:solidFill>
          </p:spPr>
        </p:sp>
        <p:sp>
          <p:nvSpPr>
            <p:cNvPr name="TextBox 4" id="4"/>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28700" y="0"/>
            <a:ext cx="2119542" cy="10287000"/>
            <a:chOff x="0" y="0"/>
            <a:chExt cx="558233" cy="2709333"/>
          </a:xfrm>
        </p:grpSpPr>
        <p:sp>
          <p:nvSpPr>
            <p:cNvPr name="Freeform 6" id="6"/>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1993E9"/>
            </a:solidFill>
          </p:spPr>
        </p:sp>
        <p:sp>
          <p:nvSpPr>
            <p:cNvPr name="TextBox 7" id="7"/>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31071" y="0"/>
            <a:ext cx="2119542" cy="10287000"/>
            <a:chOff x="0" y="0"/>
            <a:chExt cx="558233" cy="2709333"/>
          </a:xfrm>
        </p:grpSpPr>
        <p:sp>
          <p:nvSpPr>
            <p:cNvPr name="Freeform 9" id="9"/>
            <p:cNvSpPr/>
            <p:nvPr/>
          </p:nvSpPr>
          <p:spPr>
            <a:xfrm flipH="false" flipV="false" rot="0">
              <a:off x="0" y="0"/>
              <a:ext cx="558233" cy="2709333"/>
            </a:xfrm>
            <a:custGeom>
              <a:avLst/>
              <a:gdLst/>
              <a:ahLst/>
              <a:cxnLst/>
              <a:rect r="r" b="b" t="t" l="l"/>
              <a:pathLst>
                <a:path h="2709333" w="558233">
                  <a:moveTo>
                    <a:pt x="0" y="0"/>
                  </a:moveTo>
                  <a:lnTo>
                    <a:pt x="558233" y="0"/>
                  </a:lnTo>
                  <a:lnTo>
                    <a:pt x="558233" y="2709333"/>
                  </a:lnTo>
                  <a:lnTo>
                    <a:pt x="0" y="2709333"/>
                  </a:lnTo>
                  <a:close/>
                </a:path>
              </a:pathLst>
            </a:custGeom>
            <a:solidFill>
              <a:srgbClr val="246FCC"/>
            </a:solidFill>
          </p:spPr>
        </p:sp>
        <p:sp>
          <p:nvSpPr>
            <p:cNvPr name="TextBox 10" id="10"/>
            <p:cNvSpPr txBox="true"/>
            <p:nvPr/>
          </p:nvSpPr>
          <p:spPr>
            <a:xfrm>
              <a:off x="0" y="-47625"/>
              <a:ext cx="558233" cy="2756958"/>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2412831" y="8026211"/>
            <a:ext cx="7315200" cy="2477783"/>
          </a:xfrm>
          <a:custGeom>
            <a:avLst/>
            <a:gdLst/>
            <a:ahLst/>
            <a:cxnLst/>
            <a:rect r="r" b="b" t="t" l="l"/>
            <a:pathLst>
              <a:path h="2477783" w="7315200">
                <a:moveTo>
                  <a:pt x="0" y="0"/>
                </a:moveTo>
                <a:lnTo>
                  <a:pt x="7315200" y="0"/>
                </a:lnTo>
                <a:lnTo>
                  <a:pt x="7315200" y="2477783"/>
                </a:lnTo>
                <a:lnTo>
                  <a:pt x="0" y="24777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1413653" y="-573693"/>
            <a:ext cx="7315200" cy="2477783"/>
          </a:xfrm>
          <a:custGeom>
            <a:avLst/>
            <a:gdLst/>
            <a:ahLst/>
            <a:cxnLst/>
            <a:rect r="r" b="b" t="t" l="l"/>
            <a:pathLst>
              <a:path h="2477783" w="7315200">
                <a:moveTo>
                  <a:pt x="0" y="0"/>
                </a:moveTo>
                <a:lnTo>
                  <a:pt x="7315200" y="0"/>
                </a:lnTo>
                <a:lnTo>
                  <a:pt x="7315200" y="2477784"/>
                </a:lnTo>
                <a:lnTo>
                  <a:pt x="0" y="24777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3" id="13"/>
          <p:cNvSpPr txBox="true"/>
          <p:nvPr/>
        </p:nvSpPr>
        <p:spPr>
          <a:xfrm rot="0">
            <a:off x="4428730" y="3927232"/>
            <a:ext cx="12112646" cy="1866287"/>
          </a:xfrm>
          <a:prstGeom prst="rect">
            <a:avLst/>
          </a:prstGeom>
        </p:spPr>
        <p:txBody>
          <a:bodyPr anchor="t" rtlCol="false" tIns="0" lIns="0" bIns="0" rIns="0">
            <a:spAutoFit/>
          </a:bodyPr>
          <a:lstStyle/>
          <a:p>
            <a:pPr algn="ctr">
              <a:lnSpc>
                <a:spcPts val="15258"/>
              </a:lnSpc>
            </a:pPr>
            <a:r>
              <a:rPr lang="en-US" sz="10899">
                <a:solidFill>
                  <a:srgbClr val="000000"/>
                </a:solidFill>
                <a:latin typeface="Alatsi"/>
                <a:ea typeface="Alatsi"/>
                <a:cs typeface="Alatsi"/>
                <a:sym typeface="Alatsi"/>
              </a:rPr>
              <a:t>THANK YOU</a:t>
            </a:r>
          </a:p>
        </p:txBody>
      </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25</a:t>
            </a:r>
          </a:p>
        </p:txBody>
      </p:sp>
    </p:spTree>
  </p:cSld>
  <p:clrMapOvr>
    <a:masterClrMapping/>
  </p:clrMapOvr>
  <p:transition spd="fast">
    <p:cover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DAHFVTQhBf4</dc:identifier>
  <dcterms:modified xsi:type="dcterms:W3CDTF">2011-08-01T06:04:30Z</dcterms:modified>
  <cp:revision>1</cp:revision>
  <dc:title>Skip-YOLO: Domestic Garbage Detection Using Deep Learning in Complex Multi-scenes_ GROUP 02</dc:title>
</cp:coreProperties>
</file>