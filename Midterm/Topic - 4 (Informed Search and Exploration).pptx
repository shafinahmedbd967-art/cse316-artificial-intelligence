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61" r:id="rId5"/>
    <p:sldMasterId id="2147483663" r:id="rId6"/>
    <p:sldMasterId id="214748366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y="6858000" cx="9144000"/>
  <p:notesSz cx="6742100" cy="98726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110">
          <p15:clr>
            <a:srgbClr val="000000"/>
          </p15:clr>
        </p15:guide>
        <p15:guide id="2" pos="2124">
          <p15:clr>
            <a:srgbClr val="000000"/>
          </p15:clr>
        </p15:guide>
      </p15:notesGuideLst>
    </p:ext>
    <p:ext uri="GoogleSlidesCustomDataVersion2">
      <go:slidesCustomData xmlns:go="http://customooxmlschemas.google.com/" r:id="rId62" roundtripDataSignature="AMtx7mjYWYbdV8R/ZXgLPvalj6teOCGj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110" orient="horz"/>
        <p:guide pos="212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customschemas.google.com/relationships/presentationmetadata" Target="metadata"/><Relationship Id="rId61" Type="http://schemas.openxmlformats.org/officeDocument/2006/relationships/slide" Target="slides/slide53.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21000" cy="493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19525" y="0"/>
            <a:ext cx="2921000" cy="493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74687" y="4689475"/>
            <a:ext cx="5392737" cy="444341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377362"/>
            <a:ext cx="2921000" cy="49371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19525" y="9377362"/>
            <a:ext cx="292100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1:notes"/>
          <p:cNvSpPr txBox="1"/>
          <p:nvPr>
            <p:ph idx="1" type="body"/>
          </p:nvPr>
        </p:nvSpPr>
        <p:spPr>
          <a:xfrm>
            <a:off x="674687" y="4689475"/>
            <a:ext cx="5392737" cy="4443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1:notes"/>
          <p:cNvSpPr txBox="1"/>
          <p:nvPr/>
        </p:nvSpPr>
        <p:spPr>
          <a:xfrm>
            <a:off x="3819525" y="9377362"/>
            <a:ext cx="292100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2:notes"/>
          <p:cNvSpPr txBox="1"/>
          <p:nvPr>
            <p:ph idx="1" type="body"/>
          </p:nvPr>
        </p:nvSpPr>
        <p:spPr>
          <a:xfrm>
            <a:off x="674687" y="4689475"/>
            <a:ext cx="5392737" cy="4443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2:notes"/>
          <p:cNvSpPr txBox="1"/>
          <p:nvPr/>
        </p:nvSpPr>
        <p:spPr>
          <a:xfrm>
            <a:off x="3819525" y="9377362"/>
            <a:ext cx="292100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1:notes"/>
          <p:cNvSpPr txBox="1"/>
          <p:nvPr>
            <p:ph idx="1" type="body"/>
          </p:nvPr>
        </p:nvSpPr>
        <p:spPr>
          <a:xfrm>
            <a:off x="674687" y="4689475"/>
            <a:ext cx="5392737" cy="4443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1:notes"/>
          <p:cNvSpPr txBox="1"/>
          <p:nvPr/>
        </p:nvSpPr>
        <p:spPr>
          <a:xfrm>
            <a:off x="3819525" y="9377362"/>
            <a:ext cx="292100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2: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3: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5: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8: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9: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9: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0: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0: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1: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2: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2: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3: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3: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4: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4: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5: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5: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6: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6: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7: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7: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8: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8: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9: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29: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0: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0: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1: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1: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2: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2: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3: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4: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4: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5: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35: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6: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6: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7:notes"/>
          <p:cNvSpPr txBox="1"/>
          <p:nvPr/>
        </p:nvSpPr>
        <p:spPr>
          <a:xfrm>
            <a:off x="3819525" y="9377362"/>
            <a:ext cx="292100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08" name="Google Shape;408;p37: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7:notes"/>
          <p:cNvSpPr txBox="1"/>
          <p:nvPr>
            <p:ph idx="1" type="body"/>
          </p:nvPr>
        </p:nvSpPr>
        <p:spPr>
          <a:xfrm>
            <a:off x="898525" y="4689475"/>
            <a:ext cx="4945062" cy="4443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8: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8: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9: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39: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0: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0: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1: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41: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2: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42: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3: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43: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4: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44: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5: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45: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6: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46: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7: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47: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48: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48: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9: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49: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0: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50: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1: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51: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2: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52: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3: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53: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4:notes"/>
          <p:cNvSpPr txBox="1"/>
          <p:nvPr>
            <p:ph idx="1" type="body"/>
          </p:nvPr>
        </p:nvSpPr>
        <p:spPr>
          <a:xfrm>
            <a:off x="674687" y="4689475"/>
            <a:ext cx="5392737" cy="444341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54:notes"/>
          <p:cNvSpPr/>
          <p:nvPr>
            <p:ph idx="2" type="sldImg"/>
          </p:nvPr>
        </p:nvSpPr>
        <p:spPr>
          <a:xfrm>
            <a:off x="903287"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5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6"/>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7"/>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2" name="Shape 22"/>
        <p:cNvGrpSpPr/>
        <p:nvPr/>
      </p:nvGrpSpPr>
      <p:grpSpPr>
        <a:xfrm>
          <a:off x="0" y="0"/>
          <a:ext cx="0" cy="0"/>
          <a:chOff x="0" y="0"/>
          <a:chExt cx="0" cy="0"/>
        </a:xfrm>
      </p:grpSpPr>
      <p:sp>
        <p:nvSpPr>
          <p:cNvPr id="23" name="Google Shape;23;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6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6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6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6"/>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8" name="Shape 28"/>
        <p:cNvGrpSpPr/>
        <p:nvPr/>
      </p:nvGrpSpPr>
      <p:grpSpPr>
        <a:xfrm>
          <a:off x="0" y="0"/>
          <a:ext cx="0" cy="0"/>
          <a:chOff x="0" y="0"/>
          <a:chExt cx="0" cy="0"/>
        </a:xfrm>
      </p:grpSpPr>
      <p:sp>
        <p:nvSpPr>
          <p:cNvPr id="29" name="Google Shape;29;p6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6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6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7"/>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6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6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8"/>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8" name="Shape 38"/>
        <p:cNvGrpSpPr/>
        <p:nvPr/>
      </p:nvGrpSpPr>
      <p:grpSpPr>
        <a:xfrm>
          <a:off x="0" y="0"/>
          <a:ext cx="0" cy="0"/>
          <a:chOff x="0" y="0"/>
          <a:chExt cx="0" cy="0"/>
        </a:xfrm>
      </p:grpSpPr>
      <p:sp>
        <p:nvSpPr>
          <p:cNvPr id="39" name="Google Shape;39;p6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69"/>
          <p:cNvSpPr/>
          <p:nvPr>
            <p:ph idx="2" type="pic"/>
          </p:nvPr>
        </p:nvSpPr>
        <p:spPr>
          <a:xfrm>
            <a:off x="1792288" y="612775"/>
            <a:ext cx="5486400" cy="4114800"/>
          </a:xfrm>
          <a:prstGeom prst="rect">
            <a:avLst/>
          </a:prstGeom>
          <a:noFill/>
          <a:ln>
            <a:noFill/>
          </a:ln>
        </p:spPr>
      </p:sp>
      <p:sp>
        <p:nvSpPr>
          <p:cNvPr id="41" name="Google Shape;41;p6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2" name="Google Shape;42;p6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9"/>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4" name="Shape 44"/>
        <p:cNvGrpSpPr/>
        <p:nvPr/>
      </p:nvGrpSpPr>
      <p:grpSpPr>
        <a:xfrm>
          <a:off x="0" y="0"/>
          <a:ext cx="0" cy="0"/>
          <a:chOff x="0" y="0"/>
          <a:chExt cx="0" cy="0"/>
        </a:xfrm>
      </p:grpSpPr>
      <p:sp>
        <p:nvSpPr>
          <p:cNvPr id="45" name="Google Shape;45;p7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7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7" name="Google Shape;47;p7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8" name="Google Shape;48;p7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0"/>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7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7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1"/>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7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7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7" name="Google Shape;57;p7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8" name="Google Shape;58;p7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9" name="Google Shape;59;p7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0" name="Google Shape;60;p7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2"/>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2" name="Shape 62"/>
        <p:cNvGrpSpPr/>
        <p:nvPr/>
      </p:nvGrpSpPr>
      <p:grpSpPr>
        <a:xfrm>
          <a:off x="0" y="0"/>
          <a:ext cx="0" cy="0"/>
          <a:chOff x="0" y="0"/>
          <a:chExt cx="0" cy="0"/>
        </a:xfrm>
      </p:grpSpPr>
      <p:sp>
        <p:nvSpPr>
          <p:cNvPr id="63" name="Google Shape;63;p7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7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5" name="Google Shape;65;p7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6" name="Google Shape;66;p7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3"/>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1" name="Google Shape;71;p7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4"/>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7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7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76" name="Google Shape;76;p7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5"/>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ver Text" type="objOverTx">
  <p:cSld name="OBJECT_OVER_TEXT">
    <p:spTree>
      <p:nvGrpSpPr>
        <p:cNvPr id="84" name="Shape 84"/>
        <p:cNvGrpSpPr/>
        <p:nvPr/>
      </p:nvGrpSpPr>
      <p:grpSpPr>
        <a:xfrm>
          <a:off x="0" y="0"/>
          <a:ext cx="0" cy="0"/>
          <a:chOff x="0" y="0"/>
          <a:chExt cx="0" cy="0"/>
        </a:xfrm>
      </p:grpSpPr>
      <p:sp>
        <p:nvSpPr>
          <p:cNvPr id="85" name="Google Shape;85;p6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61"/>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61"/>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6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97" name="Shape 97"/>
        <p:cNvGrpSpPr/>
        <p:nvPr/>
      </p:nvGrpSpPr>
      <p:grpSpPr>
        <a:xfrm>
          <a:off x="0" y="0"/>
          <a:ext cx="0" cy="0"/>
          <a:chOff x="0" y="0"/>
          <a:chExt cx="0" cy="0"/>
        </a:xfrm>
      </p:grpSpPr>
      <p:sp>
        <p:nvSpPr>
          <p:cNvPr id="98" name="Google Shape;98;p6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63"/>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0" name="Google Shape;100;p63"/>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6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6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over Text" type="twoObjOverTx">
  <p:cSld name="TWO_OBJECTS_OVER_TEXT">
    <p:spTree>
      <p:nvGrpSpPr>
        <p:cNvPr id="110" name="Shape 110"/>
        <p:cNvGrpSpPr/>
        <p:nvPr/>
      </p:nvGrpSpPr>
      <p:grpSpPr>
        <a:xfrm>
          <a:off x="0" y="0"/>
          <a:ext cx="0" cy="0"/>
          <a:chOff x="0" y="0"/>
          <a:chExt cx="0" cy="0"/>
        </a:xfrm>
      </p:grpSpPr>
      <p:sp>
        <p:nvSpPr>
          <p:cNvPr id="111" name="Google Shape;111;p65"/>
          <p:cNvSpPr txBox="1"/>
          <p:nvPr>
            <p:ph type="title"/>
          </p:nvPr>
        </p:nvSpPr>
        <p:spPr>
          <a:xfrm>
            <a:off x="457200" y="762000"/>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65"/>
          <p:cNvSpPr txBox="1"/>
          <p:nvPr>
            <p:ph idx="1" type="body"/>
          </p:nvPr>
        </p:nvSpPr>
        <p:spPr>
          <a:xfrm>
            <a:off x="457200" y="1981200"/>
            <a:ext cx="4038600" cy="186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3" name="Google Shape;113;p65"/>
          <p:cNvSpPr txBox="1"/>
          <p:nvPr>
            <p:ph idx="2" type="body"/>
          </p:nvPr>
        </p:nvSpPr>
        <p:spPr>
          <a:xfrm>
            <a:off x="4648200" y="1981200"/>
            <a:ext cx="4038600" cy="186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4" name="Google Shape;114;p65"/>
          <p:cNvSpPr txBox="1"/>
          <p:nvPr>
            <p:ph idx="3" type="body"/>
          </p:nvPr>
        </p:nvSpPr>
        <p:spPr>
          <a:xfrm>
            <a:off x="457200" y="4000500"/>
            <a:ext cx="8229600" cy="186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5" name="Google Shape;115;p6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5"/>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7" name="Google Shape;117;p6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5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5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55"/>
          <p:cNvSpPr txBox="1"/>
          <p:nvPr>
            <p:ph idx="12" type="sldNum"/>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6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80" name="Google Shape;80;p6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1" name="Google Shape;81;p6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2" name="Google Shape;82;p6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3" name="Google Shape;83;p6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93" name="Google Shape;93;p6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94" name="Google Shape;94;p6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5" name="Google Shape;95;p6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6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06" name="Google Shape;106;p6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7" name="Google Shape;107;p6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8" name="Google Shape;108;p64"/>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
        <p:nvSpPr>
          <p:cNvPr id="109" name="Google Shape;109;p6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7.png"/><Relationship Id="rId7"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3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20.jpg"/><Relationship Id="rId4" Type="http://schemas.openxmlformats.org/officeDocument/2006/relationships/image" Target="../media/image1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22.jpg"/><Relationship Id="rId4" Type="http://schemas.openxmlformats.org/officeDocument/2006/relationships/image" Target="../media/image40.jpg"/><Relationship Id="rId5"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41.jp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48.jpg"/><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27.png"/><Relationship Id="rId4" Type="http://schemas.openxmlformats.org/officeDocument/2006/relationships/image" Target="../media/image3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3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7.png"/><Relationship Id="rId4" Type="http://schemas.openxmlformats.org/officeDocument/2006/relationships/image" Target="../media/image3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49.png"/><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
          <p:cNvSpPr txBox="1"/>
          <p:nvPr/>
        </p:nvSpPr>
        <p:spPr>
          <a:xfrm>
            <a:off x="457200" y="914400"/>
            <a:ext cx="8229600" cy="1905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Arial"/>
              <a:buNone/>
            </a:pPr>
            <a:r>
              <a:rPr b="1" i="0" lang="en-US" sz="4400" u="none" cap="none" strike="noStrike">
                <a:solidFill>
                  <a:srgbClr val="FF0000"/>
                </a:solidFill>
                <a:latin typeface="Arial"/>
                <a:ea typeface="Arial"/>
                <a:cs typeface="Arial"/>
                <a:sym typeface="Arial"/>
              </a:rPr>
              <a:t>CSE </a:t>
            </a:r>
            <a:r>
              <a:rPr b="1" lang="en-US" sz="4400">
                <a:solidFill>
                  <a:srgbClr val="FF0000"/>
                </a:solidFill>
              </a:rPr>
              <a:t>411</a:t>
            </a:r>
            <a:r>
              <a:rPr b="1" i="0" lang="en-US" sz="4400" u="none" cap="none" strike="noStrike">
                <a:solidFill>
                  <a:srgbClr val="FF0000"/>
                </a:solidFill>
                <a:latin typeface="Arial"/>
                <a:ea typeface="Arial"/>
                <a:cs typeface="Arial"/>
                <a:sym typeface="Arial"/>
              </a:rPr>
              <a:t>: Artificial Intelligence</a:t>
            </a:r>
            <a:endParaRPr/>
          </a:p>
        </p:txBody>
      </p:sp>
      <p:sp>
        <p:nvSpPr>
          <p:cNvPr id="124" name="Google Shape;124;p1"/>
          <p:cNvSpPr txBox="1"/>
          <p:nvPr/>
        </p:nvSpPr>
        <p:spPr>
          <a:xfrm>
            <a:off x="0" y="4114800"/>
            <a:ext cx="9144000" cy="2667000"/>
          </a:xfrm>
          <a:prstGeom prst="rect">
            <a:avLst/>
          </a:prstGeom>
          <a:noFill/>
          <a:ln>
            <a:noFill/>
          </a:ln>
        </p:spPr>
        <p:txBody>
          <a:bodyPr anchorCtr="1" anchor="ctr" bIns="0" lIns="0" spcFirstLastPara="1" rIns="0" wrap="square" tIns="0">
            <a:normAutofit/>
          </a:bodyPr>
          <a:lstStyle/>
          <a:p>
            <a:pPr indent="-342900" lvl="0" marL="342900" marR="0" rtl="0" algn="ctr">
              <a:lnSpc>
                <a:spcPct val="100000"/>
              </a:lnSpc>
              <a:spcBef>
                <a:spcPts val="0"/>
              </a:spcBef>
              <a:spcAft>
                <a:spcPts val="0"/>
              </a:spcAft>
              <a:buClr>
                <a:srgbClr val="C00000"/>
              </a:buClr>
              <a:buSzPts val="2600"/>
              <a:buFont typeface="Arial"/>
              <a:buNone/>
            </a:pPr>
            <a:r>
              <a:rPr b="1" i="0" lang="en-US" sz="2600" u="none" cap="none" strike="noStrike">
                <a:solidFill>
                  <a:srgbClr val="C00000"/>
                </a:solidFill>
                <a:latin typeface="Arial"/>
                <a:ea typeface="Arial"/>
                <a:cs typeface="Arial"/>
                <a:sym typeface="Arial"/>
              </a:rPr>
              <a:t>Department</a:t>
            </a:r>
            <a:r>
              <a:rPr b="1" i="0" lang="en-US" sz="2600" u="none" cap="none" strike="noStrike">
                <a:solidFill>
                  <a:srgbClr val="A50021"/>
                </a:solidFill>
                <a:latin typeface="Arial"/>
                <a:ea typeface="Arial"/>
                <a:cs typeface="Arial"/>
                <a:sym typeface="Arial"/>
              </a:rPr>
              <a:t> of Computer Science and Engineering</a:t>
            </a:r>
            <a:endParaRPr b="1" i="0" sz="2800" u="none" cap="none" strike="noStrike">
              <a:solidFill>
                <a:srgbClr val="A50021"/>
              </a:solidFill>
              <a:latin typeface="Arial"/>
              <a:ea typeface="Arial"/>
              <a:cs typeface="Arial"/>
              <a:sym typeface="Arial"/>
            </a:endParaRPr>
          </a:p>
          <a:p>
            <a:pPr indent="-342900" lvl="0" marL="342900" marR="0" rtl="0" algn="ctr">
              <a:lnSpc>
                <a:spcPct val="100000"/>
              </a:lnSpc>
              <a:spcBef>
                <a:spcPts val="540"/>
              </a:spcBef>
              <a:spcAft>
                <a:spcPts val="0"/>
              </a:spcAft>
              <a:buClr>
                <a:srgbClr val="0000FF"/>
              </a:buClr>
              <a:buSzPts val="2700"/>
              <a:buFont typeface="Arial"/>
              <a:buNone/>
            </a:pPr>
            <a:r>
              <a:rPr b="1" i="0" lang="en-US" sz="2700" u="none" cap="none" strike="noStrike">
                <a:solidFill>
                  <a:srgbClr val="0000FF"/>
                </a:solidFill>
                <a:latin typeface="Arial"/>
                <a:ea typeface="Arial"/>
                <a:cs typeface="Arial"/>
                <a:sym typeface="Arial"/>
              </a:rPr>
              <a:t>Daffodil</a:t>
            </a:r>
            <a:r>
              <a:rPr b="1" i="0" lang="en-US" sz="2700" u="none" cap="none" strike="noStrike">
                <a:solidFill>
                  <a:srgbClr val="00FF00"/>
                </a:solidFill>
                <a:latin typeface="Arial"/>
                <a:ea typeface="Arial"/>
                <a:cs typeface="Arial"/>
                <a:sym typeface="Arial"/>
              </a:rPr>
              <a:t> </a:t>
            </a:r>
            <a:r>
              <a:rPr b="1" i="0" lang="en-US" sz="2700" u="none" cap="none" strike="noStrike">
                <a:solidFill>
                  <a:srgbClr val="404040"/>
                </a:solidFill>
                <a:latin typeface="Arial"/>
                <a:ea typeface="Arial"/>
                <a:cs typeface="Arial"/>
                <a:sym typeface="Arial"/>
              </a:rPr>
              <a:t>International</a:t>
            </a:r>
            <a:r>
              <a:rPr b="1" i="0" lang="en-US" sz="2700" u="none" cap="none" strike="noStrike">
                <a:solidFill>
                  <a:srgbClr val="00FF00"/>
                </a:solidFill>
                <a:latin typeface="Arial"/>
                <a:ea typeface="Arial"/>
                <a:cs typeface="Arial"/>
                <a:sym typeface="Arial"/>
              </a:rPr>
              <a:t> University</a:t>
            </a:r>
            <a:endParaRPr/>
          </a:p>
        </p:txBody>
      </p:sp>
      <p:sp>
        <p:nvSpPr>
          <p:cNvPr id="125" name="Google Shape;125;p1"/>
          <p:cNvSpPr txBox="1"/>
          <p:nvPr/>
        </p:nvSpPr>
        <p:spPr>
          <a:xfrm>
            <a:off x="685800" y="2514600"/>
            <a:ext cx="7620000" cy="144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FF00"/>
              </a:buClr>
              <a:buSzPts val="4000"/>
              <a:buFont typeface="Arial"/>
              <a:buNone/>
            </a:pPr>
            <a:r>
              <a:rPr b="1" i="0" lang="en-US" sz="4000" u="none" cap="none" strike="noStrike">
                <a:solidFill>
                  <a:srgbClr val="00FF00"/>
                </a:solidFill>
                <a:latin typeface="Arial"/>
                <a:ea typeface="Arial"/>
                <a:cs typeface="Arial"/>
                <a:sym typeface="Arial"/>
              </a:rPr>
              <a:t>Topic – 4: Informed Search and Exploration</a:t>
            </a:r>
            <a:endParaRPr/>
          </a:p>
        </p:txBody>
      </p:sp>
      <p:pic>
        <p:nvPicPr>
          <p:cNvPr id="126" name="Google Shape;126;p1"/>
          <p:cNvPicPr preferRelativeResize="0"/>
          <p:nvPr/>
        </p:nvPicPr>
        <p:blipFill rotWithShape="1">
          <a:blip r:embed="rId3">
            <a:alphaModFix/>
          </a:blip>
          <a:srcRect b="0" l="0" r="0" t="0"/>
          <a:stretch/>
        </p:blipFill>
        <p:spPr>
          <a:xfrm>
            <a:off x="8001000" y="0"/>
            <a:ext cx="1143000" cy="114300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 calcmode="lin" valueType="num">
                                      <p:cBhvr additive="base">
                                        <p:cTn dur="500"/>
                                        <p:tgtEl>
                                          <p:spTgt spid="124">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24">
                                            <p:txEl>
                                              <p:pRg end="0" st="0"/>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 calcmode="lin" valueType="num">
                                      <p:cBhvr additive="base">
                                        <p:cTn dur="500"/>
                                        <p:tgtEl>
                                          <p:spTgt spid="124">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24">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
          <p:cNvSpPr txBox="1"/>
          <p:nvPr/>
        </p:nvSpPr>
        <p:spPr>
          <a:xfrm>
            <a:off x="76200" y="990600"/>
            <a:ext cx="8915400" cy="5638800"/>
          </a:xfrm>
          <a:prstGeom prst="rect">
            <a:avLst/>
          </a:prstGeom>
          <a:noFill/>
          <a:ln>
            <a:noFill/>
          </a:ln>
        </p:spPr>
        <p:txBody>
          <a:bodyPr anchorCtr="0" anchor="t" bIns="45700" lIns="91425" spcFirstLastPara="1" rIns="91425" wrap="square" tIns="45700">
            <a:noAutofit/>
          </a:bodyPr>
          <a:lstStyle/>
          <a:p>
            <a:pPr indent="-14287" lvl="0" marL="14287" marR="0" rtl="0" algn="just">
              <a:lnSpc>
                <a:spcPct val="150000"/>
              </a:lnSpc>
              <a:spcBef>
                <a:spcPts val="0"/>
              </a:spcBef>
              <a:spcAft>
                <a:spcPts val="0"/>
              </a:spcAft>
              <a:buClr>
                <a:srgbClr val="FF00FF"/>
              </a:buClr>
              <a:buSzPts val="3000"/>
              <a:buFont typeface="Comic Sans MS"/>
              <a:buChar char="•"/>
            </a:pPr>
            <a:r>
              <a:rPr b="0" i="0" lang="en-US" sz="3000" u="none" cap="none" strike="noStrike">
                <a:solidFill>
                  <a:srgbClr val="FF00FF"/>
                </a:solidFill>
                <a:latin typeface="Comic Sans MS"/>
                <a:ea typeface="Comic Sans MS"/>
                <a:cs typeface="Comic Sans MS"/>
                <a:sym typeface="Comic Sans MS"/>
              </a:rPr>
              <a:t> </a:t>
            </a:r>
            <a:r>
              <a:rPr b="0" i="0" lang="en-US" sz="3200" u="none" cap="none" strike="noStrike">
                <a:solidFill>
                  <a:srgbClr val="FF00FF"/>
                </a:solidFill>
                <a:latin typeface="Comic Sans MS"/>
                <a:ea typeface="Comic Sans MS"/>
                <a:cs typeface="Comic Sans MS"/>
                <a:sym typeface="Comic Sans MS"/>
              </a:rPr>
              <a:t>Informed (Heuristic) Search Strategies</a:t>
            </a:r>
            <a:endParaRPr/>
          </a:p>
          <a:p>
            <a:pPr indent="-14287" lvl="0" marL="14287" marR="0" rtl="0" algn="just">
              <a:lnSpc>
                <a:spcPct val="150000"/>
              </a:lnSpc>
              <a:spcBef>
                <a:spcPts val="640"/>
              </a:spcBef>
              <a:spcAft>
                <a:spcPts val="0"/>
              </a:spcAft>
              <a:buClr>
                <a:srgbClr val="FF00FF"/>
              </a:buClr>
              <a:buSzPts val="3200"/>
              <a:buFont typeface="Comic Sans MS"/>
              <a:buChar char="•"/>
            </a:pPr>
            <a:r>
              <a:rPr b="0" i="0" lang="en-US" sz="3200" u="none" cap="none" strike="noStrike">
                <a:solidFill>
                  <a:srgbClr val="FF00FF"/>
                </a:solidFill>
                <a:latin typeface="Comic Sans MS"/>
                <a:ea typeface="Comic Sans MS"/>
                <a:cs typeface="Comic Sans MS"/>
                <a:sym typeface="Comic Sans MS"/>
              </a:rPr>
              <a:t> Heuristic Functions</a:t>
            </a:r>
            <a:endParaRPr/>
          </a:p>
          <a:p>
            <a:pPr indent="-14287" lvl="0" marL="14287" marR="0" rtl="0" algn="just">
              <a:lnSpc>
                <a:spcPct val="150000"/>
              </a:lnSpc>
              <a:spcBef>
                <a:spcPts val="640"/>
              </a:spcBef>
              <a:spcAft>
                <a:spcPts val="0"/>
              </a:spcAft>
              <a:buClr>
                <a:srgbClr val="FF00FF"/>
              </a:buClr>
              <a:buSzPts val="3000"/>
              <a:buFont typeface="Comic Sans MS"/>
              <a:buChar char="•"/>
            </a:pPr>
            <a:r>
              <a:rPr b="0" i="0" lang="en-US" sz="3000" u="none" cap="none" strike="noStrike">
                <a:solidFill>
                  <a:srgbClr val="FF00FF"/>
                </a:solidFill>
                <a:latin typeface="Comic Sans MS"/>
                <a:ea typeface="Comic Sans MS"/>
                <a:cs typeface="Comic Sans MS"/>
                <a:sym typeface="Comic Sans MS"/>
              </a:rPr>
              <a:t> </a:t>
            </a:r>
            <a:r>
              <a:rPr b="0" i="0" lang="en-US" sz="3200" u="none" cap="none" strike="noStrike">
                <a:solidFill>
                  <a:srgbClr val="FF00FF"/>
                </a:solidFill>
                <a:latin typeface="Comic Sans MS"/>
                <a:ea typeface="Comic Sans MS"/>
                <a:cs typeface="Comic Sans MS"/>
                <a:sym typeface="Comic Sans MS"/>
              </a:rPr>
              <a:t>Local Search Algorithms and Optimization      </a:t>
            </a:r>
            <a:endParaRPr/>
          </a:p>
          <a:p>
            <a:pPr indent="14287" lvl="0" marL="0" marR="0" rtl="0" algn="just">
              <a:lnSpc>
                <a:spcPct val="150000"/>
              </a:lnSpc>
              <a:spcBef>
                <a:spcPts val="640"/>
              </a:spcBef>
              <a:spcAft>
                <a:spcPts val="0"/>
              </a:spcAft>
              <a:buClr>
                <a:srgbClr val="FF00FF"/>
              </a:buClr>
              <a:buSzPts val="3200"/>
              <a:buFont typeface="Comic Sans MS"/>
              <a:buNone/>
            </a:pPr>
            <a:r>
              <a:rPr b="0" i="0" lang="en-US" sz="3200" u="none" cap="none" strike="noStrike">
                <a:solidFill>
                  <a:srgbClr val="FF00FF"/>
                </a:solidFill>
                <a:latin typeface="Comic Sans MS"/>
                <a:ea typeface="Comic Sans MS"/>
                <a:cs typeface="Comic Sans MS"/>
                <a:sym typeface="Comic Sans MS"/>
              </a:rPr>
              <a:t>    </a:t>
            </a:r>
            <a:r>
              <a:rPr b="0" i="0" lang="en-US" sz="3200" u="none" cap="none" strike="noStrike">
                <a:solidFill>
                  <a:srgbClr val="FF33CC"/>
                </a:solidFill>
                <a:latin typeface="Comic Sans MS"/>
                <a:ea typeface="Comic Sans MS"/>
                <a:cs typeface="Comic Sans MS"/>
                <a:sym typeface="Comic Sans MS"/>
              </a:rPr>
              <a:t>Problems</a:t>
            </a:r>
            <a:endParaRPr b="1" i="0" sz="2800" u="none" cap="none" strike="noStrike">
              <a:solidFill>
                <a:srgbClr val="FF0066"/>
              </a:solidFill>
              <a:latin typeface="Comic Sans MS"/>
              <a:ea typeface="Comic Sans MS"/>
              <a:cs typeface="Comic Sans MS"/>
              <a:sym typeface="Comic Sans MS"/>
            </a:endParaRPr>
          </a:p>
          <a:p>
            <a:pPr indent="-266700" lvl="2" marL="914400" marR="0" rtl="0" algn="just">
              <a:lnSpc>
                <a:spcPct val="100000"/>
              </a:lnSpc>
              <a:spcBef>
                <a:spcPts val="0"/>
              </a:spcBef>
              <a:spcAft>
                <a:spcPts val="0"/>
              </a:spcAft>
              <a:buClr>
                <a:srgbClr val="C00000"/>
              </a:buClr>
              <a:buSzPts val="4200"/>
              <a:buFont typeface="Noto Sans Symbols"/>
              <a:buChar char="☞"/>
            </a:pPr>
            <a:r>
              <a:rPr b="1" i="0" lang="en-US" sz="2800" u="none" cap="none" strike="noStrike">
                <a:solidFill>
                  <a:srgbClr val="FF0066"/>
                </a:solidFill>
                <a:latin typeface="Comic Sans MS"/>
                <a:ea typeface="Comic Sans MS"/>
                <a:cs typeface="Comic Sans MS"/>
                <a:sym typeface="Comic Sans MS"/>
              </a:rPr>
              <a:t> Hill-climbing search</a:t>
            </a:r>
            <a:endParaRPr/>
          </a:p>
          <a:p>
            <a:pPr indent="-266700" lvl="2" marL="914400" marR="0" rtl="0" algn="just">
              <a:lnSpc>
                <a:spcPct val="100000"/>
              </a:lnSpc>
              <a:spcBef>
                <a:spcPts val="0"/>
              </a:spcBef>
              <a:spcAft>
                <a:spcPts val="0"/>
              </a:spcAft>
              <a:buClr>
                <a:srgbClr val="C00000"/>
              </a:buClr>
              <a:buSzPts val="4200"/>
              <a:buFont typeface="Noto Sans Symbols"/>
              <a:buChar char="☞"/>
            </a:pPr>
            <a:r>
              <a:rPr b="1" i="0" lang="en-US" sz="2800" u="none" cap="none" strike="noStrike">
                <a:solidFill>
                  <a:srgbClr val="FF0066"/>
                </a:solidFill>
                <a:latin typeface="Comic Sans MS"/>
                <a:ea typeface="Comic Sans MS"/>
                <a:cs typeface="Comic Sans MS"/>
                <a:sym typeface="Comic Sans MS"/>
              </a:rPr>
              <a:t> Simulated annealing search</a:t>
            </a:r>
            <a:endParaRPr/>
          </a:p>
          <a:p>
            <a:pPr indent="-266700" lvl="2" marL="914400" marR="0" rtl="0" algn="just">
              <a:lnSpc>
                <a:spcPct val="100000"/>
              </a:lnSpc>
              <a:spcBef>
                <a:spcPts val="0"/>
              </a:spcBef>
              <a:spcAft>
                <a:spcPts val="0"/>
              </a:spcAft>
              <a:buClr>
                <a:srgbClr val="C00000"/>
              </a:buClr>
              <a:buSzPts val="4200"/>
              <a:buFont typeface="Noto Sans Symbols"/>
              <a:buChar char="☞"/>
            </a:pPr>
            <a:r>
              <a:rPr b="1" i="0" lang="en-US" sz="2800" u="none" cap="none" strike="noStrike">
                <a:solidFill>
                  <a:srgbClr val="FF0066"/>
                </a:solidFill>
                <a:latin typeface="Comic Sans MS"/>
                <a:ea typeface="Comic Sans MS"/>
                <a:cs typeface="Comic Sans MS"/>
                <a:sym typeface="Comic Sans MS"/>
              </a:rPr>
              <a:t> Local beam search</a:t>
            </a:r>
            <a:endParaRPr/>
          </a:p>
          <a:p>
            <a:pPr indent="-266700" lvl="2" marL="914400" marR="0" rtl="0" algn="just">
              <a:lnSpc>
                <a:spcPct val="100000"/>
              </a:lnSpc>
              <a:spcBef>
                <a:spcPts val="0"/>
              </a:spcBef>
              <a:spcAft>
                <a:spcPts val="0"/>
              </a:spcAft>
              <a:buClr>
                <a:srgbClr val="C00000"/>
              </a:buClr>
              <a:buSzPts val="4200"/>
              <a:buFont typeface="Noto Sans Symbols"/>
              <a:buChar char="☞"/>
            </a:pPr>
            <a:r>
              <a:rPr b="1" i="0" lang="en-US" sz="2800" u="none" cap="none" strike="noStrike">
                <a:solidFill>
                  <a:srgbClr val="FF0066"/>
                </a:solidFill>
                <a:latin typeface="Comic Sans MS"/>
                <a:ea typeface="Comic Sans MS"/>
                <a:cs typeface="Comic Sans MS"/>
                <a:sym typeface="Comic Sans MS"/>
              </a:rPr>
              <a:t> Genetic algorithms</a:t>
            </a:r>
            <a:endParaRPr/>
          </a:p>
          <a:p>
            <a:pPr indent="0" lvl="0" marL="0" marR="0" rtl="0" algn="l">
              <a:lnSpc>
                <a:spcPct val="100000"/>
              </a:lnSpc>
              <a:spcBef>
                <a:spcPts val="0"/>
              </a:spcBef>
              <a:spcAft>
                <a:spcPts val="0"/>
              </a:spcAft>
              <a:buNone/>
            </a:pPr>
            <a:r>
              <a:t/>
            </a:r>
            <a:endParaRPr b="1" i="0" sz="2800" u="none" cap="none" strike="noStrike">
              <a:solidFill>
                <a:srgbClr val="FF0066"/>
              </a:solidFill>
              <a:latin typeface="Comic Sans MS"/>
              <a:ea typeface="Comic Sans MS"/>
              <a:cs typeface="Comic Sans MS"/>
              <a:sym typeface="Comic Sans MS"/>
            </a:endParaRPr>
          </a:p>
        </p:txBody>
      </p:sp>
      <p:sp>
        <p:nvSpPr>
          <p:cNvPr id="133" name="Google Shape;133;p2"/>
          <p:cNvSpPr txBox="1"/>
          <p:nvPr/>
        </p:nvSpPr>
        <p:spPr>
          <a:xfrm>
            <a:off x="914400" y="76200"/>
            <a:ext cx="7162800" cy="838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4000"/>
              <a:buFont typeface="Comic Sans MS"/>
              <a:buNone/>
            </a:pPr>
            <a:r>
              <a:rPr b="1" i="0" lang="en-US" sz="4000" u="none">
                <a:solidFill>
                  <a:srgbClr val="C00000"/>
                </a:solidFill>
                <a:latin typeface="Comic Sans MS"/>
                <a:ea typeface="Comic Sans MS"/>
                <a:cs typeface="Comic Sans MS"/>
                <a:sym typeface="Comic Sans MS"/>
              </a:rPr>
              <a:t>Topic Contents</a:t>
            </a:r>
            <a:endParaRPr/>
          </a:p>
        </p:txBody>
      </p:sp>
      <p:pic>
        <p:nvPicPr>
          <p:cNvPr id="134" name="Google Shape;134;p2"/>
          <p:cNvPicPr preferRelativeResize="0"/>
          <p:nvPr/>
        </p:nvPicPr>
        <p:blipFill rotWithShape="1">
          <a:blip r:embed="rId3">
            <a:alphaModFix/>
          </a:blip>
          <a:srcRect b="0" l="0" r="0" t="0"/>
          <a:stretch/>
        </p:blipFill>
        <p:spPr>
          <a:xfrm>
            <a:off x="8001000" y="0"/>
            <a:ext cx="1143000" cy="1143000"/>
          </a:xfrm>
          <a:prstGeom prst="rect">
            <a:avLst/>
          </a:prstGeom>
          <a:noFill/>
          <a:ln>
            <a:noFill/>
          </a:ln>
        </p:spPr>
      </p:pic>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Best-First Search</a:t>
            </a:r>
            <a:endParaRPr/>
          </a:p>
        </p:txBody>
      </p:sp>
      <p:sp>
        <p:nvSpPr>
          <p:cNvPr id="140" name="Google Shape;140;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Node is selected for expansion based on an </a:t>
            </a:r>
            <a:r>
              <a:rPr b="0" i="1" lang="en-US" sz="3200" u="none">
                <a:solidFill>
                  <a:schemeClr val="dk1"/>
                </a:solidFill>
                <a:latin typeface="Arial"/>
                <a:ea typeface="Arial"/>
                <a:cs typeface="Arial"/>
                <a:sym typeface="Arial"/>
              </a:rPr>
              <a:t>evaluation function f(n)</a:t>
            </a:r>
            <a:endParaRPr/>
          </a:p>
          <a:p>
            <a:pPr indent="-342900" lvl="0" marL="34290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Evaluation function estimates distance to the goal</a:t>
            </a:r>
            <a:endParaRPr/>
          </a:p>
          <a:p>
            <a:pPr indent="-342900" lvl="0" marL="34290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Choose node which </a:t>
            </a:r>
            <a:r>
              <a:rPr b="0" i="1" lang="en-US" sz="3200" u="none">
                <a:solidFill>
                  <a:schemeClr val="dk1"/>
                </a:solidFill>
                <a:latin typeface="Arial"/>
                <a:ea typeface="Arial"/>
                <a:cs typeface="Arial"/>
                <a:sym typeface="Arial"/>
              </a:rPr>
              <a:t>appears </a:t>
            </a:r>
            <a:r>
              <a:rPr b="0" i="0" lang="en-US" sz="3200" u="none">
                <a:solidFill>
                  <a:schemeClr val="dk1"/>
                </a:solidFill>
                <a:latin typeface="Arial"/>
                <a:ea typeface="Arial"/>
                <a:cs typeface="Arial"/>
                <a:sym typeface="Arial"/>
              </a:rPr>
              <a:t>best</a:t>
            </a:r>
            <a:endParaRPr/>
          </a:p>
          <a:p>
            <a:pPr indent="-342900" lvl="0" marL="34290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Implementation:</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fringe is a priority queue sorted in ascending order of </a:t>
            </a:r>
            <a:r>
              <a:rPr b="0" i="1" lang="en-US" sz="2800" u="none">
                <a:solidFill>
                  <a:schemeClr val="dk1"/>
                </a:solidFill>
                <a:latin typeface="Arial"/>
                <a:ea typeface="Arial"/>
                <a:cs typeface="Arial"/>
                <a:sym typeface="Arial"/>
              </a:rPr>
              <a:t>f-</a:t>
            </a:r>
            <a:r>
              <a:rPr b="0" i="0" lang="en-US" sz="2800" u="none">
                <a:solidFill>
                  <a:schemeClr val="dk1"/>
                </a:solidFill>
                <a:latin typeface="Arial"/>
                <a:ea typeface="Arial"/>
                <a:cs typeface="Arial"/>
                <a:sym typeface="Arial"/>
              </a:rPr>
              <a:t>values</a:t>
            </a:r>
            <a:endParaRPr/>
          </a:p>
        </p:txBody>
      </p:sp>
      <p:sp>
        <p:nvSpPr>
          <p:cNvPr id="141" name="Google Shape;141;p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42" name="Google Shape;142;p3"/>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A Heuristic Function </a:t>
            </a:r>
            <a:r>
              <a:rPr b="1" i="1" lang="en-US" sz="4400" u="none">
                <a:solidFill>
                  <a:srgbClr val="C00000"/>
                </a:solidFill>
                <a:latin typeface="Arial"/>
                <a:ea typeface="Arial"/>
                <a:cs typeface="Arial"/>
                <a:sym typeface="Arial"/>
              </a:rPr>
              <a:t>h</a:t>
            </a:r>
            <a:r>
              <a:rPr b="1" i="0" lang="en-US" sz="4400" u="none">
                <a:solidFill>
                  <a:srgbClr val="C00000"/>
                </a:solidFill>
                <a:latin typeface="Arial"/>
                <a:ea typeface="Arial"/>
                <a:cs typeface="Arial"/>
                <a:sym typeface="Arial"/>
              </a:rPr>
              <a:t>(</a:t>
            </a:r>
            <a:r>
              <a:rPr b="1" i="1" lang="en-US" sz="4400" u="none">
                <a:solidFill>
                  <a:srgbClr val="C00000"/>
                </a:solidFill>
                <a:latin typeface="Arial"/>
                <a:ea typeface="Arial"/>
                <a:cs typeface="Arial"/>
                <a:sym typeface="Arial"/>
              </a:rPr>
              <a:t>n</a:t>
            </a:r>
            <a:r>
              <a:rPr b="1" i="0" lang="en-US" sz="4400" u="none">
                <a:solidFill>
                  <a:srgbClr val="C00000"/>
                </a:solidFill>
                <a:latin typeface="Arial"/>
                <a:ea typeface="Arial"/>
                <a:cs typeface="Arial"/>
                <a:sym typeface="Arial"/>
              </a:rPr>
              <a:t>)</a:t>
            </a:r>
            <a:endParaRPr/>
          </a:p>
        </p:txBody>
      </p:sp>
      <p:sp>
        <p:nvSpPr>
          <p:cNvPr id="148" name="Google Shape;148;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Dictionary definition: </a:t>
            </a:r>
            <a:r>
              <a:rPr b="0" i="1" lang="en-US" sz="3200" u="none">
                <a:solidFill>
                  <a:schemeClr val="dk1"/>
                </a:solidFill>
                <a:latin typeface="Arial"/>
                <a:ea typeface="Arial"/>
                <a:cs typeface="Arial"/>
                <a:sym typeface="Arial"/>
              </a:rPr>
              <a:t>“A rule of thumb, simplification, or educated guess that reduces or limits the search for solutions in domains that are difficult and poorly understood”</a:t>
            </a:r>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For best-first search:</a:t>
            </a:r>
            <a:endParaRPr/>
          </a:p>
          <a:p>
            <a:pPr indent="-285750" lvl="1" marL="742950" rtl="0" algn="just">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h(n) </a:t>
            </a:r>
            <a:r>
              <a:rPr b="0" i="0" lang="en-US" sz="2800" u="none">
                <a:solidFill>
                  <a:schemeClr val="dk1"/>
                </a:solidFill>
                <a:latin typeface="Arial"/>
                <a:ea typeface="Arial"/>
                <a:cs typeface="Arial"/>
                <a:sym typeface="Arial"/>
              </a:rPr>
              <a:t>= estimated cost of the cheapest path from node </a:t>
            </a:r>
            <a:r>
              <a:rPr b="0" i="1" lang="en-US" sz="2800" u="none">
                <a:solidFill>
                  <a:schemeClr val="dk1"/>
                </a:solidFill>
                <a:latin typeface="Arial"/>
                <a:ea typeface="Arial"/>
                <a:cs typeface="Arial"/>
                <a:sym typeface="Arial"/>
              </a:rPr>
              <a:t>n </a:t>
            </a:r>
            <a:r>
              <a:rPr b="0" i="0" lang="en-US" sz="2800" u="none">
                <a:solidFill>
                  <a:schemeClr val="dk1"/>
                </a:solidFill>
                <a:latin typeface="Arial"/>
                <a:ea typeface="Arial"/>
                <a:cs typeface="Arial"/>
                <a:sym typeface="Arial"/>
              </a:rPr>
              <a:t>to goal node</a:t>
            </a:r>
            <a:endParaRPr/>
          </a:p>
        </p:txBody>
      </p:sp>
      <p:sp>
        <p:nvSpPr>
          <p:cNvPr id="149" name="Google Shape;149;p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50" name="Google Shape;150;p4"/>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Greedy Search: Example</a:t>
            </a:r>
            <a:endParaRPr/>
          </a:p>
        </p:txBody>
      </p:sp>
      <p:pic>
        <p:nvPicPr>
          <p:cNvPr id="156" name="Google Shape;156;p6"/>
          <p:cNvPicPr preferRelativeResize="0"/>
          <p:nvPr>
            <p:ph idx="1" type="body"/>
          </p:nvPr>
        </p:nvPicPr>
        <p:blipFill rotWithShape="1">
          <a:blip r:embed="rId3">
            <a:alphaModFix/>
          </a:blip>
          <a:srcRect b="0" l="0" r="0" t="0"/>
          <a:stretch/>
        </p:blipFill>
        <p:spPr>
          <a:xfrm>
            <a:off x="685800" y="2209800"/>
            <a:ext cx="7772400" cy="3405187"/>
          </a:xfrm>
          <a:prstGeom prst="rect">
            <a:avLst/>
          </a:prstGeom>
          <a:noFill/>
          <a:ln>
            <a:noFill/>
          </a:ln>
        </p:spPr>
      </p:pic>
      <p:sp>
        <p:nvSpPr>
          <p:cNvPr id="157" name="Google Shape;157;p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58" name="Google Shape;158;p6"/>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Greedy Search: Example</a:t>
            </a:r>
            <a:endParaRPr/>
          </a:p>
        </p:txBody>
      </p:sp>
      <p:pic>
        <p:nvPicPr>
          <p:cNvPr id="164" name="Google Shape;164;p7"/>
          <p:cNvPicPr preferRelativeResize="0"/>
          <p:nvPr>
            <p:ph idx="1" type="body"/>
          </p:nvPr>
        </p:nvPicPr>
        <p:blipFill rotWithShape="1">
          <a:blip r:embed="rId3">
            <a:alphaModFix/>
          </a:blip>
          <a:srcRect b="0" l="0" r="0" t="0"/>
          <a:stretch/>
        </p:blipFill>
        <p:spPr>
          <a:xfrm>
            <a:off x="685800" y="2652712"/>
            <a:ext cx="7772400" cy="2771775"/>
          </a:xfrm>
          <a:prstGeom prst="rect">
            <a:avLst/>
          </a:prstGeom>
          <a:noFill/>
          <a:ln>
            <a:noFill/>
          </a:ln>
        </p:spPr>
      </p:pic>
      <p:sp>
        <p:nvSpPr>
          <p:cNvPr id="165" name="Google Shape;165;p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66" name="Google Shape;166;p7"/>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Greedy Search: Example</a:t>
            </a:r>
            <a:endParaRPr/>
          </a:p>
        </p:txBody>
      </p:sp>
      <p:pic>
        <p:nvPicPr>
          <p:cNvPr id="172" name="Google Shape;172;p8"/>
          <p:cNvPicPr preferRelativeResize="0"/>
          <p:nvPr>
            <p:ph idx="1" type="body"/>
          </p:nvPr>
        </p:nvPicPr>
        <p:blipFill rotWithShape="1">
          <a:blip r:embed="rId3">
            <a:alphaModFix/>
          </a:blip>
          <a:srcRect b="0" l="0" r="0" t="0"/>
          <a:stretch/>
        </p:blipFill>
        <p:spPr>
          <a:xfrm>
            <a:off x="738187" y="2276475"/>
            <a:ext cx="7666037" cy="3524250"/>
          </a:xfrm>
          <a:prstGeom prst="rect">
            <a:avLst/>
          </a:prstGeom>
          <a:noFill/>
          <a:ln>
            <a:noFill/>
          </a:ln>
        </p:spPr>
      </p:pic>
      <p:sp>
        <p:nvSpPr>
          <p:cNvPr id="173" name="Google Shape;173;p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74" name="Google Shape;174;p8"/>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Greedy Search: Example</a:t>
            </a:r>
            <a:endParaRPr/>
          </a:p>
        </p:txBody>
      </p:sp>
      <p:pic>
        <p:nvPicPr>
          <p:cNvPr id="180" name="Google Shape;180;p9"/>
          <p:cNvPicPr preferRelativeResize="0"/>
          <p:nvPr>
            <p:ph idx="1" type="body"/>
          </p:nvPr>
        </p:nvPicPr>
        <p:blipFill rotWithShape="1">
          <a:blip r:embed="rId3">
            <a:alphaModFix/>
          </a:blip>
          <a:srcRect b="0" l="0" r="0" t="0"/>
          <a:stretch/>
        </p:blipFill>
        <p:spPr>
          <a:xfrm>
            <a:off x="1219200" y="1600200"/>
            <a:ext cx="6934200" cy="2651125"/>
          </a:xfrm>
          <a:prstGeom prst="rect">
            <a:avLst/>
          </a:prstGeom>
          <a:noFill/>
          <a:ln>
            <a:noFill/>
          </a:ln>
        </p:spPr>
      </p:pic>
      <p:sp>
        <p:nvSpPr>
          <p:cNvPr id="181" name="Google Shape;181;p9"/>
          <p:cNvSpPr txBox="1"/>
          <p:nvPr>
            <p:ph idx="1" type="body"/>
          </p:nvPr>
        </p:nvSpPr>
        <p:spPr>
          <a:xfrm>
            <a:off x="685800" y="4495800"/>
            <a:ext cx="7772400" cy="19812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Goal reached</a:t>
            </a:r>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For this example no node is expanded that is not on the solution path</a:t>
            </a:r>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But not optimal (see Arad, Sibiu, Rimnicu Vilcea, Pitesti)</a:t>
            </a:r>
            <a:endParaRPr/>
          </a:p>
        </p:txBody>
      </p:sp>
      <p:sp>
        <p:nvSpPr>
          <p:cNvPr id="182" name="Google Shape;182;p9"/>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83" name="Google Shape;183;p9"/>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Greedy Search: Evaluation</a:t>
            </a:r>
            <a:endParaRPr/>
          </a:p>
        </p:txBody>
      </p:sp>
      <p:sp>
        <p:nvSpPr>
          <p:cNvPr id="189" name="Google Shape;189;p10"/>
          <p:cNvSpPr txBox="1"/>
          <p:nvPr>
            <p:ph idx="1" type="body"/>
          </p:nvPr>
        </p:nvSpPr>
        <p:spPr>
          <a:xfrm>
            <a:off x="685800" y="1219200"/>
            <a:ext cx="7772400" cy="19812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Complete or optimal: no</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Minimizing </a:t>
            </a:r>
            <a:r>
              <a:rPr b="0" i="1" lang="en-US" sz="2400" u="none">
                <a:solidFill>
                  <a:schemeClr val="dk1"/>
                </a:solidFill>
                <a:latin typeface="Arial"/>
                <a:ea typeface="Arial"/>
                <a:cs typeface="Arial"/>
                <a:sym typeface="Arial"/>
              </a:rPr>
              <a:t>h</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 can result in false starts, e.g. Iasi to Fagaras</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Check on repeated states</a:t>
            </a:r>
            <a:endParaRPr/>
          </a:p>
        </p:txBody>
      </p:sp>
      <p:graphicFrame>
        <p:nvGraphicFramePr>
          <p:cNvPr id="190" name="Google Shape;190;p10"/>
          <p:cNvGraphicFramePr/>
          <p:nvPr/>
        </p:nvGraphicFramePr>
        <p:xfrm>
          <a:off x="2050400" y="3482225"/>
          <a:ext cx="5105400" cy="3533700"/>
        </p:xfrm>
        <a:graphic>
          <a:graphicData uri="http://schemas.openxmlformats.org/presentationml/2006/ole">
            <mc:AlternateContent>
              <mc:Choice Requires="v">
                <p:oleObj r:id="rId4" imgH="3533700" imgW="5105400" progId="Paint.Picture" spid="_x0000_s1">
                  <p:embed/>
                </p:oleObj>
              </mc:Choice>
              <mc:Fallback>
                <p:oleObj r:id="rId5" imgH="3533700" imgW="5105400" progId="Paint.Picture">
                  <p:embed/>
                  <p:pic>
                    <p:nvPicPr>
                      <p:cNvPr id="190" name="Google Shape;190;p10"/>
                      <p:cNvPicPr preferRelativeResize="0"/>
                      <p:nvPr>
                        <p:ph idx="1" type="body"/>
                      </p:nvPr>
                    </p:nvPicPr>
                    <p:blipFill rotWithShape="1">
                      <a:blip r:embed="rId6">
                        <a:alphaModFix/>
                      </a:blip>
                      <a:srcRect b="0" l="0" r="0" t="0"/>
                      <a:stretch/>
                    </p:blipFill>
                    <p:spPr>
                      <a:xfrm>
                        <a:off x="2050400" y="3482225"/>
                        <a:ext cx="5105400" cy="3533700"/>
                      </a:xfrm>
                      <a:prstGeom prst="rect">
                        <a:avLst/>
                      </a:prstGeom>
                      <a:noFill/>
                      <a:ln>
                        <a:noFill/>
                      </a:ln>
                    </p:spPr>
                  </p:pic>
                </p:oleObj>
              </mc:Fallback>
            </mc:AlternateContent>
          </a:graphicData>
        </a:graphic>
      </p:graphicFrame>
      <p:sp>
        <p:nvSpPr>
          <p:cNvPr id="191" name="Google Shape;191;p10"/>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92" name="Google Shape;192;p10"/>
          <p:cNvPicPr preferRelativeResize="0"/>
          <p:nvPr/>
        </p:nvPicPr>
        <p:blipFill rotWithShape="1">
          <a:blip r:embed="rId7">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Greedy Search: Evaluation</a:t>
            </a:r>
            <a:endParaRPr/>
          </a:p>
        </p:txBody>
      </p:sp>
      <p:sp>
        <p:nvSpPr>
          <p:cNvPr id="199" name="Google Shape;199;p1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Time and space complexity:</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In the worst case all the nodes in the search tree are generated: </a:t>
            </a:r>
            <a:r>
              <a:rPr b="0" i="1" lang="en-US" sz="2800" u="none">
                <a:solidFill>
                  <a:schemeClr val="dk1"/>
                </a:solidFill>
                <a:latin typeface="Arial"/>
                <a:ea typeface="Arial"/>
                <a:cs typeface="Arial"/>
                <a:sym typeface="Arial"/>
              </a:rPr>
              <a:t>O(b</a:t>
            </a:r>
            <a:r>
              <a:rPr b="0" baseline="30000" i="1" lang="en-US" sz="2800" u="none">
                <a:solidFill>
                  <a:schemeClr val="dk1"/>
                </a:solidFill>
                <a:latin typeface="Arial"/>
                <a:ea typeface="Arial"/>
                <a:cs typeface="Arial"/>
                <a:sym typeface="Arial"/>
              </a:rPr>
              <a:t>m</a:t>
            </a:r>
            <a:r>
              <a:rPr b="0" i="1" lang="en-US" sz="2800" u="none">
                <a:solidFill>
                  <a:schemeClr val="dk1"/>
                </a:solidFill>
                <a:latin typeface="Arial"/>
                <a:ea typeface="Arial"/>
                <a:cs typeface="Arial"/>
                <a:sym typeface="Arial"/>
              </a:rPr>
              <a:t> )</a:t>
            </a:r>
            <a:endParaRPr/>
          </a:p>
          <a:p>
            <a:pPr indent="-285750" lvl="1" marL="742950" rtl="0" algn="just">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1" lang="en-US" sz="2800" u="none">
                <a:solidFill>
                  <a:srgbClr val="0000FF"/>
                </a:solidFill>
                <a:latin typeface="Arial"/>
                <a:ea typeface="Arial"/>
                <a:cs typeface="Arial"/>
                <a:sym typeface="Arial"/>
              </a:rPr>
              <a:t>m</a:t>
            </a:r>
            <a:r>
              <a:rPr b="0" i="0" lang="en-US" sz="2800" u="none">
                <a:solidFill>
                  <a:schemeClr val="dk1"/>
                </a:solidFill>
                <a:latin typeface="Arial"/>
                <a:ea typeface="Arial"/>
                <a:cs typeface="Arial"/>
                <a:sym typeface="Arial"/>
              </a:rPr>
              <a:t> is maximum depth of search tree and </a:t>
            </a:r>
            <a:r>
              <a:rPr b="0" i="1" lang="en-US" sz="2800" u="none">
                <a:solidFill>
                  <a:srgbClr val="0000FF"/>
                </a:solidFill>
                <a:latin typeface="Arial"/>
                <a:ea typeface="Arial"/>
                <a:cs typeface="Arial"/>
                <a:sym typeface="Arial"/>
              </a:rPr>
              <a:t>b</a:t>
            </a:r>
            <a:r>
              <a:rPr b="0" i="0" lang="en-US" sz="2800" u="none">
                <a:solidFill>
                  <a:schemeClr val="dk1"/>
                </a:solidFill>
                <a:latin typeface="Arial"/>
                <a:ea typeface="Arial"/>
                <a:cs typeface="Arial"/>
                <a:sym typeface="Arial"/>
              </a:rPr>
              <a:t> is branching factor)</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But: choice of a good heuristic can give dramatic improvement</a:t>
            </a:r>
            <a:endParaRPr/>
          </a:p>
        </p:txBody>
      </p:sp>
      <p:sp>
        <p:nvSpPr>
          <p:cNvPr id="200" name="Google Shape;200;p1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01" name="Google Shape;201;p11"/>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2"/>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a:t>
            </a:r>
            <a:endParaRPr/>
          </a:p>
        </p:txBody>
      </p:sp>
      <p:sp>
        <p:nvSpPr>
          <p:cNvPr id="207" name="Google Shape;207;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Best-known form of best-first search</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Idea: avoid expanding paths that are already expensive</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Evaluation function </a:t>
            </a:r>
            <a:r>
              <a:rPr b="0" i="1" lang="en-US" sz="2800" u="none">
                <a:solidFill>
                  <a:schemeClr val="dk1"/>
                </a:solidFill>
                <a:latin typeface="Arial"/>
                <a:ea typeface="Arial"/>
                <a:cs typeface="Arial"/>
                <a:sym typeface="Arial"/>
              </a:rPr>
              <a:t>f(n)= g(n) + h(n)</a:t>
            </a:r>
            <a:endParaRPr/>
          </a:p>
          <a:p>
            <a:pPr indent="-285750" lvl="1" marL="742950" rtl="0" algn="just">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g(n): </a:t>
            </a:r>
            <a:r>
              <a:rPr b="0" i="0" lang="en-US" sz="2400" u="none">
                <a:solidFill>
                  <a:schemeClr val="dk1"/>
                </a:solidFill>
                <a:latin typeface="Arial"/>
                <a:ea typeface="Arial"/>
                <a:cs typeface="Arial"/>
                <a:sym typeface="Arial"/>
              </a:rPr>
              <a:t>the cost (so far) to reach the node</a:t>
            </a:r>
            <a:endParaRPr/>
          </a:p>
          <a:p>
            <a:pPr indent="-285750" lvl="1" marL="742950" rtl="0" algn="just">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h(n): </a:t>
            </a:r>
            <a:r>
              <a:rPr b="0" i="0" lang="en-US" sz="2400" u="none">
                <a:solidFill>
                  <a:schemeClr val="dk1"/>
                </a:solidFill>
                <a:latin typeface="Arial"/>
                <a:ea typeface="Arial"/>
                <a:cs typeface="Arial"/>
                <a:sym typeface="Arial"/>
              </a:rPr>
              <a:t>estimated cost to get from the node to the goal</a:t>
            </a:r>
            <a:endParaRPr/>
          </a:p>
          <a:p>
            <a:pPr indent="-285750" lvl="1" marL="742950" rtl="0" algn="just">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f(n): </a:t>
            </a:r>
            <a:r>
              <a:rPr b="0" i="0" lang="en-US" sz="2400" u="none">
                <a:solidFill>
                  <a:schemeClr val="dk1"/>
                </a:solidFill>
                <a:latin typeface="Arial"/>
                <a:ea typeface="Arial"/>
                <a:cs typeface="Arial"/>
                <a:sym typeface="Arial"/>
              </a:rPr>
              <a:t>estimated total cost of path through </a:t>
            </a:r>
            <a:r>
              <a:rPr b="0" i="1" lang="en-US" sz="2400" u="none">
                <a:solidFill>
                  <a:schemeClr val="dk1"/>
                </a:solidFill>
                <a:latin typeface="Arial"/>
                <a:ea typeface="Arial"/>
                <a:cs typeface="Arial"/>
                <a:sym typeface="Arial"/>
              </a:rPr>
              <a:t>n </a:t>
            </a:r>
            <a:r>
              <a:rPr b="0" i="0" lang="en-US" sz="2400" u="none">
                <a:solidFill>
                  <a:schemeClr val="dk1"/>
                </a:solidFill>
                <a:latin typeface="Arial"/>
                <a:ea typeface="Arial"/>
                <a:cs typeface="Arial"/>
                <a:sym typeface="Arial"/>
              </a:rPr>
              <a:t>to goal</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A* search is both complete and optimal if </a:t>
            </a:r>
            <a:r>
              <a:rPr b="0" i="1" lang="en-US" sz="2800" u="none">
                <a:solidFill>
                  <a:schemeClr val="dk1"/>
                </a:solidFill>
                <a:latin typeface="Arial"/>
                <a:ea typeface="Arial"/>
                <a:cs typeface="Arial"/>
                <a:sym typeface="Arial"/>
              </a:rPr>
              <a:t>h(n) </a:t>
            </a:r>
            <a:r>
              <a:rPr b="0" i="0" lang="en-US" sz="2800" u="none">
                <a:solidFill>
                  <a:schemeClr val="dk1"/>
                </a:solidFill>
                <a:latin typeface="Arial"/>
                <a:ea typeface="Arial"/>
                <a:cs typeface="Arial"/>
                <a:sym typeface="Arial"/>
              </a:rPr>
              <a:t>satisfies certain conditions</a:t>
            </a:r>
            <a:endParaRPr/>
          </a:p>
        </p:txBody>
      </p:sp>
      <p:sp>
        <p:nvSpPr>
          <p:cNvPr id="208" name="Google Shape;208;p1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09" name="Google Shape;209;p12"/>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3"/>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a:t>
            </a:r>
            <a:endParaRPr/>
          </a:p>
        </p:txBody>
      </p:sp>
      <p:sp>
        <p:nvSpPr>
          <p:cNvPr id="215" name="Google Shape;215;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search is optimal if h(n) is an </a:t>
            </a:r>
            <a:r>
              <a:rPr b="1" i="0" lang="en-US" sz="2800" u="none">
                <a:solidFill>
                  <a:schemeClr val="dk1"/>
                </a:solidFill>
                <a:latin typeface="Arial"/>
                <a:ea typeface="Arial"/>
                <a:cs typeface="Arial"/>
                <a:sym typeface="Arial"/>
              </a:rPr>
              <a:t>admissible heuristic</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heuristic is admissible if it </a:t>
            </a:r>
            <a:r>
              <a:rPr b="0" i="1" lang="en-US" sz="2800" u="none">
                <a:solidFill>
                  <a:schemeClr val="dk1"/>
                </a:solidFill>
                <a:latin typeface="Arial"/>
                <a:ea typeface="Arial"/>
                <a:cs typeface="Arial"/>
                <a:sym typeface="Arial"/>
              </a:rPr>
              <a:t>never overestimates </a:t>
            </a:r>
            <a:r>
              <a:rPr b="0" i="0" lang="en-US" sz="2800" u="none">
                <a:solidFill>
                  <a:schemeClr val="dk1"/>
                </a:solidFill>
                <a:latin typeface="Arial"/>
                <a:ea typeface="Arial"/>
                <a:cs typeface="Arial"/>
                <a:sym typeface="Arial"/>
              </a:rPr>
              <a:t>the cost to reach the goal</a:t>
            </a:r>
            <a:endParaRPr/>
          </a:p>
          <a:p>
            <a:pPr indent="-285750" lvl="1" marL="742950" rtl="0" algn="just">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h(n) ≤ h*(n) </a:t>
            </a:r>
            <a:r>
              <a:rPr b="0" i="0" lang="en-US" sz="2400" u="none">
                <a:solidFill>
                  <a:schemeClr val="dk1"/>
                </a:solidFill>
                <a:latin typeface="Arial"/>
                <a:ea typeface="Arial"/>
                <a:cs typeface="Arial"/>
                <a:sym typeface="Arial"/>
              </a:rPr>
              <a:t>where </a:t>
            </a:r>
            <a:r>
              <a:rPr b="0" i="1" lang="en-US" sz="2400" u="none">
                <a:solidFill>
                  <a:schemeClr val="dk1"/>
                </a:solidFill>
                <a:latin typeface="Arial"/>
                <a:ea typeface="Arial"/>
                <a:cs typeface="Arial"/>
                <a:sym typeface="Arial"/>
              </a:rPr>
              <a:t>h*(n) </a:t>
            </a:r>
            <a:r>
              <a:rPr b="0" i="0" lang="en-US" sz="2400" u="none">
                <a:solidFill>
                  <a:schemeClr val="dk1"/>
                </a:solidFill>
                <a:latin typeface="Arial"/>
                <a:ea typeface="Arial"/>
                <a:cs typeface="Arial"/>
                <a:sym typeface="Arial"/>
              </a:rPr>
              <a:t>is the true cost from </a:t>
            </a:r>
            <a:r>
              <a:rPr b="0" i="1" lang="en-US" sz="2400" u="none">
                <a:solidFill>
                  <a:schemeClr val="dk1"/>
                </a:solidFill>
                <a:latin typeface="Arial"/>
                <a:ea typeface="Arial"/>
                <a:cs typeface="Arial"/>
                <a:sym typeface="Arial"/>
              </a:rPr>
              <a:t>n</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Admissible heuristics are optimistic about the cost of solving the problem</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e.g. </a:t>
            </a:r>
            <a:r>
              <a:rPr b="0" i="1" lang="en-US" sz="2800" u="none">
                <a:solidFill>
                  <a:schemeClr val="dk1"/>
                </a:solidFill>
                <a:latin typeface="Arial"/>
                <a:ea typeface="Arial"/>
                <a:cs typeface="Arial"/>
                <a:sym typeface="Arial"/>
              </a:rPr>
              <a:t>h</a:t>
            </a:r>
            <a:r>
              <a:rPr b="0" baseline="-25000" i="1" lang="en-US" sz="2800" u="none">
                <a:solidFill>
                  <a:schemeClr val="dk1"/>
                </a:solidFill>
                <a:latin typeface="Arial"/>
                <a:ea typeface="Arial"/>
                <a:cs typeface="Arial"/>
                <a:sym typeface="Arial"/>
              </a:rPr>
              <a:t>SLD</a:t>
            </a:r>
            <a:r>
              <a:rPr b="0" i="1" lang="en-US" sz="2800" u="none">
                <a:solidFill>
                  <a:schemeClr val="dk1"/>
                </a:solidFill>
                <a:latin typeface="Arial"/>
                <a:ea typeface="Arial"/>
                <a:cs typeface="Arial"/>
                <a:sym typeface="Arial"/>
              </a:rPr>
              <a:t>(n) </a:t>
            </a:r>
            <a:r>
              <a:rPr b="0" i="0" lang="en-US" sz="2800" u="none">
                <a:solidFill>
                  <a:schemeClr val="dk1"/>
                </a:solidFill>
                <a:latin typeface="Arial"/>
                <a:ea typeface="Arial"/>
                <a:cs typeface="Arial"/>
                <a:sym typeface="Arial"/>
              </a:rPr>
              <a:t>never overestimates the actual road distance</a:t>
            </a:r>
            <a:endParaRPr/>
          </a:p>
        </p:txBody>
      </p:sp>
      <p:sp>
        <p:nvSpPr>
          <p:cNvPr id="216" name="Google Shape;216;p1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17" name="Google Shape;217;p13"/>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nvSpPr>
        <p:spPr>
          <a:xfrm>
            <a:off x="457200" y="0"/>
            <a:ext cx="8229600" cy="99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Romania Example</a:t>
            </a:r>
            <a:endParaRPr/>
          </a:p>
        </p:txBody>
      </p:sp>
      <p:pic>
        <p:nvPicPr>
          <p:cNvPr id="223" name="Google Shape;223;p14"/>
          <p:cNvPicPr preferRelativeResize="0"/>
          <p:nvPr/>
        </p:nvPicPr>
        <p:blipFill rotWithShape="1">
          <a:blip r:embed="rId3">
            <a:alphaModFix/>
          </a:blip>
          <a:srcRect b="0" l="0" r="0" t="0"/>
          <a:stretch/>
        </p:blipFill>
        <p:spPr>
          <a:xfrm>
            <a:off x="0" y="2268537"/>
            <a:ext cx="6629400" cy="4589462"/>
          </a:xfrm>
          <a:prstGeom prst="rect">
            <a:avLst/>
          </a:prstGeom>
          <a:noFill/>
          <a:ln>
            <a:noFill/>
          </a:ln>
        </p:spPr>
      </p:pic>
      <p:sp>
        <p:nvSpPr>
          <p:cNvPr id="224" name="Google Shape;224;p1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25" name="Google Shape;225;p14"/>
          <p:cNvPicPr preferRelativeResize="0"/>
          <p:nvPr/>
        </p:nvPicPr>
        <p:blipFill rotWithShape="1">
          <a:blip r:embed="rId4">
            <a:alphaModFix/>
          </a:blip>
          <a:srcRect b="0" l="0" r="0" t="0"/>
          <a:stretch/>
        </p:blipFill>
        <p:spPr>
          <a:xfrm>
            <a:off x="8229600" y="0"/>
            <a:ext cx="914400" cy="914400"/>
          </a:xfrm>
          <a:prstGeom prst="rect">
            <a:avLst/>
          </a:prstGeom>
          <a:noFill/>
          <a:ln>
            <a:noFill/>
          </a:ln>
        </p:spPr>
      </p:pic>
      <p:pic>
        <p:nvPicPr>
          <p:cNvPr id="226" name="Google Shape;226;p14"/>
          <p:cNvPicPr preferRelativeResize="0"/>
          <p:nvPr/>
        </p:nvPicPr>
        <p:blipFill rotWithShape="1">
          <a:blip r:embed="rId5">
            <a:alphaModFix/>
          </a:blip>
          <a:srcRect b="0" l="0" r="0" t="0"/>
          <a:stretch/>
        </p:blipFill>
        <p:spPr>
          <a:xfrm>
            <a:off x="5257800" y="966787"/>
            <a:ext cx="3886200" cy="1928812"/>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Example</a:t>
            </a:r>
            <a:endParaRPr/>
          </a:p>
        </p:txBody>
      </p:sp>
      <p:pic>
        <p:nvPicPr>
          <p:cNvPr id="232" name="Google Shape;232;p15"/>
          <p:cNvPicPr preferRelativeResize="0"/>
          <p:nvPr>
            <p:ph idx="1" type="body"/>
          </p:nvPr>
        </p:nvPicPr>
        <p:blipFill rotWithShape="1">
          <a:blip r:embed="rId3">
            <a:alphaModFix/>
          </a:blip>
          <a:srcRect b="0" l="0" r="0" t="0"/>
          <a:stretch/>
        </p:blipFill>
        <p:spPr>
          <a:xfrm>
            <a:off x="609600" y="2057400"/>
            <a:ext cx="6172200" cy="800100"/>
          </a:xfrm>
          <a:prstGeom prst="rect">
            <a:avLst/>
          </a:prstGeom>
          <a:noFill/>
          <a:ln>
            <a:noFill/>
          </a:ln>
        </p:spPr>
      </p:pic>
      <p:sp>
        <p:nvSpPr>
          <p:cNvPr id="233" name="Google Shape;233;p15"/>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34" name="Google Shape;234;p15"/>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16"/>
          <p:cNvPicPr preferRelativeResize="0"/>
          <p:nvPr>
            <p:ph idx="1" type="body"/>
          </p:nvPr>
        </p:nvPicPr>
        <p:blipFill rotWithShape="1">
          <a:blip r:embed="rId3">
            <a:alphaModFix/>
          </a:blip>
          <a:srcRect b="0" l="0" r="0" t="0"/>
          <a:stretch/>
        </p:blipFill>
        <p:spPr>
          <a:xfrm>
            <a:off x="609600" y="2057400"/>
            <a:ext cx="7772400" cy="1628775"/>
          </a:xfrm>
          <a:prstGeom prst="rect">
            <a:avLst/>
          </a:prstGeom>
          <a:noFill/>
          <a:ln>
            <a:noFill/>
          </a:ln>
        </p:spPr>
      </p:pic>
      <p:sp>
        <p:nvSpPr>
          <p:cNvPr id="240" name="Google Shape;240;p16"/>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Example</a:t>
            </a:r>
            <a:endParaRPr/>
          </a:p>
        </p:txBody>
      </p:sp>
      <p:sp>
        <p:nvSpPr>
          <p:cNvPr id="241" name="Google Shape;241;p1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42" name="Google Shape;242;p16"/>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17"/>
          <p:cNvPicPr preferRelativeResize="0"/>
          <p:nvPr>
            <p:ph idx="1" type="body"/>
          </p:nvPr>
        </p:nvPicPr>
        <p:blipFill rotWithShape="1">
          <a:blip r:embed="rId3">
            <a:alphaModFix/>
          </a:blip>
          <a:srcRect b="0" l="0" r="0" t="0"/>
          <a:stretch/>
        </p:blipFill>
        <p:spPr>
          <a:xfrm>
            <a:off x="762000" y="2057400"/>
            <a:ext cx="7772400" cy="2049462"/>
          </a:xfrm>
          <a:prstGeom prst="rect">
            <a:avLst/>
          </a:prstGeom>
          <a:noFill/>
          <a:ln>
            <a:noFill/>
          </a:ln>
        </p:spPr>
      </p:pic>
      <p:sp>
        <p:nvSpPr>
          <p:cNvPr id="248" name="Google Shape;248;p17"/>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Example</a:t>
            </a:r>
            <a:endParaRPr/>
          </a:p>
        </p:txBody>
      </p:sp>
      <p:sp>
        <p:nvSpPr>
          <p:cNvPr id="249" name="Google Shape;249;p17"/>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50" name="Google Shape;250;p17"/>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18"/>
          <p:cNvPicPr preferRelativeResize="0"/>
          <p:nvPr>
            <p:ph idx="1" type="body"/>
          </p:nvPr>
        </p:nvPicPr>
        <p:blipFill rotWithShape="1">
          <a:blip r:embed="rId3">
            <a:alphaModFix/>
          </a:blip>
          <a:srcRect b="0" l="0" r="0" t="0"/>
          <a:stretch/>
        </p:blipFill>
        <p:spPr>
          <a:xfrm>
            <a:off x="685800" y="1905000"/>
            <a:ext cx="7772400" cy="2614612"/>
          </a:xfrm>
          <a:prstGeom prst="rect">
            <a:avLst/>
          </a:prstGeom>
          <a:noFill/>
          <a:ln>
            <a:noFill/>
          </a:ln>
        </p:spPr>
      </p:pic>
      <p:sp>
        <p:nvSpPr>
          <p:cNvPr id="256" name="Google Shape;256;p18"/>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Example</a:t>
            </a:r>
            <a:endParaRPr/>
          </a:p>
        </p:txBody>
      </p:sp>
      <p:sp>
        <p:nvSpPr>
          <p:cNvPr id="257" name="Google Shape;257;p18"/>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58" name="Google Shape;258;p18"/>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19"/>
          <p:cNvPicPr preferRelativeResize="0"/>
          <p:nvPr>
            <p:ph idx="1" type="body"/>
          </p:nvPr>
        </p:nvPicPr>
        <p:blipFill rotWithShape="1">
          <a:blip r:embed="rId3">
            <a:alphaModFix/>
          </a:blip>
          <a:srcRect b="0" l="0" r="0" t="0"/>
          <a:stretch/>
        </p:blipFill>
        <p:spPr>
          <a:xfrm>
            <a:off x="685800" y="2057400"/>
            <a:ext cx="7772400" cy="2725737"/>
          </a:xfrm>
          <a:prstGeom prst="rect">
            <a:avLst/>
          </a:prstGeom>
          <a:noFill/>
          <a:ln>
            <a:noFill/>
          </a:ln>
        </p:spPr>
      </p:pic>
      <p:sp>
        <p:nvSpPr>
          <p:cNvPr id="264" name="Google Shape;264;p19"/>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Example</a:t>
            </a:r>
            <a:endParaRPr/>
          </a:p>
        </p:txBody>
      </p:sp>
      <p:sp>
        <p:nvSpPr>
          <p:cNvPr id="265" name="Google Shape;265;p19"/>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66" name="Google Shape;266;p19"/>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20"/>
          <p:cNvPicPr preferRelativeResize="0"/>
          <p:nvPr>
            <p:ph idx="1" type="body"/>
          </p:nvPr>
        </p:nvPicPr>
        <p:blipFill rotWithShape="1">
          <a:blip r:embed="rId3">
            <a:alphaModFix/>
          </a:blip>
          <a:srcRect b="0" l="0" r="0" t="0"/>
          <a:stretch/>
        </p:blipFill>
        <p:spPr>
          <a:xfrm>
            <a:off x="685800" y="2057400"/>
            <a:ext cx="7772400" cy="3198812"/>
          </a:xfrm>
          <a:prstGeom prst="rect">
            <a:avLst/>
          </a:prstGeom>
          <a:noFill/>
          <a:ln>
            <a:noFill/>
          </a:ln>
        </p:spPr>
      </p:pic>
      <p:sp>
        <p:nvSpPr>
          <p:cNvPr id="272" name="Google Shape;272;p20"/>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Example</a:t>
            </a:r>
            <a:endParaRPr/>
          </a:p>
        </p:txBody>
      </p:sp>
      <p:sp>
        <p:nvSpPr>
          <p:cNvPr id="273" name="Google Shape;273;p20"/>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74" name="Google Shape;274;p20"/>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1"/>
          <p:cNvSpPr txBox="1"/>
          <p:nvPr>
            <p:ph type="title"/>
          </p:nvPr>
        </p:nvSpPr>
        <p:spPr>
          <a:xfrm>
            <a:off x="685800" y="7620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Optimality of A*</a:t>
            </a:r>
            <a:endParaRPr/>
          </a:p>
        </p:txBody>
      </p:sp>
      <p:sp>
        <p:nvSpPr>
          <p:cNvPr id="280" name="Google Shape;280;p21"/>
          <p:cNvSpPr txBox="1"/>
          <p:nvPr>
            <p:ph idx="1" type="body"/>
          </p:nvPr>
        </p:nvSpPr>
        <p:spPr>
          <a:xfrm>
            <a:off x="228600" y="1066800"/>
            <a:ext cx="8610600" cy="57150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Suppose a suboptimal goal node </a:t>
            </a:r>
            <a:r>
              <a:rPr b="0" i="1" lang="en-US" sz="2800" u="none">
                <a:solidFill>
                  <a:schemeClr val="dk1"/>
                </a:solidFill>
                <a:latin typeface="Arial"/>
                <a:ea typeface="Arial"/>
                <a:cs typeface="Arial"/>
                <a:sym typeface="Arial"/>
              </a:rPr>
              <a:t>G</a:t>
            </a:r>
            <a:r>
              <a:rPr b="0" baseline="-25000" i="1"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appears on the fringe and let the cost of the optimal solution be </a:t>
            </a:r>
            <a:r>
              <a:rPr b="0" i="1" lang="en-US" sz="2800" u="none">
                <a:solidFill>
                  <a:schemeClr val="dk1"/>
                </a:solidFill>
                <a:latin typeface="Arial"/>
                <a:ea typeface="Arial"/>
                <a:cs typeface="Arial"/>
                <a:sym typeface="Arial"/>
              </a:rPr>
              <a:t>C*.</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Since </a:t>
            </a:r>
            <a:r>
              <a:rPr b="0" i="1" lang="en-US" sz="2800" u="none">
                <a:solidFill>
                  <a:schemeClr val="dk1"/>
                </a:solidFill>
                <a:latin typeface="Arial"/>
                <a:ea typeface="Arial"/>
                <a:cs typeface="Arial"/>
                <a:sym typeface="Arial"/>
              </a:rPr>
              <a:t>G</a:t>
            </a:r>
            <a:r>
              <a:rPr b="0" baseline="-25000" i="1"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is suboptimal and </a:t>
            </a:r>
            <a:endParaRPr/>
          </a:p>
          <a:p>
            <a:pPr indent="-342900" lvl="0" marL="34290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h(G</a:t>
            </a:r>
            <a:r>
              <a:rPr b="0" baseline="-25000" i="1" lang="en-US" sz="2800" u="none">
                <a:solidFill>
                  <a:schemeClr val="dk1"/>
                </a:solidFill>
                <a:latin typeface="Arial"/>
                <a:ea typeface="Arial"/>
                <a:cs typeface="Arial"/>
                <a:sym typeface="Arial"/>
              </a:rPr>
              <a:t>2</a:t>
            </a:r>
            <a:r>
              <a:rPr b="0" i="1"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 0 (true for any goal node),</a:t>
            </a:r>
            <a:endParaRPr/>
          </a:p>
          <a:p>
            <a:pPr indent="-342900" lvl="0" marL="34290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we know that </a:t>
            </a:r>
            <a:r>
              <a:rPr b="0" i="1" lang="en-US" sz="2800" u="none">
                <a:solidFill>
                  <a:schemeClr val="dk1"/>
                </a:solidFill>
                <a:latin typeface="Arial"/>
                <a:ea typeface="Arial"/>
                <a:cs typeface="Arial"/>
                <a:sym typeface="Arial"/>
              </a:rPr>
              <a:t>f(G</a:t>
            </a:r>
            <a:r>
              <a:rPr b="0" baseline="-25000" i="1" lang="en-US" sz="2800" u="none">
                <a:solidFill>
                  <a:schemeClr val="dk1"/>
                </a:solidFill>
                <a:latin typeface="Arial"/>
                <a:ea typeface="Arial"/>
                <a:cs typeface="Arial"/>
                <a:sym typeface="Arial"/>
              </a:rPr>
              <a:t>2</a:t>
            </a:r>
            <a:r>
              <a:rPr b="0" i="1"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g(G</a:t>
            </a:r>
            <a:r>
              <a:rPr b="0" baseline="-25000" i="1" lang="en-US" sz="2800" u="none">
                <a:solidFill>
                  <a:schemeClr val="dk1"/>
                </a:solidFill>
                <a:latin typeface="Arial"/>
                <a:ea typeface="Arial"/>
                <a:cs typeface="Arial"/>
                <a:sym typeface="Arial"/>
              </a:rPr>
              <a:t>2</a:t>
            </a:r>
            <a:r>
              <a:rPr b="0" i="1"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h(G</a:t>
            </a:r>
            <a:r>
              <a:rPr b="0" baseline="-25000" i="1" lang="en-US" sz="2800" u="none">
                <a:solidFill>
                  <a:schemeClr val="dk1"/>
                </a:solidFill>
                <a:latin typeface="Arial"/>
                <a:ea typeface="Arial"/>
                <a:cs typeface="Arial"/>
                <a:sym typeface="Arial"/>
              </a:rPr>
              <a:t>2</a:t>
            </a:r>
            <a:r>
              <a:rPr b="0" i="1"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g(G</a:t>
            </a:r>
            <a:r>
              <a:rPr b="0" baseline="-25000" i="1" lang="en-US" sz="2800" u="none">
                <a:solidFill>
                  <a:schemeClr val="dk1"/>
                </a:solidFill>
                <a:latin typeface="Arial"/>
                <a:ea typeface="Arial"/>
                <a:cs typeface="Arial"/>
                <a:sym typeface="Arial"/>
              </a:rPr>
              <a:t>2</a:t>
            </a:r>
            <a:r>
              <a:rPr b="0" i="1"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&gt; </a:t>
            </a:r>
            <a:r>
              <a:rPr b="0" i="1" lang="en-US" sz="2800" u="none">
                <a:solidFill>
                  <a:schemeClr val="dk1"/>
                </a:solidFill>
                <a:latin typeface="Arial"/>
                <a:ea typeface="Arial"/>
                <a:cs typeface="Arial"/>
                <a:sym typeface="Arial"/>
              </a:rPr>
              <a:t>C*</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Now consider a fringe node </a:t>
            </a:r>
            <a:r>
              <a:rPr b="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 that is on an optimal solution path.</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If </a:t>
            </a:r>
            <a:r>
              <a:rPr b="0" i="1" lang="en-US" sz="2800" u="none">
                <a:solidFill>
                  <a:schemeClr val="dk1"/>
                </a:solidFill>
                <a:latin typeface="Arial"/>
                <a:ea typeface="Arial"/>
                <a:cs typeface="Arial"/>
                <a:sym typeface="Arial"/>
              </a:rPr>
              <a:t>h(n)</a:t>
            </a:r>
            <a:r>
              <a:rPr b="0" i="0" lang="en-US" sz="2800" u="none">
                <a:solidFill>
                  <a:schemeClr val="dk1"/>
                </a:solidFill>
                <a:latin typeface="Arial"/>
                <a:ea typeface="Arial"/>
                <a:cs typeface="Arial"/>
                <a:sym typeface="Arial"/>
              </a:rPr>
              <a:t> does not overestimate the cost of completing the solution path,</a:t>
            </a:r>
            <a:endParaRPr/>
          </a:p>
          <a:p>
            <a:pPr indent="-342900" lvl="0" marL="34290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then we know that </a:t>
            </a:r>
            <a:r>
              <a:rPr b="0" i="1" lang="en-US" sz="2800" u="none">
                <a:solidFill>
                  <a:schemeClr val="dk1"/>
                </a:solidFill>
                <a:latin typeface="Arial"/>
                <a:ea typeface="Arial"/>
                <a:cs typeface="Arial"/>
                <a:sym typeface="Arial"/>
              </a:rPr>
              <a:t>f(n)</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g(n)</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h(n)</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C*</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Since </a:t>
            </a:r>
            <a:r>
              <a:rPr b="0" i="1" lang="en-US" sz="2800" u="none">
                <a:solidFill>
                  <a:schemeClr val="dk1"/>
                </a:solidFill>
                <a:latin typeface="Arial"/>
                <a:ea typeface="Arial"/>
                <a:cs typeface="Arial"/>
                <a:sym typeface="Arial"/>
              </a:rPr>
              <a:t>f(n)</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C*</a:t>
            </a:r>
            <a:r>
              <a:rPr b="0" i="0" lang="en-US" sz="2800" u="none">
                <a:solidFill>
                  <a:schemeClr val="dk1"/>
                </a:solidFill>
                <a:latin typeface="Arial"/>
                <a:ea typeface="Arial"/>
                <a:cs typeface="Arial"/>
                <a:sym typeface="Arial"/>
              </a:rPr>
              <a:t> &lt; </a:t>
            </a:r>
            <a:r>
              <a:rPr b="0" i="1" lang="en-US" sz="2800" u="none">
                <a:solidFill>
                  <a:schemeClr val="dk1"/>
                </a:solidFill>
                <a:latin typeface="Arial"/>
                <a:ea typeface="Arial"/>
                <a:cs typeface="Arial"/>
                <a:sym typeface="Arial"/>
              </a:rPr>
              <a:t>f(G</a:t>
            </a:r>
            <a:r>
              <a:rPr b="0" baseline="-25000" i="1" lang="en-US" sz="2800" u="none">
                <a:solidFill>
                  <a:schemeClr val="dk1"/>
                </a:solidFill>
                <a:latin typeface="Arial"/>
                <a:ea typeface="Arial"/>
                <a:cs typeface="Arial"/>
                <a:sym typeface="Arial"/>
              </a:rPr>
              <a:t>2</a:t>
            </a:r>
            <a:r>
              <a:rPr b="0" i="1" lang="en-US" sz="2800" u="none">
                <a:solidFill>
                  <a:schemeClr val="dk1"/>
                </a:solidFill>
                <a:latin typeface="Arial"/>
                <a:ea typeface="Arial"/>
                <a:cs typeface="Arial"/>
                <a:sym typeface="Arial"/>
              </a:rPr>
              <a:t>), G</a:t>
            </a:r>
            <a:r>
              <a:rPr b="0" baseline="-25000" i="1"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will not be expanded and A* search must return an optimal solution.</a:t>
            </a:r>
            <a:endParaRPr/>
          </a:p>
        </p:txBody>
      </p:sp>
      <p:sp>
        <p:nvSpPr>
          <p:cNvPr id="281" name="Google Shape;281;p21"/>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82" name="Google Shape;282;p21"/>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2"/>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Evaluation</a:t>
            </a:r>
            <a:endParaRPr/>
          </a:p>
        </p:txBody>
      </p:sp>
      <p:sp>
        <p:nvSpPr>
          <p:cNvPr id="288" name="Google Shape;288;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Complete: yes</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Unless there are infinitely many nodes with     </a:t>
            </a:r>
            <a:r>
              <a:rPr b="0" i="1" lang="en-US" sz="2800" u="none">
                <a:solidFill>
                  <a:schemeClr val="dk1"/>
                </a:solidFill>
                <a:latin typeface="Arial"/>
                <a:ea typeface="Arial"/>
                <a:cs typeface="Arial"/>
                <a:sym typeface="Arial"/>
              </a:rPr>
              <a:t>f &lt; f(G)</a:t>
            </a:r>
            <a:endParaRPr b="0" i="0" sz="2800" u="none">
              <a:solidFill>
                <a:schemeClr val="dk1"/>
              </a:solidFill>
              <a:latin typeface="Arial"/>
              <a:ea typeface="Arial"/>
              <a:cs typeface="Arial"/>
              <a:sym typeface="Arial"/>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Optimal: yes</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is also </a:t>
            </a:r>
            <a:r>
              <a:rPr b="1" i="0" lang="en-US" sz="2800" u="none">
                <a:solidFill>
                  <a:schemeClr val="dk1"/>
                </a:solidFill>
                <a:latin typeface="Arial"/>
                <a:ea typeface="Arial"/>
                <a:cs typeface="Arial"/>
                <a:sym typeface="Arial"/>
              </a:rPr>
              <a:t>optimally efficient </a:t>
            </a:r>
            <a:r>
              <a:rPr b="0" i="0" lang="en-US" sz="2800" u="none">
                <a:solidFill>
                  <a:schemeClr val="dk1"/>
                </a:solidFill>
                <a:latin typeface="Arial"/>
                <a:ea typeface="Arial"/>
                <a:cs typeface="Arial"/>
                <a:sym typeface="Arial"/>
              </a:rPr>
              <a:t>for any given </a:t>
            </a:r>
            <a:r>
              <a:rPr b="0" i="1" lang="en-US" sz="2800" u="none">
                <a:solidFill>
                  <a:schemeClr val="dk1"/>
                </a:solidFill>
                <a:latin typeface="Arial"/>
                <a:ea typeface="Arial"/>
                <a:cs typeface="Arial"/>
                <a:sym typeface="Arial"/>
              </a:rPr>
              <a:t>h(n)</a:t>
            </a:r>
            <a:r>
              <a:rPr b="0" i="0" lang="en-US" sz="2800" u="none">
                <a:solidFill>
                  <a:schemeClr val="dk1"/>
                </a:solidFill>
                <a:latin typeface="Arial"/>
                <a:ea typeface="Arial"/>
                <a:cs typeface="Arial"/>
                <a:sym typeface="Arial"/>
              </a:rPr>
              <a:t>. That is, no other optimal algorithm is guaranteed to expand fewer nodes than A*.</a:t>
            </a:r>
            <a:endParaRPr/>
          </a:p>
        </p:txBody>
      </p:sp>
      <p:sp>
        <p:nvSpPr>
          <p:cNvPr id="289" name="Google Shape;289;p22"/>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90" name="Google Shape;290;p22"/>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3"/>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A* Search: Evaluation</a:t>
            </a:r>
            <a:endParaRPr/>
          </a:p>
        </p:txBody>
      </p:sp>
      <p:sp>
        <p:nvSpPr>
          <p:cNvPr id="296" name="Google Shape;296;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Time complexity:</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number of nodes expanded is still exponential in length of solution</a:t>
            </a:r>
            <a:endParaRPr/>
          </a:p>
          <a:p>
            <a:pPr indent="-342900" lvl="0" marL="3429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Space complexity:</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All generated nodes are kept in memory</a:t>
            </a:r>
            <a:endParaRPr/>
          </a:p>
          <a:p>
            <a:pPr indent="-285750" lvl="1" marL="74295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usually runs out of space before running out of time</a:t>
            </a:r>
            <a:endParaRPr/>
          </a:p>
        </p:txBody>
      </p:sp>
      <p:sp>
        <p:nvSpPr>
          <p:cNvPr id="297" name="Google Shape;297;p23"/>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98" name="Google Shape;298;p23"/>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4"/>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Heuristic Functions</a:t>
            </a:r>
            <a:endParaRPr/>
          </a:p>
        </p:txBody>
      </p:sp>
      <p:sp>
        <p:nvSpPr>
          <p:cNvPr id="304" name="Google Shape;304;p24"/>
          <p:cNvSpPr txBox="1"/>
          <p:nvPr>
            <p:ph idx="1" type="body"/>
          </p:nvPr>
        </p:nvSpPr>
        <p:spPr>
          <a:xfrm>
            <a:off x="457200" y="1600200"/>
            <a:ext cx="8229600" cy="121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Let us see two heuristics for a problem.</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
        <p:nvSpPr>
          <p:cNvPr id="305" name="Google Shape;305;p24"/>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306" name="Google Shape;306;p24"/>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5"/>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Example: 8-puzzle</a:t>
            </a:r>
            <a:endParaRPr/>
          </a:p>
        </p:txBody>
      </p:sp>
      <p:pic>
        <p:nvPicPr>
          <p:cNvPr id="312" name="Google Shape;312;p25"/>
          <p:cNvPicPr preferRelativeResize="0"/>
          <p:nvPr>
            <p:ph idx="1" type="body"/>
          </p:nvPr>
        </p:nvPicPr>
        <p:blipFill rotWithShape="1">
          <a:blip r:embed="rId3">
            <a:alphaModFix/>
          </a:blip>
          <a:srcRect b="0" l="0" r="0" t="0"/>
          <a:stretch/>
        </p:blipFill>
        <p:spPr>
          <a:xfrm>
            <a:off x="2801937" y="1981200"/>
            <a:ext cx="3540125" cy="1987550"/>
          </a:xfrm>
          <a:prstGeom prst="rect">
            <a:avLst/>
          </a:prstGeom>
          <a:noFill/>
          <a:ln>
            <a:noFill/>
          </a:ln>
        </p:spPr>
      </p:pic>
      <p:sp>
        <p:nvSpPr>
          <p:cNvPr id="313" name="Google Shape;313;p25"/>
          <p:cNvSpPr txBox="1"/>
          <p:nvPr>
            <p:ph idx="1" type="body"/>
          </p:nvPr>
        </p:nvSpPr>
        <p:spPr>
          <a:xfrm>
            <a:off x="685800" y="4106862"/>
            <a:ext cx="7772400" cy="24463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States:</a:t>
            </a:r>
            <a:r>
              <a:rPr b="0" i="0" lang="en-US" sz="2400" u="none">
                <a:solidFill>
                  <a:schemeClr val="dk1"/>
                </a:solidFill>
                <a:latin typeface="Arial"/>
                <a:ea typeface="Arial"/>
                <a:cs typeface="Arial"/>
                <a:sym typeface="Arial"/>
              </a:rPr>
              <a:t> location of each tile plus blank</a:t>
            </a:r>
            <a:endParaRPr/>
          </a:p>
          <a:p>
            <a:pPr indent="-342900" lvl="0" marL="34290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Initial state:</a:t>
            </a:r>
            <a:r>
              <a:rPr b="0" i="0" lang="en-US" sz="2400" u="none">
                <a:solidFill>
                  <a:schemeClr val="dk1"/>
                </a:solidFill>
                <a:latin typeface="Arial"/>
                <a:ea typeface="Arial"/>
                <a:cs typeface="Arial"/>
                <a:sym typeface="Arial"/>
              </a:rPr>
              <a:t> Any state can be initial</a:t>
            </a:r>
            <a:endParaRPr/>
          </a:p>
          <a:p>
            <a:pPr indent="-342900" lvl="0" marL="34290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Actions:</a:t>
            </a:r>
            <a:r>
              <a:rPr b="0" i="0" lang="en-US" sz="2400" u="none">
                <a:solidFill>
                  <a:schemeClr val="dk1"/>
                </a:solidFill>
                <a:latin typeface="Arial"/>
                <a:ea typeface="Arial"/>
                <a:cs typeface="Arial"/>
                <a:sym typeface="Arial"/>
              </a:rPr>
              <a:t> Move blank {</a:t>
            </a:r>
            <a:r>
              <a:rPr b="0" i="1" lang="en-US" sz="2400" u="none">
                <a:solidFill>
                  <a:schemeClr val="dk1"/>
                </a:solidFill>
                <a:latin typeface="Arial"/>
                <a:ea typeface="Arial"/>
                <a:cs typeface="Arial"/>
                <a:sym typeface="Arial"/>
              </a:rPr>
              <a:t>Left</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Right</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Up</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Down</a:t>
            </a:r>
            <a:r>
              <a:rPr b="0" i="0" lang="en-US" sz="2400" u="none">
                <a:solidFill>
                  <a:schemeClr val="dk1"/>
                </a:solidFill>
                <a:latin typeface="Arial"/>
                <a:ea typeface="Arial"/>
                <a:cs typeface="Arial"/>
                <a:sym typeface="Arial"/>
              </a:rPr>
              <a:t>}</a:t>
            </a:r>
            <a:endParaRPr/>
          </a:p>
          <a:p>
            <a:pPr indent="-342900" lvl="0" marL="34290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Goal test:</a:t>
            </a:r>
            <a:r>
              <a:rPr b="0" i="0" lang="en-US" sz="2400" u="none">
                <a:solidFill>
                  <a:schemeClr val="dk1"/>
                </a:solidFill>
                <a:latin typeface="Arial"/>
                <a:ea typeface="Arial"/>
                <a:cs typeface="Arial"/>
                <a:sym typeface="Arial"/>
              </a:rPr>
              <a:t> Check whether goal configuration is reached</a:t>
            </a:r>
            <a:endParaRPr/>
          </a:p>
          <a:p>
            <a:pPr indent="-342900" lvl="0" marL="342900" rtl="0" algn="l">
              <a:lnSpc>
                <a:spcPct val="9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Path cost:</a:t>
            </a:r>
            <a:r>
              <a:rPr b="0" i="0" lang="en-US" sz="2400" u="none">
                <a:solidFill>
                  <a:schemeClr val="dk1"/>
                </a:solidFill>
                <a:latin typeface="Arial"/>
                <a:ea typeface="Arial"/>
                <a:cs typeface="Arial"/>
                <a:sym typeface="Arial"/>
              </a:rPr>
              <a:t> Number of actions to reach goal</a:t>
            </a:r>
            <a:endParaRPr/>
          </a:p>
        </p:txBody>
      </p:sp>
      <p:sp>
        <p:nvSpPr>
          <p:cNvPr id="314" name="Google Shape;314;p25"/>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315" name="Google Shape;315;p25"/>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6"/>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Arial"/>
              <a:buNone/>
            </a:pPr>
            <a:r>
              <a:rPr b="0" i="0" lang="en-US" sz="4400" u="none">
                <a:solidFill>
                  <a:srgbClr val="FF0000"/>
                </a:solidFill>
                <a:latin typeface="Arial"/>
                <a:ea typeface="Arial"/>
                <a:cs typeface="Arial"/>
                <a:sym typeface="Arial"/>
              </a:rPr>
              <a:t>Example: 8-puzzle</a:t>
            </a:r>
            <a:endParaRPr/>
          </a:p>
        </p:txBody>
      </p:sp>
      <p:sp>
        <p:nvSpPr>
          <p:cNvPr id="321" name="Google Shape;321;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FF0000"/>
              </a:buClr>
              <a:buSzPts val="3200"/>
              <a:buFont typeface="Arial"/>
              <a:buChar char="•"/>
            </a:pPr>
            <a:r>
              <a:rPr b="0" i="0" lang="en-US" sz="3200" u="none">
                <a:solidFill>
                  <a:schemeClr val="dk1"/>
                </a:solidFill>
                <a:latin typeface="Arial"/>
                <a:ea typeface="Arial"/>
                <a:cs typeface="Arial"/>
                <a:sym typeface="Arial"/>
              </a:rPr>
              <a:t>For 8-puzzle problem:</a:t>
            </a:r>
            <a:endParaRPr/>
          </a:p>
          <a:p>
            <a:pPr indent="-285750" lvl="1" marL="742950" rtl="0" algn="just">
              <a:lnSpc>
                <a:spcPct val="100000"/>
              </a:lnSpc>
              <a:spcBef>
                <a:spcPts val="560"/>
              </a:spcBef>
              <a:spcAft>
                <a:spcPts val="0"/>
              </a:spcAft>
              <a:buClr>
                <a:srgbClr val="FF0000"/>
              </a:buClr>
              <a:buSzPts val="2800"/>
              <a:buFont typeface="Arial"/>
              <a:buChar char="–"/>
            </a:pPr>
            <a:r>
              <a:rPr b="0" i="1" lang="en-US" sz="2800" u="none">
                <a:solidFill>
                  <a:schemeClr val="dk1"/>
                </a:solidFill>
                <a:latin typeface="Arial"/>
                <a:ea typeface="Arial"/>
                <a:cs typeface="Arial"/>
                <a:sym typeface="Arial"/>
              </a:rPr>
              <a:t>h</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 number of tiles out of place. In the example </a:t>
            </a:r>
            <a:r>
              <a:rPr b="0" i="1" lang="en-US" sz="2800" u="none">
                <a:solidFill>
                  <a:schemeClr val="dk1"/>
                </a:solidFill>
                <a:latin typeface="Arial"/>
                <a:ea typeface="Arial"/>
                <a:cs typeface="Arial"/>
                <a:sym typeface="Arial"/>
              </a:rPr>
              <a:t>h</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8</a:t>
            </a:r>
            <a:endParaRPr/>
          </a:p>
          <a:p>
            <a:pPr indent="-285750" lvl="1" marL="742950" rtl="0" algn="just">
              <a:lnSpc>
                <a:spcPct val="100000"/>
              </a:lnSpc>
              <a:spcBef>
                <a:spcPts val="560"/>
              </a:spcBef>
              <a:spcAft>
                <a:spcPts val="0"/>
              </a:spcAft>
              <a:buClr>
                <a:srgbClr val="FF0000"/>
              </a:buClr>
              <a:buSzPts val="2800"/>
              <a:buFont typeface="Arial"/>
              <a:buChar char="–"/>
            </a:pPr>
            <a:r>
              <a:rPr b="0" i="1" lang="en-US" sz="2800" u="none">
                <a:solidFill>
                  <a:schemeClr val="dk1"/>
                </a:solidFill>
                <a:latin typeface="Arial"/>
                <a:ea typeface="Arial"/>
                <a:cs typeface="Arial"/>
                <a:sym typeface="Arial"/>
              </a:rPr>
              <a:t>h</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 total Manhattan distance of errant pieces. In the example </a:t>
            </a:r>
            <a:endParaRPr/>
          </a:p>
          <a:p>
            <a:pPr indent="-285750" lvl="1" marL="742950" rtl="0" algn="just">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h</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 3+1+2+2+2+3+3+2 = 18</a:t>
            </a:r>
            <a:endParaRPr/>
          </a:p>
        </p:txBody>
      </p:sp>
      <p:sp>
        <p:nvSpPr>
          <p:cNvPr id="322" name="Google Shape;322;p26"/>
          <p:cNvSpPr txBox="1"/>
          <p:nvPr/>
        </p:nvSpPr>
        <p:spPr>
          <a:xfrm>
            <a:off x="6934200" y="6550025"/>
            <a:ext cx="2133600" cy="231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323" name="Google Shape;323;p26"/>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Tree>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7"/>
          <p:cNvSpPr txBox="1"/>
          <p:nvPr>
            <p:ph type="title"/>
          </p:nvPr>
        </p:nvSpPr>
        <p:spPr>
          <a:xfrm>
            <a:off x="990600" y="0"/>
            <a:ext cx="7620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000"/>
              <a:buFont typeface="Arial"/>
              <a:buNone/>
            </a:pPr>
            <a:r>
              <a:rPr b="1" i="0" lang="en-US" sz="4000" u="none">
                <a:solidFill>
                  <a:srgbClr val="C00000"/>
                </a:solidFill>
                <a:latin typeface="Arial"/>
                <a:ea typeface="Arial"/>
                <a:cs typeface="Arial"/>
                <a:sym typeface="Arial"/>
              </a:rPr>
              <a:t>Local Search Algorithms and Optimization Problems</a:t>
            </a:r>
            <a:endParaRPr/>
          </a:p>
        </p:txBody>
      </p:sp>
      <p:sp>
        <p:nvSpPr>
          <p:cNvPr id="329" name="Google Shape;329;p27"/>
          <p:cNvSpPr txBox="1"/>
          <p:nvPr>
            <p:ph idx="1" type="body"/>
          </p:nvPr>
        </p:nvSpPr>
        <p:spPr>
          <a:xfrm>
            <a:off x="0" y="1371600"/>
            <a:ext cx="9144000" cy="5486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Previously: systematic exploration of search space</a:t>
            </a:r>
            <a:endParaRPr b="0" i="0" sz="2400" u="none">
              <a:solidFill>
                <a:schemeClr val="dk1"/>
              </a:solidFill>
              <a:latin typeface="Arial"/>
              <a:ea typeface="Arial"/>
              <a:cs typeface="Arial"/>
              <a:sym typeface="Arial"/>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Path to goal is solution to problem</a:t>
            </a:r>
            <a:endParaRPr b="0" i="0" sz="2800" u="none">
              <a:solidFill>
                <a:schemeClr val="dk1"/>
              </a:solidFill>
              <a:latin typeface="Arial"/>
              <a:ea typeface="Arial"/>
              <a:cs typeface="Arial"/>
              <a:sym typeface="Arial"/>
            </a:endParaRPr>
          </a:p>
          <a:p>
            <a:pPr indent="-342900" lvl="0" marL="34290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for some problem classes, it is sufficient to find a solution</a:t>
            </a:r>
            <a:endParaRPr b="0" i="0" sz="2400" u="none">
              <a:solidFill>
                <a:schemeClr val="dk1"/>
              </a:solidFill>
              <a:latin typeface="Arial"/>
              <a:ea typeface="Arial"/>
              <a:cs typeface="Arial"/>
              <a:sym typeface="Arial"/>
            </a:endParaRPr>
          </a:p>
          <a:p>
            <a:pPr indent="-285750" lvl="1" marL="742950" rtl="0" algn="just">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the path to the solution is not relevant, e.g. 8-queens</a:t>
            </a:r>
            <a:endParaRPr b="0" i="0" sz="2800" u="none">
              <a:solidFill>
                <a:schemeClr val="dk1"/>
              </a:solidFill>
              <a:latin typeface="Arial"/>
              <a:ea typeface="Arial"/>
              <a:cs typeface="Arial"/>
              <a:sym typeface="Arial"/>
            </a:endParaRPr>
          </a:p>
          <a:p>
            <a:pPr indent="-342900" lvl="0" marL="342900" rtl="0" algn="l">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 Different algorithms can be used</a:t>
            </a:r>
            <a:endParaRPr b="0" i="0" sz="2400" u="none">
              <a:solidFill>
                <a:schemeClr val="dk1"/>
              </a:solidFill>
              <a:latin typeface="Arial"/>
              <a:ea typeface="Arial"/>
              <a:cs typeface="Arial"/>
              <a:sym typeface="Arial"/>
            </a:endParaRPr>
          </a:p>
          <a:p>
            <a:pPr indent="-285750" lvl="1" marL="742950" rtl="0" algn="l">
              <a:lnSpc>
                <a:spcPct val="100000"/>
              </a:lnSpc>
              <a:spcBef>
                <a:spcPts val="480"/>
              </a:spcBef>
              <a:spcAft>
                <a:spcPts val="0"/>
              </a:spcAft>
              <a:buClr>
                <a:srgbClr val="C00000"/>
              </a:buClr>
              <a:buSzPts val="2400"/>
              <a:buFont typeface="Arial"/>
              <a:buChar char="–"/>
            </a:pPr>
            <a:r>
              <a:rPr b="0" i="0" lang="en-US" sz="2400" u="none">
                <a:solidFill>
                  <a:srgbClr val="0000FF"/>
                </a:solidFill>
                <a:latin typeface="Arial"/>
                <a:ea typeface="Arial"/>
                <a:cs typeface="Arial"/>
                <a:sym typeface="Arial"/>
              </a:rPr>
              <a:t>Local</a:t>
            </a:r>
            <a:r>
              <a:rPr b="0" i="0" lang="en-US" sz="2400" u="none">
                <a:solidFill>
                  <a:schemeClr val="dk1"/>
                </a:solidFill>
                <a:latin typeface="Arial"/>
                <a:ea typeface="Arial"/>
                <a:cs typeface="Arial"/>
                <a:sym typeface="Arial"/>
              </a:rPr>
              <a:t> search</a:t>
            </a:r>
            <a:endParaRPr/>
          </a:p>
          <a:p>
            <a:pPr indent="-342900" lvl="0" marL="34290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memory requirements can be dramatically relaxed by modifying the current state</a:t>
            </a:r>
            <a:endParaRPr/>
          </a:p>
          <a:p>
            <a:pPr indent="-285750" lvl="1" marL="742950" rtl="0" algn="just">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all previous states can be discarded</a:t>
            </a:r>
            <a:endParaRPr/>
          </a:p>
          <a:p>
            <a:pPr indent="-285750" lvl="1" marL="742950" rtl="0" algn="just">
              <a:lnSpc>
                <a:spcPct val="100000"/>
              </a:lnSpc>
              <a:spcBef>
                <a:spcPts val="480"/>
              </a:spcBef>
              <a:spcAft>
                <a:spcPts val="0"/>
              </a:spcAft>
              <a:buClr>
                <a:srgbClr val="C00000"/>
              </a:buClr>
              <a:buSzPts val="2400"/>
              <a:buFont typeface="Arial"/>
              <a:buChar char="–"/>
            </a:pPr>
            <a:r>
              <a:rPr b="0" i="0" lang="en-US" sz="2400" u="none">
                <a:solidFill>
                  <a:schemeClr val="dk1"/>
                </a:solidFill>
                <a:latin typeface="Arial"/>
                <a:ea typeface="Arial"/>
                <a:cs typeface="Arial"/>
                <a:sym typeface="Arial"/>
              </a:rPr>
              <a:t>since only information about the current state is kept, such methods are called </a:t>
            </a:r>
            <a:r>
              <a:rPr b="1" i="1" lang="en-US" sz="2400" u="none">
                <a:solidFill>
                  <a:schemeClr val="dk1"/>
                </a:solidFill>
                <a:latin typeface="Arial"/>
                <a:ea typeface="Arial"/>
                <a:cs typeface="Arial"/>
                <a:sym typeface="Arial"/>
              </a:rPr>
              <a:t>local</a:t>
            </a:r>
            <a:endParaRPr/>
          </a:p>
        </p:txBody>
      </p:sp>
      <p:pic>
        <p:nvPicPr>
          <p:cNvPr id="330" name="Google Shape;330;p27"/>
          <p:cNvPicPr preferRelativeResize="0"/>
          <p:nvPr/>
        </p:nvPicPr>
        <p:blipFill rotWithShape="1">
          <a:blip r:embed="rId3">
            <a:alphaModFix/>
          </a:blip>
          <a:srcRect b="0" l="0" r="0" t="0"/>
          <a:stretch/>
        </p:blipFill>
        <p:spPr>
          <a:xfrm>
            <a:off x="8321040" y="0"/>
            <a:ext cx="822960" cy="822960"/>
          </a:xfrm>
          <a:prstGeom prst="rect">
            <a:avLst/>
          </a:prstGeom>
          <a:noFill/>
          <a:ln>
            <a:noFill/>
          </a:ln>
          <a:effectLst>
            <a:reflection blurRad="0" dir="5400000" dist="50800" endA="300" endPos="55500" kx="0" rotWithShape="0" algn="bl" stA="50000" stPos="0" sy="-100000" ky="0"/>
          </a:effectLst>
        </p:spPr>
      </p:pic>
      <p:pic>
        <p:nvPicPr>
          <p:cNvPr descr="8queens.jpg                                                    00105F05IRIDIA                         BC96F375:" id="331" name="Google Shape;331;p27"/>
          <p:cNvPicPr preferRelativeResize="0"/>
          <p:nvPr/>
        </p:nvPicPr>
        <p:blipFill rotWithShape="1">
          <a:blip r:embed="rId4">
            <a:alphaModFix/>
          </a:blip>
          <a:srcRect b="0" l="0" r="0" t="0"/>
          <a:stretch/>
        </p:blipFill>
        <p:spPr>
          <a:xfrm>
            <a:off x="0" y="0"/>
            <a:ext cx="1279525" cy="1279525"/>
          </a:xfrm>
          <a:prstGeom prst="rect">
            <a:avLst/>
          </a:prstGeom>
          <a:noFill/>
          <a:ln>
            <a:noFill/>
          </a:ln>
        </p:spPr>
      </p:pic>
      <p:sp>
        <p:nvSpPr>
          <p:cNvPr id="332" name="Google Shape;332;p27"/>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0"/>
                                        <p:tgtEl>
                                          <p:spTgt spid="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Local search = use single current state and move to neighboring states.</a:t>
            </a:r>
            <a:endParaRPr/>
          </a:p>
          <a:p>
            <a:pPr indent="-342900" lvl="0" marL="34290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Advantages:</a:t>
            </a:r>
            <a:endParaRPr/>
          </a:p>
          <a:p>
            <a:pPr indent="-285750" lvl="1" marL="742950" rtl="0" algn="just">
              <a:lnSpc>
                <a:spcPct val="10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Use very little memory</a:t>
            </a:r>
            <a:endParaRPr/>
          </a:p>
          <a:p>
            <a:pPr indent="-285750" lvl="1" marL="742950" rtl="0" algn="just">
              <a:lnSpc>
                <a:spcPct val="10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Find often reasonable solutions in large or infinite state spaces.</a:t>
            </a:r>
            <a:endParaRPr/>
          </a:p>
          <a:p>
            <a:pPr indent="-342900" lvl="0" marL="34290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Are also useful for pure optimization problems.</a:t>
            </a:r>
            <a:endParaRPr/>
          </a:p>
          <a:p>
            <a:pPr indent="-285750" lvl="1" marL="742950" rtl="0" algn="just">
              <a:lnSpc>
                <a:spcPct val="10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Find best state according to some </a:t>
            </a:r>
            <a:r>
              <a:rPr b="0" i="1" lang="en-US" sz="2000" u="none">
                <a:solidFill>
                  <a:schemeClr val="dk1"/>
                </a:solidFill>
                <a:latin typeface="Arial"/>
                <a:ea typeface="Arial"/>
                <a:cs typeface="Arial"/>
                <a:sym typeface="Arial"/>
              </a:rPr>
              <a:t>objective function</a:t>
            </a:r>
            <a:r>
              <a:rPr b="0" i="0" lang="en-US" sz="2000" u="none">
                <a:solidFill>
                  <a:schemeClr val="dk1"/>
                </a:solidFill>
                <a:latin typeface="Arial"/>
                <a:ea typeface="Arial"/>
                <a:cs typeface="Arial"/>
                <a:sym typeface="Arial"/>
              </a:rPr>
              <a:t>.</a:t>
            </a:r>
            <a:endParaRPr/>
          </a:p>
          <a:p>
            <a:pPr indent="-285750" lvl="1" marL="742950" rtl="0" algn="just">
              <a:lnSpc>
                <a:spcPct val="10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e.g. survival of the fittest as a metaphor for optimization.</a:t>
            </a:r>
            <a:endParaRPr/>
          </a:p>
        </p:txBody>
      </p:sp>
      <p:sp>
        <p:nvSpPr>
          <p:cNvPr id="338" name="Google Shape;338;p28"/>
          <p:cNvSpPr txBox="1"/>
          <p:nvPr>
            <p:ph type="title"/>
          </p:nvPr>
        </p:nvSpPr>
        <p:spPr>
          <a:xfrm>
            <a:off x="990600" y="0"/>
            <a:ext cx="7620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000"/>
              <a:buFont typeface="Arial"/>
              <a:buNone/>
            </a:pPr>
            <a:r>
              <a:rPr b="1" i="0" lang="en-US" sz="4000" u="none">
                <a:solidFill>
                  <a:srgbClr val="C00000"/>
                </a:solidFill>
                <a:latin typeface="Arial"/>
                <a:ea typeface="Arial"/>
                <a:cs typeface="Arial"/>
                <a:sym typeface="Arial"/>
              </a:rPr>
              <a:t>Local Search Algorithms and Optimization Problems</a:t>
            </a:r>
            <a:endParaRPr/>
          </a:p>
        </p:txBody>
      </p:sp>
      <p:sp>
        <p:nvSpPr>
          <p:cNvPr id="339" name="Google Shape;339;p28"/>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descr="hill-climbing.jpg                                              00105F05IRIDIA                         BC96F375:" id="344" name="Google Shape;344;p29"/>
          <p:cNvPicPr preferRelativeResize="0"/>
          <p:nvPr>
            <p:ph idx="1" type="body"/>
          </p:nvPr>
        </p:nvPicPr>
        <p:blipFill rotWithShape="1">
          <a:blip r:embed="rId3">
            <a:alphaModFix/>
          </a:blip>
          <a:srcRect b="0" l="0" r="0" t="0"/>
          <a:stretch/>
        </p:blipFill>
        <p:spPr>
          <a:xfrm>
            <a:off x="1108075" y="1981200"/>
            <a:ext cx="6927850" cy="3886200"/>
          </a:xfrm>
          <a:prstGeom prst="rect">
            <a:avLst/>
          </a:prstGeom>
          <a:noFill/>
          <a:ln>
            <a:noFill/>
          </a:ln>
        </p:spPr>
      </p:pic>
      <p:sp>
        <p:nvSpPr>
          <p:cNvPr id="345" name="Google Shape;345;p29"/>
          <p:cNvSpPr txBox="1"/>
          <p:nvPr>
            <p:ph type="title"/>
          </p:nvPr>
        </p:nvSpPr>
        <p:spPr>
          <a:xfrm>
            <a:off x="990600" y="0"/>
            <a:ext cx="7620000" cy="1295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000"/>
              <a:buFont typeface="Arial"/>
              <a:buNone/>
            </a:pPr>
            <a:r>
              <a:rPr b="1" i="0" lang="en-US" sz="4000" u="none">
                <a:solidFill>
                  <a:srgbClr val="C00000"/>
                </a:solidFill>
                <a:latin typeface="Arial"/>
                <a:ea typeface="Arial"/>
                <a:cs typeface="Arial"/>
                <a:sym typeface="Arial"/>
              </a:rPr>
              <a:t>Local Search Algorithms and Optimization Problems</a:t>
            </a:r>
            <a:endParaRPr/>
          </a:p>
        </p:txBody>
      </p:sp>
      <p:sp>
        <p:nvSpPr>
          <p:cNvPr id="346" name="Google Shape;346;p29"/>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0"/>
          <p:cNvSpPr txBox="1"/>
          <p:nvPr>
            <p:ph type="title"/>
          </p:nvPr>
        </p:nvSpPr>
        <p:spPr>
          <a:xfrm>
            <a:off x="685800" y="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Search</a:t>
            </a:r>
            <a:endParaRPr/>
          </a:p>
        </p:txBody>
      </p:sp>
      <p:pic>
        <p:nvPicPr>
          <p:cNvPr id="352" name="Google Shape;352;p30"/>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
        <p:nvSpPr>
          <p:cNvPr id="353" name="Google Shape;353;p30"/>
          <p:cNvSpPr txBox="1"/>
          <p:nvPr/>
        </p:nvSpPr>
        <p:spPr>
          <a:xfrm>
            <a:off x="304800" y="1219200"/>
            <a:ext cx="8534400" cy="4724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continually moves uphill</a:t>
            </a:r>
            <a:endParaRPr/>
          </a:p>
          <a:p>
            <a:pPr indent="-285750" lvl="1" marL="742950" marR="0" rtl="0" algn="just">
              <a:lnSpc>
                <a:spcPct val="90000"/>
              </a:lnSpc>
              <a:spcBef>
                <a:spcPts val="560"/>
              </a:spcBef>
              <a:spcAft>
                <a:spcPts val="0"/>
              </a:spcAft>
              <a:buClr>
                <a:srgbClr val="C00000"/>
              </a:buClr>
              <a:buSzPts val="2800"/>
              <a:buFont typeface="Arial"/>
              <a:buChar char="–"/>
            </a:pPr>
            <a:r>
              <a:rPr b="0" i="0" lang="en-US" sz="2800" u="none" cap="none" strike="noStrike">
                <a:solidFill>
                  <a:schemeClr val="dk1"/>
                </a:solidFill>
                <a:latin typeface="Arial"/>
                <a:ea typeface="Arial"/>
                <a:cs typeface="Arial"/>
                <a:sym typeface="Arial"/>
              </a:rPr>
              <a:t>increasing value of the evaluation function</a:t>
            </a:r>
            <a:endParaRPr/>
          </a:p>
          <a:p>
            <a:pPr indent="-285750" lvl="1" marL="742950" marR="0" rtl="0" algn="just">
              <a:lnSpc>
                <a:spcPct val="90000"/>
              </a:lnSpc>
              <a:spcBef>
                <a:spcPts val="560"/>
              </a:spcBef>
              <a:spcAft>
                <a:spcPts val="0"/>
              </a:spcAft>
              <a:buClr>
                <a:srgbClr val="C00000"/>
              </a:buClr>
              <a:buSzPts val="2800"/>
              <a:buFont typeface="Arial"/>
              <a:buChar char="–"/>
            </a:pPr>
            <a:r>
              <a:rPr b="1" i="1" lang="en-US" sz="2800" u="none" cap="none" strike="noStrike">
                <a:solidFill>
                  <a:schemeClr val="dk1"/>
                </a:solidFill>
                <a:latin typeface="Arial"/>
                <a:ea typeface="Arial"/>
                <a:cs typeface="Arial"/>
                <a:sym typeface="Arial"/>
              </a:rPr>
              <a:t>gradient descent search</a:t>
            </a:r>
            <a:r>
              <a:rPr b="0" i="0" lang="en-US" sz="2800" u="none" cap="none" strike="noStrike">
                <a:solidFill>
                  <a:schemeClr val="dk1"/>
                </a:solidFill>
                <a:latin typeface="Arial"/>
                <a:ea typeface="Arial"/>
                <a:cs typeface="Arial"/>
                <a:sym typeface="Arial"/>
              </a:rPr>
              <a:t> is a variation that moves downhill</a:t>
            </a:r>
            <a:endParaRPr/>
          </a:p>
          <a:p>
            <a:pPr indent="-342900" lvl="0" marL="342900" marR="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is a loop that continuously moves in the direction of increasing value - that is, uphill. </a:t>
            </a:r>
            <a:endParaRPr/>
          </a:p>
          <a:p>
            <a:pPr indent="-285750" lvl="1" marL="742950" marR="0" rtl="0" algn="just">
              <a:lnSpc>
                <a:spcPct val="90000"/>
              </a:lnSpc>
              <a:spcBef>
                <a:spcPts val="560"/>
              </a:spcBef>
              <a:spcAft>
                <a:spcPts val="0"/>
              </a:spcAft>
              <a:buClr>
                <a:srgbClr val="C00000"/>
              </a:buClr>
              <a:buSzPts val="2800"/>
              <a:buFont typeface="Arial"/>
              <a:buChar char="–"/>
            </a:pPr>
            <a:r>
              <a:rPr b="0" i="0" lang="en-US" sz="2800" u="none" cap="none" strike="noStrike">
                <a:solidFill>
                  <a:schemeClr val="dk1"/>
                </a:solidFill>
                <a:latin typeface="Arial"/>
                <a:ea typeface="Arial"/>
                <a:cs typeface="Arial"/>
                <a:sym typeface="Arial"/>
              </a:rPr>
              <a:t>It terminates when a peak is reached.</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354" name="Google Shape;354;p30"/>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ph type="title"/>
          </p:nvPr>
        </p:nvSpPr>
        <p:spPr>
          <a:xfrm>
            <a:off x="685800" y="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Search</a:t>
            </a:r>
            <a:endParaRPr/>
          </a:p>
        </p:txBody>
      </p:sp>
      <p:pic>
        <p:nvPicPr>
          <p:cNvPr id="360" name="Google Shape;360;p31"/>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
        <p:nvSpPr>
          <p:cNvPr id="361" name="Google Shape;361;p31"/>
          <p:cNvSpPr txBox="1"/>
          <p:nvPr/>
        </p:nvSpPr>
        <p:spPr>
          <a:xfrm>
            <a:off x="304800" y="1371600"/>
            <a:ext cx="8686800" cy="3505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Hill-climbing does not look ahead of the immediate neighbors of the current state.</a:t>
            </a:r>
            <a:endParaRPr/>
          </a:p>
          <a:p>
            <a:pPr indent="-342900" lvl="0" marL="342900" marR="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Hill-climbing chooses randomly among the set of best successors, if there is more than one.</a:t>
            </a:r>
            <a:endParaRPr/>
          </a:p>
          <a:p>
            <a:pPr indent="-342900" lvl="0" marL="342900" marR="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Hill-climbing is also called </a:t>
            </a:r>
            <a:r>
              <a:rPr b="0" i="1" lang="en-US" sz="2800" u="none">
                <a:solidFill>
                  <a:srgbClr val="0000FF"/>
                </a:solidFill>
                <a:latin typeface="Arial"/>
                <a:ea typeface="Arial"/>
                <a:cs typeface="Arial"/>
                <a:sym typeface="Arial"/>
              </a:rPr>
              <a:t>greedy local search</a:t>
            </a:r>
            <a:endParaRPr/>
          </a:p>
          <a:p>
            <a:pPr indent="-342900" lvl="0" marL="342900" marR="0" rtl="0" algn="just">
              <a:lnSpc>
                <a:spcPct val="10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Hill-climbing is a very simple strategy with low space requirements</a:t>
            </a:r>
            <a:endParaRPr/>
          </a:p>
          <a:p>
            <a:pPr indent="-285750" lvl="1" marL="742950" marR="0" rtl="0" algn="just">
              <a:lnSpc>
                <a:spcPct val="100000"/>
              </a:lnSpc>
              <a:spcBef>
                <a:spcPts val="480"/>
              </a:spcBef>
              <a:spcAft>
                <a:spcPts val="0"/>
              </a:spcAft>
              <a:buClr>
                <a:srgbClr val="C00000"/>
              </a:buClr>
              <a:buSzPts val="2400"/>
              <a:buFont typeface="Arial"/>
              <a:buChar char="–"/>
            </a:pPr>
            <a:r>
              <a:rPr b="0" i="0" lang="en-US" sz="2400" u="none" cap="none" strike="noStrike">
                <a:solidFill>
                  <a:schemeClr val="dk1"/>
                </a:solidFill>
                <a:latin typeface="Arial"/>
                <a:ea typeface="Arial"/>
                <a:cs typeface="Arial"/>
                <a:sym typeface="Arial"/>
              </a:rPr>
              <a:t>stores only the state and its evaluation, no search tree</a:t>
            </a:r>
            <a:endParaRPr/>
          </a:p>
          <a:p>
            <a:pPr indent="-342900" lvl="0" marL="342900" marR="0" rtl="0" algn="just">
              <a:lnSpc>
                <a:spcPct val="100000"/>
              </a:lnSpc>
              <a:spcBef>
                <a:spcPts val="560"/>
              </a:spcBef>
              <a:spcAft>
                <a:spcPts val="0"/>
              </a:spcAft>
              <a:buClr>
                <a:srgbClr val="C00000"/>
              </a:buClr>
              <a:buSzPts val="2800"/>
              <a:buFont typeface="Arial"/>
              <a:buChar char="•"/>
            </a:pPr>
            <a:r>
              <a:rPr b="0" i="1" lang="en-US" sz="2800" u="none">
                <a:solidFill>
                  <a:srgbClr val="0000FF"/>
                </a:solidFill>
                <a:latin typeface="Arial"/>
                <a:ea typeface="Arial"/>
                <a:cs typeface="Arial"/>
                <a:sym typeface="Arial"/>
              </a:rPr>
              <a:t> </a:t>
            </a:r>
            <a:endParaRPr/>
          </a:p>
        </p:txBody>
      </p:sp>
      <p:sp>
        <p:nvSpPr>
          <p:cNvPr id="362" name="Google Shape;362;p31"/>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Example</a:t>
            </a:r>
            <a:endParaRPr/>
          </a:p>
        </p:txBody>
      </p:sp>
      <p:sp>
        <p:nvSpPr>
          <p:cNvPr id="368" name="Google Shape;368;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3200"/>
              <a:buFont typeface="Arial"/>
              <a:buChar char="•"/>
            </a:pPr>
            <a:r>
              <a:rPr b="0" i="0" lang="en-US" sz="3200" u="none">
                <a:solidFill>
                  <a:schemeClr val="dk1"/>
                </a:solidFill>
                <a:latin typeface="Arial"/>
                <a:ea typeface="Arial"/>
                <a:cs typeface="Arial"/>
                <a:sym typeface="Arial"/>
              </a:rPr>
              <a:t>8-queens problem (complete-state formulation).</a:t>
            </a:r>
            <a:endParaRPr/>
          </a:p>
          <a:p>
            <a:pPr indent="-342900" lvl="0" marL="342900" rtl="0" algn="just">
              <a:lnSpc>
                <a:spcPct val="100000"/>
              </a:lnSpc>
              <a:spcBef>
                <a:spcPts val="640"/>
              </a:spcBef>
              <a:spcAft>
                <a:spcPts val="0"/>
              </a:spcAft>
              <a:buClr>
                <a:srgbClr val="C00000"/>
              </a:buClr>
              <a:buSzPts val="3200"/>
              <a:buFont typeface="Arial"/>
              <a:buChar char="•"/>
            </a:pPr>
            <a:r>
              <a:rPr b="0" i="0" lang="en-US" sz="3200" u="none">
                <a:solidFill>
                  <a:schemeClr val="dk1"/>
                </a:solidFill>
                <a:latin typeface="Arial"/>
                <a:ea typeface="Arial"/>
                <a:cs typeface="Arial"/>
                <a:sym typeface="Arial"/>
              </a:rPr>
              <a:t>Successor function: move a single queen to another square in the same column.</a:t>
            </a:r>
            <a:endParaRPr/>
          </a:p>
          <a:p>
            <a:pPr indent="-342900" lvl="0" marL="342900" rtl="0" algn="just">
              <a:lnSpc>
                <a:spcPct val="100000"/>
              </a:lnSpc>
              <a:spcBef>
                <a:spcPts val="640"/>
              </a:spcBef>
              <a:spcAft>
                <a:spcPts val="0"/>
              </a:spcAft>
              <a:buClr>
                <a:srgbClr val="C00000"/>
              </a:buClr>
              <a:buSzPts val="3200"/>
              <a:buFont typeface="Arial"/>
              <a:buChar char="•"/>
            </a:pPr>
            <a:r>
              <a:rPr b="0" i="0" lang="en-US" sz="3200" u="none">
                <a:solidFill>
                  <a:schemeClr val="dk1"/>
                </a:solidFill>
                <a:latin typeface="Arial"/>
                <a:ea typeface="Arial"/>
                <a:cs typeface="Arial"/>
                <a:sym typeface="Arial"/>
              </a:rPr>
              <a:t>Heuristic function </a:t>
            </a:r>
            <a:r>
              <a:rPr b="0" i="1" lang="en-US" sz="3200" u="none">
                <a:solidFill>
                  <a:schemeClr val="dk1"/>
                </a:solidFill>
                <a:latin typeface="Arial"/>
                <a:ea typeface="Arial"/>
                <a:cs typeface="Arial"/>
                <a:sym typeface="Arial"/>
              </a:rPr>
              <a:t>h</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n</a:t>
            </a:r>
            <a:r>
              <a:rPr b="0" i="0" lang="en-US" sz="3200" u="none">
                <a:solidFill>
                  <a:schemeClr val="dk1"/>
                </a:solidFill>
                <a:latin typeface="Arial"/>
                <a:ea typeface="Arial"/>
                <a:cs typeface="Arial"/>
                <a:sym typeface="Arial"/>
              </a:rPr>
              <a:t>): the number of pairs of queens that are attacking each other (directly or indirectly).</a:t>
            </a:r>
            <a:endParaRPr/>
          </a:p>
        </p:txBody>
      </p:sp>
      <p:sp>
        <p:nvSpPr>
          <p:cNvPr id="369" name="Google Shape;369;p32"/>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3"/>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Example </a:t>
            </a:r>
            <a:endParaRPr/>
          </a:p>
        </p:txBody>
      </p:sp>
      <p:sp>
        <p:nvSpPr>
          <p:cNvPr id="375" name="Google Shape;375;p33"/>
          <p:cNvSpPr txBox="1"/>
          <p:nvPr>
            <p:ph idx="1" type="body"/>
          </p:nvPr>
        </p:nvSpPr>
        <p:spPr>
          <a:xfrm>
            <a:off x="152400" y="3429000"/>
            <a:ext cx="8839200" cy="2895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00"/>
              <a:buFont typeface="Arial"/>
              <a:buNone/>
            </a:pPr>
            <a:r>
              <a:rPr b="1" i="0" lang="en-US" sz="2600" u="none">
                <a:solidFill>
                  <a:srgbClr val="C00000"/>
                </a:solidFill>
                <a:latin typeface="Arial"/>
                <a:ea typeface="Arial"/>
                <a:cs typeface="Arial"/>
                <a:sym typeface="Arial"/>
              </a:rPr>
              <a:t>(a)</a:t>
            </a:r>
            <a:r>
              <a:rPr b="0" i="0" lang="en-US" sz="2600" u="none">
                <a:solidFill>
                  <a:schemeClr val="dk1"/>
                </a:solidFill>
                <a:latin typeface="Arial"/>
                <a:ea typeface="Arial"/>
                <a:cs typeface="Arial"/>
                <a:sym typeface="Arial"/>
              </a:rPr>
              <a:t> An 8-queens state with heuristic cost estimate </a:t>
            </a:r>
            <a:r>
              <a:rPr b="0" i="1" lang="en-US" sz="2600" u="none">
                <a:solidFill>
                  <a:schemeClr val="dk1"/>
                </a:solidFill>
                <a:latin typeface="Arial"/>
                <a:ea typeface="Arial"/>
                <a:cs typeface="Arial"/>
                <a:sym typeface="Arial"/>
              </a:rPr>
              <a:t>h</a:t>
            </a:r>
            <a:r>
              <a:rPr b="0" i="0" lang="en-US" sz="2600" u="none">
                <a:solidFill>
                  <a:schemeClr val="dk1"/>
                </a:solidFill>
                <a:latin typeface="Arial"/>
                <a:ea typeface="Arial"/>
                <a:cs typeface="Arial"/>
                <a:sym typeface="Arial"/>
              </a:rPr>
              <a:t> = 17, showing the value of </a:t>
            </a:r>
            <a:r>
              <a:rPr b="0" i="1" lang="en-US" sz="2600" u="none">
                <a:solidFill>
                  <a:schemeClr val="dk1"/>
                </a:solidFill>
                <a:latin typeface="Arial"/>
                <a:ea typeface="Arial"/>
                <a:cs typeface="Arial"/>
                <a:sym typeface="Arial"/>
              </a:rPr>
              <a:t>h</a:t>
            </a:r>
            <a:r>
              <a:rPr b="0" i="0" lang="en-US" sz="2600" u="none">
                <a:solidFill>
                  <a:schemeClr val="dk1"/>
                </a:solidFill>
                <a:latin typeface="Arial"/>
                <a:ea typeface="Arial"/>
                <a:cs typeface="Arial"/>
                <a:sym typeface="Arial"/>
              </a:rPr>
              <a:t> for each possible successor obtained by moving a queen within its column. The best moves are marked.</a:t>
            </a:r>
            <a:endParaRPr/>
          </a:p>
          <a:p>
            <a:pPr indent="-342900" lvl="0" marL="342900" rtl="0" algn="just">
              <a:lnSpc>
                <a:spcPct val="100000"/>
              </a:lnSpc>
              <a:spcBef>
                <a:spcPts val="520"/>
              </a:spcBef>
              <a:spcAft>
                <a:spcPts val="0"/>
              </a:spcAft>
              <a:buClr>
                <a:srgbClr val="C00000"/>
              </a:buClr>
              <a:buSzPts val="2600"/>
              <a:buFont typeface="Arial"/>
              <a:buNone/>
            </a:pPr>
            <a:r>
              <a:rPr b="1" i="0" lang="en-US" sz="2600" u="none">
                <a:solidFill>
                  <a:srgbClr val="C00000"/>
                </a:solidFill>
                <a:latin typeface="Arial"/>
                <a:ea typeface="Arial"/>
                <a:cs typeface="Arial"/>
                <a:sym typeface="Arial"/>
              </a:rPr>
              <a:t>(b)</a:t>
            </a:r>
            <a:r>
              <a:rPr b="0" i="0" lang="en-US" sz="2600" u="none">
                <a:solidFill>
                  <a:schemeClr val="dk1"/>
                </a:solidFill>
                <a:latin typeface="Arial"/>
                <a:ea typeface="Arial"/>
                <a:cs typeface="Arial"/>
                <a:sym typeface="Arial"/>
              </a:rPr>
              <a:t> A local minimum in the 8-queens state space; the state has </a:t>
            </a:r>
            <a:r>
              <a:rPr b="0" i="1" lang="en-US" sz="2600" u="none">
                <a:solidFill>
                  <a:schemeClr val="dk1"/>
                </a:solidFill>
                <a:latin typeface="Arial"/>
                <a:ea typeface="Arial"/>
                <a:cs typeface="Arial"/>
                <a:sym typeface="Arial"/>
              </a:rPr>
              <a:t>h</a:t>
            </a:r>
            <a:r>
              <a:rPr b="0" i="0" lang="en-US" sz="2600" u="none">
                <a:solidFill>
                  <a:schemeClr val="dk1"/>
                </a:solidFill>
                <a:latin typeface="Arial"/>
                <a:ea typeface="Arial"/>
                <a:cs typeface="Arial"/>
                <a:sym typeface="Arial"/>
              </a:rPr>
              <a:t> = 1 but every successor has a higher cost.</a:t>
            </a:r>
            <a:endParaRPr/>
          </a:p>
        </p:txBody>
      </p:sp>
      <p:pic>
        <p:nvPicPr>
          <p:cNvPr descr="8queens-successors.jpg                                         00105F05IRIDIA                         BC96F375:" id="376" name="Google Shape;376;p33"/>
          <p:cNvPicPr preferRelativeResize="0"/>
          <p:nvPr>
            <p:ph idx="1" type="body"/>
          </p:nvPr>
        </p:nvPicPr>
        <p:blipFill rotWithShape="1">
          <a:blip r:embed="rId3">
            <a:alphaModFix/>
          </a:blip>
          <a:srcRect b="0" l="0" r="0" t="0"/>
          <a:stretch/>
        </p:blipFill>
        <p:spPr>
          <a:xfrm>
            <a:off x="1543050" y="1311275"/>
            <a:ext cx="1866900" cy="1866900"/>
          </a:xfrm>
          <a:prstGeom prst="rect">
            <a:avLst/>
          </a:prstGeom>
          <a:noFill/>
          <a:ln>
            <a:noFill/>
          </a:ln>
        </p:spPr>
      </p:pic>
      <p:pic>
        <p:nvPicPr>
          <p:cNvPr descr="8queens-local-minimum.jpg                                      00105F05IRIDIA                         BC96F375:" id="377" name="Google Shape;377;p33"/>
          <p:cNvPicPr preferRelativeResize="0"/>
          <p:nvPr>
            <p:ph idx="2" type="body"/>
          </p:nvPr>
        </p:nvPicPr>
        <p:blipFill rotWithShape="1">
          <a:blip r:embed="rId4">
            <a:alphaModFix/>
          </a:blip>
          <a:srcRect b="0" l="0" r="0" t="0"/>
          <a:stretch/>
        </p:blipFill>
        <p:spPr>
          <a:xfrm>
            <a:off x="5734050" y="1311275"/>
            <a:ext cx="1866900" cy="1866900"/>
          </a:xfrm>
          <a:prstGeom prst="rect">
            <a:avLst/>
          </a:prstGeom>
          <a:noFill/>
          <a:ln>
            <a:noFill/>
          </a:ln>
        </p:spPr>
      </p:pic>
      <p:sp>
        <p:nvSpPr>
          <p:cNvPr id="378" name="Google Shape;378;p33"/>
          <p:cNvSpPr txBox="1"/>
          <p:nvPr/>
        </p:nvSpPr>
        <p:spPr>
          <a:xfrm>
            <a:off x="669925" y="1066800"/>
            <a:ext cx="5619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(a)</a:t>
            </a:r>
            <a:endParaRPr/>
          </a:p>
        </p:txBody>
      </p:sp>
      <p:sp>
        <p:nvSpPr>
          <p:cNvPr id="379" name="Google Shape;379;p33"/>
          <p:cNvSpPr txBox="1"/>
          <p:nvPr/>
        </p:nvSpPr>
        <p:spPr>
          <a:xfrm>
            <a:off x="5165725" y="1066800"/>
            <a:ext cx="57785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Arial"/>
              <a:buNone/>
            </a:pPr>
            <a:r>
              <a:rPr b="1" i="0" lang="en-US" sz="2400" u="none">
                <a:solidFill>
                  <a:srgbClr val="C00000"/>
                </a:solidFill>
                <a:latin typeface="Arial"/>
                <a:ea typeface="Arial"/>
                <a:cs typeface="Arial"/>
                <a:sym typeface="Arial"/>
              </a:rPr>
              <a:t>(b)</a:t>
            </a:r>
            <a:endParaRPr/>
          </a:p>
        </p:txBody>
      </p:sp>
      <p:sp>
        <p:nvSpPr>
          <p:cNvPr id="380" name="Google Shape;380;p33"/>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34"/>
          <p:cNvPicPr preferRelativeResize="0"/>
          <p:nvPr/>
        </p:nvPicPr>
        <p:blipFill rotWithShape="1">
          <a:blip r:embed="rId3">
            <a:alphaModFix/>
          </a:blip>
          <a:srcRect b="0" l="0" r="0" t="0"/>
          <a:stretch/>
        </p:blipFill>
        <p:spPr>
          <a:xfrm>
            <a:off x="0" y="1200150"/>
            <a:ext cx="9144000" cy="5124450"/>
          </a:xfrm>
          <a:prstGeom prst="rect">
            <a:avLst/>
          </a:prstGeom>
          <a:noFill/>
          <a:ln>
            <a:noFill/>
          </a:ln>
        </p:spPr>
      </p:pic>
      <p:pic>
        <p:nvPicPr>
          <p:cNvPr id="386" name="Google Shape;386;p34"/>
          <p:cNvPicPr preferRelativeResize="0"/>
          <p:nvPr/>
        </p:nvPicPr>
        <p:blipFill rotWithShape="1">
          <a:blip r:embed="rId4">
            <a:alphaModFix/>
          </a:blip>
          <a:srcRect b="0" l="0" r="0" t="0"/>
          <a:stretch/>
        </p:blipFill>
        <p:spPr>
          <a:xfrm>
            <a:off x="8229600" y="0"/>
            <a:ext cx="914400" cy="914400"/>
          </a:xfrm>
          <a:prstGeom prst="rect">
            <a:avLst/>
          </a:prstGeom>
          <a:noFill/>
          <a:ln>
            <a:noFill/>
          </a:ln>
        </p:spPr>
      </p:pic>
      <p:sp>
        <p:nvSpPr>
          <p:cNvPr id="387" name="Google Shape;387;p34"/>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5"/>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Drawbacks</a:t>
            </a:r>
            <a:endParaRPr/>
          </a:p>
        </p:txBody>
      </p:sp>
      <p:sp>
        <p:nvSpPr>
          <p:cNvPr id="393" name="Google Shape;393;p35"/>
          <p:cNvSpPr txBox="1"/>
          <p:nvPr>
            <p:ph idx="1" type="body"/>
          </p:nvPr>
        </p:nvSpPr>
        <p:spPr>
          <a:xfrm>
            <a:off x="457200" y="4000500"/>
            <a:ext cx="8229600" cy="23241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FF0000"/>
              </a:buClr>
              <a:buSzPts val="2400"/>
              <a:buFont typeface="Arial"/>
              <a:buChar char="•"/>
            </a:pPr>
            <a:r>
              <a:rPr b="0" i="0" lang="en-US" sz="2400" u="none">
                <a:solidFill>
                  <a:schemeClr val="dk1"/>
                </a:solidFill>
                <a:latin typeface="Arial"/>
                <a:ea typeface="Arial"/>
                <a:cs typeface="Arial"/>
                <a:sym typeface="Arial"/>
              </a:rPr>
              <a:t>Ridge = sequence of local maxima difficult for greedy algorithms to navigate</a:t>
            </a:r>
            <a:endParaRPr/>
          </a:p>
          <a:p>
            <a:pPr indent="-342900" lvl="0" marL="342900" rtl="0" algn="just">
              <a:lnSpc>
                <a:spcPct val="90000"/>
              </a:lnSpc>
              <a:spcBef>
                <a:spcPts val="480"/>
              </a:spcBef>
              <a:spcAft>
                <a:spcPts val="0"/>
              </a:spcAft>
              <a:buClr>
                <a:srgbClr val="FF0000"/>
              </a:buClr>
              <a:buSzPts val="2400"/>
              <a:buFont typeface="Arial"/>
              <a:buChar char="•"/>
            </a:pPr>
            <a:r>
              <a:rPr b="0" i="0" lang="en-US" sz="2400" u="none">
                <a:solidFill>
                  <a:schemeClr val="dk1"/>
                </a:solidFill>
                <a:latin typeface="Arial"/>
                <a:ea typeface="Arial"/>
                <a:cs typeface="Arial"/>
                <a:sym typeface="Arial"/>
              </a:rPr>
              <a:t>Plateaux = an area of the state space where the evaluation function is flat.</a:t>
            </a:r>
            <a:endParaRPr/>
          </a:p>
          <a:p>
            <a:pPr indent="-342900" lvl="0" marL="342900" rtl="0" algn="just">
              <a:lnSpc>
                <a:spcPct val="90000"/>
              </a:lnSpc>
              <a:spcBef>
                <a:spcPts val="480"/>
              </a:spcBef>
              <a:spcAft>
                <a:spcPts val="0"/>
              </a:spcAft>
              <a:buClr>
                <a:srgbClr val="FF0000"/>
              </a:buClr>
              <a:buSzPts val="2400"/>
              <a:buFont typeface="Arial"/>
              <a:buChar char="•"/>
            </a:pPr>
            <a:r>
              <a:rPr b="0" i="0" lang="en-US" sz="2400" u="none">
                <a:solidFill>
                  <a:schemeClr val="dk1"/>
                </a:solidFill>
                <a:latin typeface="Arial"/>
                <a:ea typeface="Arial"/>
                <a:cs typeface="Arial"/>
                <a:sym typeface="Arial"/>
              </a:rPr>
              <a:t>Gets stuck 86% of the time.</a:t>
            </a:r>
            <a:endParaRPr/>
          </a:p>
        </p:txBody>
      </p:sp>
      <p:pic>
        <p:nvPicPr>
          <p:cNvPr descr="hill-climbing.jpg                                              00105F05IRIDIA                         BC96F375:" id="394" name="Google Shape;394;p35"/>
          <p:cNvPicPr preferRelativeResize="0"/>
          <p:nvPr>
            <p:ph idx="1" type="body"/>
          </p:nvPr>
        </p:nvPicPr>
        <p:blipFill rotWithShape="1">
          <a:blip r:embed="rId3">
            <a:alphaModFix/>
          </a:blip>
          <a:srcRect b="0" l="0" r="0" t="0"/>
          <a:stretch/>
        </p:blipFill>
        <p:spPr>
          <a:xfrm>
            <a:off x="811212" y="1981200"/>
            <a:ext cx="3328987" cy="1866900"/>
          </a:xfrm>
          <a:prstGeom prst="rect">
            <a:avLst/>
          </a:prstGeom>
          <a:noFill/>
          <a:ln>
            <a:noFill/>
          </a:ln>
        </p:spPr>
      </p:pic>
      <p:pic>
        <p:nvPicPr>
          <p:cNvPr descr=" ridge.jpg                                                      00105F05IRIDIA                         BC96F375:" id="395" name="Google Shape;395;p35"/>
          <p:cNvPicPr preferRelativeResize="0"/>
          <p:nvPr>
            <p:ph idx="2" type="body"/>
          </p:nvPr>
        </p:nvPicPr>
        <p:blipFill rotWithShape="1">
          <a:blip r:embed="rId4">
            <a:alphaModFix/>
          </a:blip>
          <a:srcRect b="0" l="0" r="0" t="0"/>
          <a:stretch/>
        </p:blipFill>
        <p:spPr>
          <a:xfrm>
            <a:off x="5257800" y="1981200"/>
            <a:ext cx="2363787" cy="1866900"/>
          </a:xfrm>
          <a:prstGeom prst="rect">
            <a:avLst/>
          </a:prstGeom>
          <a:noFill/>
          <a:ln>
            <a:noFill/>
          </a:ln>
        </p:spPr>
      </p:pic>
      <p:sp>
        <p:nvSpPr>
          <p:cNvPr id="396" name="Google Shape;396;p35"/>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pic>
        <p:nvPicPr>
          <p:cNvPr id="397" name="Google Shape;397;p35"/>
          <p:cNvPicPr preferRelativeResize="0"/>
          <p:nvPr/>
        </p:nvPicPr>
        <p:blipFill rotWithShape="1">
          <a:blip r:embed="rId5">
            <a:alphaModFix/>
          </a:blip>
          <a:srcRect b="0" l="0" r="0" t="0"/>
          <a:stretch/>
        </p:blipFill>
        <p:spPr>
          <a:xfrm>
            <a:off x="8229600" y="0"/>
            <a:ext cx="914400" cy="914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6"/>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Search</a:t>
            </a:r>
            <a:endParaRPr/>
          </a:p>
        </p:txBody>
      </p:sp>
      <p:sp>
        <p:nvSpPr>
          <p:cNvPr id="403" name="Google Shape;403;p36"/>
          <p:cNvSpPr txBox="1"/>
          <p:nvPr>
            <p:ph idx="1" type="body"/>
          </p:nvPr>
        </p:nvSpPr>
        <p:spPr>
          <a:xfrm>
            <a:off x="304800" y="1295400"/>
            <a:ext cx="8839200" cy="53340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problems</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local maxima</a:t>
            </a:r>
            <a:endParaRPr/>
          </a:p>
          <a:p>
            <a:pPr indent="-228600" lvl="2" marL="1143000" rtl="0" algn="just">
              <a:lnSpc>
                <a:spcPct val="100000"/>
              </a:lnSpc>
              <a:spcBef>
                <a:spcPts val="44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algorithm can’t go higher, but is not at a satisfactory solution</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plateau</a:t>
            </a:r>
            <a:endParaRPr/>
          </a:p>
          <a:p>
            <a:pPr indent="-228600" lvl="2" marL="1143000" rtl="0" algn="just">
              <a:lnSpc>
                <a:spcPct val="100000"/>
              </a:lnSpc>
              <a:spcBef>
                <a:spcPts val="44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area where the evaluation function is flat</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ridges</a:t>
            </a:r>
            <a:endParaRPr/>
          </a:p>
          <a:p>
            <a:pPr indent="-228600" lvl="2" marL="1143000" rtl="0" algn="just">
              <a:lnSpc>
                <a:spcPct val="100000"/>
              </a:lnSpc>
              <a:spcBef>
                <a:spcPts val="44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search may oscillate slowly</a:t>
            </a:r>
            <a:endParaRPr/>
          </a:p>
        </p:txBody>
      </p:sp>
      <p:pic>
        <p:nvPicPr>
          <p:cNvPr id="404" name="Google Shape;404;p36"/>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
        <p:nvSpPr>
          <p:cNvPr id="405" name="Google Shape;405;p36"/>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7"/>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Escaping Local Optima</a:t>
            </a:r>
            <a:endParaRPr/>
          </a:p>
        </p:txBody>
      </p:sp>
      <p:sp>
        <p:nvSpPr>
          <p:cNvPr id="412" name="Google Shape;412;p37"/>
          <p:cNvSpPr txBox="1"/>
          <p:nvPr>
            <p:ph idx="1" type="body"/>
          </p:nvPr>
        </p:nvSpPr>
        <p:spPr>
          <a:xfrm>
            <a:off x="457200" y="1219200"/>
            <a:ext cx="8229600" cy="5334000"/>
          </a:xfrm>
          <a:prstGeom prst="rect">
            <a:avLst/>
          </a:prstGeom>
          <a:noFill/>
          <a:ln>
            <a:noFill/>
          </a:ln>
        </p:spPr>
        <p:txBody>
          <a:bodyPr anchorCtr="0" anchor="t" bIns="45700" lIns="91425" spcFirstLastPara="1" rIns="91425" wrap="square" tIns="45700">
            <a:noAutofit/>
          </a:bodyPr>
          <a:lstStyle/>
          <a:p>
            <a:pPr indent="-563562" lvl="3" marL="1714500" rtl="0" algn="just">
              <a:lnSpc>
                <a:spcPct val="100000"/>
              </a:lnSpc>
              <a:spcBef>
                <a:spcPts val="0"/>
              </a:spcBef>
              <a:spcAft>
                <a:spcPts val="0"/>
              </a:spcAft>
              <a:buClr>
                <a:schemeClr val="dk1"/>
              </a:buClr>
              <a:buSzPts val="2000"/>
              <a:buFont typeface="Noto Sans Symbols"/>
              <a:buNone/>
            </a:pPr>
            <a:r>
              <a:t/>
            </a:r>
            <a:endParaRPr b="0" i="1" sz="2000" u="none">
              <a:solidFill>
                <a:schemeClr val="dk1"/>
              </a:solidFill>
              <a:latin typeface="Arial"/>
              <a:ea typeface="Arial"/>
              <a:cs typeface="Arial"/>
              <a:sym typeface="Arial"/>
            </a:endParaRPr>
          </a:p>
          <a:p>
            <a:pPr indent="-533400" lvl="0" marL="533400" rtl="0" algn="just">
              <a:lnSpc>
                <a:spcPct val="100000"/>
              </a:lnSpc>
              <a:spcBef>
                <a:spcPts val="640"/>
              </a:spcBef>
              <a:spcAft>
                <a:spcPts val="0"/>
              </a:spcAft>
              <a:buClr>
                <a:srgbClr val="CC3300"/>
              </a:buClr>
              <a:buSzPts val="3200"/>
              <a:buFont typeface="Noto Sans Symbols"/>
              <a:buChar char="🞹"/>
            </a:pPr>
            <a:r>
              <a:rPr b="0" i="1" lang="en-US" sz="3200" u="none">
                <a:solidFill>
                  <a:srgbClr val="CC3300"/>
                </a:solidFill>
                <a:latin typeface="Arial"/>
                <a:ea typeface="Arial"/>
                <a:cs typeface="Arial"/>
                <a:sym typeface="Arial"/>
              </a:rPr>
              <a:t>HC gets stuck at local maxima limiting</a:t>
            </a:r>
            <a:br>
              <a:rPr b="0" i="1" lang="en-US" sz="3200" u="none">
                <a:solidFill>
                  <a:srgbClr val="CC3300"/>
                </a:solidFill>
                <a:latin typeface="Arial"/>
                <a:ea typeface="Arial"/>
                <a:cs typeface="Arial"/>
                <a:sym typeface="Arial"/>
              </a:rPr>
            </a:br>
            <a:r>
              <a:rPr b="0" i="1" lang="en-US" sz="3200" u="none">
                <a:solidFill>
                  <a:srgbClr val="CC3300"/>
                </a:solidFill>
                <a:latin typeface="Arial"/>
                <a:ea typeface="Arial"/>
                <a:cs typeface="Arial"/>
                <a:sym typeface="Arial"/>
              </a:rPr>
              <a:t>the quality of the solution found.</a:t>
            </a:r>
            <a:endParaRPr/>
          </a:p>
          <a:p>
            <a:pPr indent="-703262" lvl="4" marL="2171700" rtl="0" algn="just">
              <a:lnSpc>
                <a:spcPct val="100000"/>
              </a:lnSpc>
              <a:spcBef>
                <a:spcPts val="400"/>
              </a:spcBef>
              <a:spcAft>
                <a:spcPts val="0"/>
              </a:spcAft>
              <a:buClr>
                <a:schemeClr val="dk1"/>
              </a:buClr>
              <a:buSzPts val="2000"/>
              <a:buFont typeface="Arial"/>
              <a:buNone/>
            </a:pPr>
            <a:r>
              <a:t/>
            </a:r>
            <a:endParaRPr b="0" i="0" sz="2000" u="none">
              <a:solidFill>
                <a:srgbClr val="CC3300"/>
              </a:solidFill>
              <a:latin typeface="Arial"/>
              <a:ea typeface="Arial"/>
              <a:cs typeface="Arial"/>
              <a:sym typeface="Arial"/>
            </a:endParaRPr>
          </a:p>
          <a:p>
            <a:pPr indent="-533400" lvl="0" marL="5334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Two ways to modify HC:</a:t>
            </a:r>
            <a:endParaRPr/>
          </a:p>
          <a:p>
            <a:pPr indent="-569912" lvl="1" marL="914400" rtl="0" algn="just">
              <a:lnSpc>
                <a:spcPct val="100000"/>
              </a:lnSpc>
              <a:spcBef>
                <a:spcPts val="56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choice of neighbor</a:t>
            </a:r>
            <a:endParaRPr/>
          </a:p>
          <a:p>
            <a:pPr indent="-569912" lvl="1" marL="914400" rtl="0" algn="just">
              <a:lnSpc>
                <a:spcPct val="100000"/>
              </a:lnSpc>
              <a:spcBef>
                <a:spcPts val="56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criteria for accepting neighbor for current</a:t>
            </a:r>
            <a:endParaRPr/>
          </a:p>
          <a:p>
            <a:pPr indent="-533400" lvl="0" marL="53340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For example:</a:t>
            </a:r>
            <a:endParaRPr/>
          </a:p>
          <a:p>
            <a:pPr indent="-569912" lvl="1" marL="914400" rtl="0" algn="just">
              <a:lnSpc>
                <a:spcPct val="100000"/>
              </a:lnSpc>
              <a:spcBef>
                <a:spcPts val="56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choose neighbor randomly</a:t>
            </a:r>
            <a:endParaRPr/>
          </a:p>
          <a:p>
            <a:pPr indent="-569912" lvl="1" marL="914400" rtl="0" algn="just">
              <a:lnSpc>
                <a:spcPct val="100000"/>
              </a:lnSpc>
              <a:spcBef>
                <a:spcPts val="560"/>
              </a:spcBef>
              <a:spcAft>
                <a:spcPts val="0"/>
              </a:spcAft>
              <a:buClr>
                <a:schemeClr val="dk1"/>
              </a:buClr>
              <a:buSzPts val="2800"/>
              <a:buFont typeface="Arial"/>
              <a:buAutoNum type="arabicPeriod"/>
            </a:pPr>
            <a:r>
              <a:rPr b="0" i="0" lang="en-US" sz="2800" u="none">
                <a:solidFill>
                  <a:schemeClr val="dk1"/>
                </a:solidFill>
                <a:latin typeface="Arial"/>
                <a:ea typeface="Arial"/>
                <a:cs typeface="Arial"/>
                <a:sym typeface="Arial"/>
              </a:rPr>
              <a:t>accept neighbor if it is better or</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if it isn't, accept with some fixed probability </a:t>
            </a:r>
            <a:r>
              <a:rPr b="0" i="1" lang="en-US" sz="2800" u="none">
                <a:solidFill>
                  <a:schemeClr val="dk1"/>
                </a:solidFill>
                <a:latin typeface="Palatino"/>
                <a:ea typeface="Palatino"/>
                <a:cs typeface="Palatino"/>
                <a:sym typeface="Palatino"/>
              </a:rPr>
              <a:t>p</a:t>
            </a:r>
            <a:endParaRPr/>
          </a:p>
        </p:txBody>
      </p:sp>
      <p:pic>
        <p:nvPicPr>
          <p:cNvPr id="413" name="Google Shape;413;p37"/>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
        <p:nvSpPr>
          <p:cNvPr id="414" name="Google Shape;414;p37"/>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1"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8"/>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Escaping Local Optima</a:t>
            </a:r>
            <a:endParaRPr/>
          </a:p>
        </p:txBody>
      </p:sp>
      <p:sp>
        <p:nvSpPr>
          <p:cNvPr id="420" name="Google Shape;420;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Modified HC can escape local maxima but:</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chance of making a bad move is the same</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at the beginning of the search as at the end</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magnitude of improvement or lack of is ignored</a:t>
            </a:r>
            <a:endParaRPr/>
          </a:p>
          <a:p>
            <a:pPr indent="-228600" lvl="4" marL="2057400" rtl="0" algn="just">
              <a:lnSpc>
                <a:spcPct val="100000"/>
              </a:lnSpc>
              <a:spcBef>
                <a:spcPts val="36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342900" lvl="0" marL="342900" rtl="0" algn="just">
              <a:lnSpc>
                <a:spcPct val="100000"/>
              </a:lnSpc>
              <a:spcBef>
                <a:spcPts val="560"/>
              </a:spcBef>
              <a:spcAft>
                <a:spcPts val="0"/>
              </a:spcAft>
              <a:buClr>
                <a:srgbClr val="FF00FF"/>
              </a:buClr>
              <a:buSzPts val="4200"/>
              <a:buFont typeface="Noto Sans Symbols"/>
              <a:buChar char="☞"/>
            </a:pPr>
            <a:r>
              <a:rPr b="0" i="0" lang="en-US" sz="2800" u="none">
                <a:solidFill>
                  <a:schemeClr val="dk2"/>
                </a:solidFill>
                <a:latin typeface="Arial"/>
                <a:ea typeface="Arial"/>
                <a:cs typeface="Arial"/>
                <a:sym typeface="Arial"/>
              </a:rPr>
              <a:t>How can HC address these concerns?</a:t>
            </a:r>
            <a:endParaRPr b="0" i="0" sz="2800" u="none">
              <a:solidFill>
                <a:schemeClr val="dk1"/>
              </a:solidFill>
              <a:latin typeface="Arial"/>
              <a:ea typeface="Arial"/>
              <a:cs typeface="Arial"/>
              <a:sym typeface="Arial"/>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fixed probability </a:t>
            </a:r>
            <a:r>
              <a:rPr b="0" i="1" lang="en-US" sz="2400" u="none">
                <a:solidFill>
                  <a:schemeClr val="dk1"/>
                </a:solidFill>
                <a:latin typeface="Palatino"/>
                <a:ea typeface="Palatino"/>
                <a:cs typeface="Palatino"/>
                <a:sym typeface="Palatino"/>
              </a:rPr>
              <a:t>p</a:t>
            </a:r>
            <a:r>
              <a:rPr b="0" i="0" lang="en-US" sz="2400" u="none">
                <a:solidFill>
                  <a:schemeClr val="dk1"/>
                </a:solidFill>
                <a:latin typeface="Arial"/>
                <a:ea typeface="Arial"/>
                <a:cs typeface="Arial"/>
                <a:sym typeface="Arial"/>
              </a:rPr>
              <a:t> that bad move is accepted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can be replaced with a probability</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that decreases as the search proceeds</a:t>
            </a:r>
            <a:endParaRPr/>
          </a:p>
          <a:p>
            <a:pPr indent="-285750" lvl="1" marL="74295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now as the search progresses,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the chances of taking a bad move reduces</a:t>
            </a:r>
            <a:endParaRPr/>
          </a:p>
        </p:txBody>
      </p:sp>
      <p:pic>
        <p:nvPicPr>
          <p:cNvPr id="421" name="Google Shape;421;p38"/>
          <p:cNvPicPr preferRelativeResize="0"/>
          <p:nvPr/>
        </p:nvPicPr>
        <p:blipFill rotWithShape="1">
          <a:blip r:embed="rId3">
            <a:alphaModFix/>
          </a:blip>
          <a:srcRect b="0" l="0" r="0" t="0"/>
          <a:stretch/>
        </p:blipFill>
        <p:spPr>
          <a:xfrm>
            <a:off x="8229600" y="0"/>
            <a:ext cx="914400" cy="914400"/>
          </a:xfrm>
          <a:prstGeom prst="rect">
            <a:avLst/>
          </a:prstGeom>
          <a:noFill/>
          <a:ln>
            <a:noFill/>
          </a:ln>
        </p:spPr>
      </p:pic>
      <p:sp>
        <p:nvSpPr>
          <p:cNvPr id="422" name="Google Shape;422;p38"/>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9"/>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Search</a:t>
            </a:r>
            <a:endParaRPr/>
          </a:p>
        </p:txBody>
      </p:sp>
      <p:sp>
        <p:nvSpPr>
          <p:cNvPr id="428" name="Google Shape;428;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function</a:t>
            </a:r>
            <a:r>
              <a:rPr b="0" i="0" lang="en-US" sz="1800" u="none">
                <a:solidFill>
                  <a:schemeClr val="dk1"/>
                </a:solidFill>
                <a:latin typeface="Arial"/>
                <a:ea typeface="Arial"/>
                <a:cs typeface="Arial"/>
                <a:sym typeface="Arial"/>
              </a:rPr>
              <a:t> HILL-CLIMBING( </a:t>
            </a:r>
            <a:r>
              <a:rPr b="0" i="1" lang="en-US" sz="1800" u="none">
                <a:solidFill>
                  <a:schemeClr val="dk1"/>
                </a:solidFill>
                <a:latin typeface="Arial"/>
                <a:ea typeface="Arial"/>
                <a:cs typeface="Arial"/>
                <a:sym typeface="Arial"/>
              </a:rPr>
              <a:t>problem</a:t>
            </a: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return</a:t>
            </a:r>
            <a:r>
              <a:rPr b="0" i="0" lang="en-US" sz="1800" u="none">
                <a:solidFill>
                  <a:schemeClr val="dk1"/>
                </a:solidFill>
                <a:latin typeface="Arial"/>
                <a:ea typeface="Arial"/>
                <a:cs typeface="Arial"/>
                <a:sym typeface="Arial"/>
              </a:rPr>
              <a:t> a state that is a local maximum</a:t>
            </a:r>
            <a:endParaRPr/>
          </a:p>
          <a:p>
            <a:pPr indent="-342900" lvl="0" marL="342900" rtl="0" algn="l">
              <a:lnSpc>
                <a:spcPct val="90000"/>
              </a:lnSpc>
              <a:spcBef>
                <a:spcPts val="36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input:</a:t>
            </a: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problem</a:t>
            </a:r>
            <a:r>
              <a:rPr b="0" i="0" lang="en-US" sz="1800" u="none">
                <a:solidFill>
                  <a:schemeClr val="dk1"/>
                </a:solidFill>
                <a:latin typeface="Arial"/>
                <a:ea typeface="Arial"/>
                <a:cs typeface="Arial"/>
                <a:sym typeface="Arial"/>
              </a:rPr>
              <a:t>, a problem</a:t>
            </a:r>
            <a:endParaRPr/>
          </a:p>
          <a:p>
            <a:pPr indent="-342900" lvl="0" marL="342900" rtl="0" algn="l">
              <a:lnSpc>
                <a:spcPct val="90000"/>
              </a:lnSpc>
              <a:spcBef>
                <a:spcPts val="360"/>
              </a:spcBef>
              <a:spcAft>
                <a:spcPts val="0"/>
              </a:spcAft>
              <a:buClr>
                <a:schemeClr val="dk1"/>
              </a:buClr>
              <a:buSzPts val="1800"/>
              <a:buFont typeface="Arial"/>
              <a:buNone/>
            </a:pPr>
            <a:r>
              <a:rPr b="0" i="1"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local variables: </a:t>
            </a:r>
            <a:r>
              <a:rPr b="0" i="1" lang="en-US" sz="1800" u="none">
                <a:solidFill>
                  <a:schemeClr val="dk1"/>
                </a:solidFill>
                <a:latin typeface="Arial"/>
                <a:ea typeface="Arial"/>
                <a:cs typeface="Arial"/>
                <a:sym typeface="Arial"/>
              </a:rPr>
              <a:t>current</a:t>
            </a:r>
            <a:r>
              <a:rPr b="1" i="0" lang="en-US" sz="1800" u="none">
                <a:solidFill>
                  <a:schemeClr val="dk1"/>
                </a:solidFill>
                <a:latin typeface="Arial"/>
                <a:ea typeface="Arial"/>
                <a:cs typeface="Arial"/>
                <a:sym typeface="Arial"/>
              </a:rPr>
              <a:t>, a node.</a:t>
            </a:r>
            <a:endParaRPr/>
          </a:p>
          <a:p>
            <a:pPr indent="-342900" lvl="0" marL="342900" rtl="0" algn="l">
              <a:lnSpc>
                <a:spcPct val="90000"/>
              </a:lnSpc>
              <a:spcBef>
                <a:spcPts val="36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neighbor</a:t>
            </a:r>
            <a:r>
              <a:rPr b="1" i="0" lang="en-US" sz="1800" u="none">
                <a:solidFill>
                  <a:schemeClr val="dk1"/>
                </a:solidFill>
                <a:latin typeface="Arial"/>
                <a:ea typeface="Arial"/>
                <a:cs typeface="Arial"/>
                <a:sym typeface="Arial"/>
              </a:rPr>
              <a:t>, a node.</a:t>
            </a:r>
            <a:endParaRPr/>
          </a:p>
          <a:p>
            <a:pPr indent="-342900" lvl="0" marL="342900" rtl="0" algn="l">
              <a:lnSpc>
                <a:spcPct val="90000"/>
              </a:lnSpc>
              <a:spcBef>
                <a:spcPts val="360"/>
              </a:spcBef>
              <a:spcAft>
                <a:spcPts val="0"/>
              </a:spcAft>
              <a:buClr>
                <a:schemeClr val="dk1"/>
              </a:buClr>
              <a:buSzPts val="1800"/>
              <a:buFont typeface="Arial"/>
              <a:buNone/>
            </a:pPr>
            <a:r>
              <a:rPr b="0" i="1" lang="en-US" sz="1800" u="none">
                <a:solidFill>
                  <a:schemeClr val="dk1"/>
                </a:solidFill>
                <a:latin typeface="Arial"/>
                <a:ea typeface="Arial"/>
                <a:cs typeface="Arial"/>
                <a:sym typeface="Arial"/>
              </a:rPr>
              <a:t>	</a:t>
            </a:r>
            <a:endParaRPr/>
          </a:p>
          <a:p>
            <a:pPr indent="-342900" lvl="0" marL="342900" rtl="0" algn="l">
              <a:lnSpc>
                <a:spcPct val="90000"/>
              </a:lnSpc>
              <a:spcBef>
                <a:spcPts val="360"/>
              </a:spcBef>
              <a:spcAft>
                <a:spcPts val="0"/>
              </a:spcAft>
              <a:buClr>
                <a:schemeClr val="dk1"/>
              </a:buClr>
              <a:buSzPts val="1800"/>
              <a:buFont typeface="Arial"/>
              <a:buNone/>
            </a:pPr>
            <a:r>
              <a:rPr b="0" i="1" lang="en-US" sz="1800" u="none">
                <a:solidFill>
                  <a:schemeClr val="dk1"/>
                </a:solidFill>
                <a:latin typeface="Arial"/>
                <a:ea typeface="Arial"/>
                <a:cs typeface="Arial"/>
                <a:sym typeface="Arial"/>
              </a:rPr>
              <a:t>	current ← </a:t>
            </a:r>
            <a:r>
              <a:rPr b="0" i="0" lang="en-US" sz="1800" u="none">
                <a:solidFill>
                  <a:schemeClr val="dk1"/>
                </a:solidFill>
                <a:latin typeface="Arial"/>
                <a:ea typeface="Arial"/>
                <a:cs typeface="Arial"/>
                <a:sym typeface="Arial"/>
              </a:rPr>
              <a:t>MAKE-NODE(INITIAL-STATE[</a:t>
            </a:r>
            <a:r>
              <a:rPr b="0" i="1" lang="en-US" sz="1800" u="none">
                <a:solidFill>
                  <a:schemeClr val="dk1"/>
                </a:solidFill>
                <a:latin typeface="Arial"/>
                <a:ea typeface="Arial"/>
                <a:cs typeface="Arial"/>
                <a:sym typeface="Arial"/>
              </a:rPr>
              <a:t>problem</a:t>
            </a:r>
            <a:r>
              <a:rPr b="0" i="0" lang="en-US" sz="1800" u="none">
                <a:solidFill>
                  <a:schemeClr val="dk1"/>
                </a:solidFill>
                <a:latin typeface="Arial"/>
                <a:ea typeface="Arial"/>
                <a:cs typeface="Arial"/>
                <a:sym typeface="Arial"/>
              </a:rPr>
              <a:t>])</a:t>
            </a:r>
            <a:endParaRPr/>
          </a:p>
          <a:p>
            <a:pPr indent="-342900" lvl="0" marL="342900" rtl="0" algn="l">
              <a:lnSpc>
                <a:spcPct val="90000"/>
              </a:lnSpc>
              <a:spcBef>
                <a:spcPts val="36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loop do</a:t>
            </a:r>
            <a:endParaRPr b="0" i="0" sz="1800" u="none">
              <a:solidFill>
                <a:schemeClr val="dk1"/>
              </a:solidFill>
              <a:latin typeface="Arial"/>
              <a:ea typeface="Arial"/>
              <a:cs typeface="Arial"/>
              <a:sym typeface="Arial"/>
            </a:endParaRPr>
          </a:p>
          <a:p>
            <a:pPr indent="-342900" lvl="0" marL="342900" rtl="0" algn="l">
              <a:lnSpc>
                <a:spcPct val="90000"/>
              </a:lnSpc>
              <a:spcBef>
                <a:spcPts val="36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neighbor</a:t>
            </a:r>
            <a:r>
              <a:rPr b="0" i="0" lang="en-US" sz="1800" u="none">
                <a:solidFill>
                  <a:schemeClr val="dk1"/>
                </a:solidFill>
                <a:latin typeface="Arial"/>
                <a:ea typeface="Arial"/>
                <a:cs typeface="Arial"/>
                <a:sym typeface="Arial"/>
              </a:rPr>
              <a:t> ← a highest valued successor of </a:t>
            </a:r>
            <a:r>
              <a:rPr b="0" i="1" lang="en-US" sz="1800" u="none">
                <a:solidFill>
                  <a:schemeClr val="dk1"/>
                </a:solidFill>
                <a:latin typeface="Arial"/>
                <a:ea typeface="Arial"/>
                <a:cs typeface="Arial"/>
                <a:sym typeface="Arial"/>
              </a:rPr>
              <a:t>current</a:t>
            </a:r>
            <a:endParaRPr b="1" i="0" sz="1800" u="none">
              <a:solidFill>
                <a:schemeClr val="dk1"/>
              </a:solidFill>
              <a:latin typeface="Arial"/>
              <a:ea typeface="Arial"/>
              <a:cs typeface="Arial"/>
              <a:sym typeface="Arial"/>
            </a:endParaRPr>
          </a:p>
          <a:p>
            <a:pPr indent="-342900" lvl="0" marL="342900" rtl="0" algn="l">
              <a:lnSpc>
                <a:spcPct val="90000"/>
              </a:lnSpc>
              <a:spcBef>
                <a:spcPts val="36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if</a:t>
            </a:r>
            <a:r>
              <a:rPr b="0" i="0" lang="en-US" sz="1800" u="none">
                <a:solidFill>
                  <a:schemeClr val="dk1"/>
                </a:solidFill>
                <a:latin typeface="Arial"/>
                <a:ea typeface="Arial"/>
                <a:cs typeface="Arial"/>
                <a:sym typeface="Arial"/>
              </a:rPr>
              <a:t> VALUE</a:t>
            </a:r>
            <a:r>
              <a:rPr b="0" i="1" lang="en-US" sz="1800" u="none">
                <a:solidFill>
                  <a:schemeClr val="dk1"/>
                </a:solidFill>
                <a:latin typeface="Arial"/>
                <a:ea typeface="Arial"/>
                <a:cs typeface="Arial"/>
                <a:sym typeface="Arial"/>
              </a:rPr>
              <a:t> </a:t>
            </a:r>
            <a:r>
              <a:rPr b="0" i="0" lang="en-US" sz="1800" u="none">
                <a:solidFill>
                  <a:schemeClr val="dk1"/>
                </a:solidFill>
                <a:latin typeface="Arial"/>
                <a:ea typeface="Arial"/>
                <a:cs typeface="Arial"/>
                <a:sym typeface="Arial"/>
              </a:rPr>
              <a:t>[</a:t>
            </a:r>
            <a:r>
              <a:rPr b="0" i="1" lang="en-US" sz="1800" u="none">
                <a:solidFill>
                  <a:schemeClr val="dk1"/>
                </a:solidFill>
                <a:latin typeface="Arial"/>
                <a:ea typeface="Arial"/>
                <a:cs typeface="Arial"/>
                <a:sym typeface="Arial"/>
              </a:rPr>
              <a:t>neighbor</a:t>
            </a:r>
            <a:r>
              <a:rPr b="0" i="0" lang="en-US" sz="1800" u="none">
                <a:solidFill>
                  <a:schemeClr val="dk1"/>
                </a:solidFill>
                <a:latin typeface="Arial"/>
                <a:ea typeface="Arial"/>
                <a:cs typeface="Arial"/>
                <a:sym typeface="Arial"/>
              </a:rPr>
              <a:t>]</a:t>
            </a:r>
            <a:r>
              <a:rPr b="0" i="1" lang="en-US" sz="1800" u="none">
                <a:solidFill>
                  <a:schemeClr val="dk1"/>
                </a:solidFill>
                <a:latin typeface="Arial"/>
                <a:ea typeface="Arial"/>
                <a:cs typeface="Arial"/>
                <a:sym typeface="Arial"/>
              </a:rPr>
              <a:t> ≤ </a:t>
            </a:r>
            <a:r>
              <a:rPr b="0" i="0" lang="en-US" sz="1800" u="none">
                <a:solidFill>
                  <a:schemeClr val="dk1"/>
                </a:solidFill>
                <a:latin typeface="Arial"/>
                <a:ea typeface="Arial"/>
                <a:cs typeface="Arial"/>
                <a:sym typeface="Arial"/>
              </a:rPr>
              <a:t>VALUE[</a:t>
            </a:r>
            <a:r>
              <a:rPr b="0" i="1" lang="en-US" sz="1800" u="none">
                <a:solidFill>
                  <a:schemeClr val="dk1"/>
                </a:solidFill>
                <a:latin typeface="Arial"/>
                <a:ea typeface="Arial"/>
                <a:cs typeface="Arial"/>
                <a:sym typeface="Arial"/>
              </a:rPr>
              <a:t>current</a:t>
            </a: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then return</a:t>
            </a:r>
            <a:r>
              <a:rPr b="0" i="0" lang="en-US" sz="1800" u="none">
                <a:solidFill>
                  <a:schemeClr val="dk1"/>
                </a:solidFill>
                <a:latin typeface="Arial"/>
                <a:ea typeface="Arial"/>
                <a:cs typeface="Arial"/>
                <a:sym typeface="Arial"/>
              </a:rPr>
              <a:t> STATE[</a:t>
            </a:r>
            <a:r>
              <a:rPr b="0" i="1" lang="en-US" sz="1800" u="none">
                <a:solidFill>
                  <a:schemeClr val="dk1"/>
                </a:solidFill>
                <a:latin typeface="Arial"/>
                <a:ea typeface="Arial"/>
                <a:cs typeface="Arial"/>
                <a:sym typeface="Arial"/>
              </a:rPr>
              <a:t>current</a:t>
            </a:r>
            <a:r>
              <a:rPr b="0" i="0" lang="en-US" sz="1800" u="none">
                <a:solidFill>
                  <a:schemeClr val="dk1"/>
                </a:solidFill>
                <a:latin typeface="Arial"/>
                <a:ea typeface="Arial"/>
                <a:cs typeface="Arial"/>
                <a:sym typeface="Arial"/>
              </a:rPr>
              <a:t>]</a:t>
            </a:r>
            <a:endParaRPr/>
          </a:p>
          <a:p>
            <a:pPr indent="-342900" lvl="0" marL="342900" rtl="0" algn="l">
              <a:lnSpc>
                <a:spcPct val="90000"/>
              </a:lnSpc>
              <a:spcBef>
                <a:spcPts val="36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current</a:t>
            </a:r>
            <a:r>
              <a:rPr b="0" i="0" lang="en-US" sz="1800" u="none">
                <a:solidFill>
                  <a:schemeClr val="dk1"/>
                </a:solidFill>
                <a:latin typeface="Arial"/>
                <a:ea typeface="Arial"/>
                <a:cs typeface="Arial"/>
                <a:sym typeface="Arial"/>
              </a:rPr>
              <a:t> ← </a:t>
            </a:r>
            <a:r>
              <a:rPr b="0" i="1" lang="en-US" sz="1800" u="none">
                <a:solidFill>
                  <a:schemeClr val="dk1"/>
                </a:solidFill>
                <a:latin typeface="Arial"/>
                <a:ea typeface="Arial"/>
                <a:cs typeface="Arial"/>
                <a:sym typeface="Arial"/>
              </a:rPr>
              <a:t>neighbor</a:t>
            </a:r>
            <a:endParaRPr b="0" i="0" sz="1800" u="none">
              <a:solidFill>
                <a:schemeClr val="dk1"/>
              </a:solidFill>
              <a:latin typeface="Arial"/>
              <a:ea typeface="Arial"/>
              <a:cs typeface="Arial"/>
              <a:sym typeface="Arial"/>
            </a:endParaRPr>
          </a:p>
          <a:p>
            <a:pPr indent="-228600" lvl="0" marL="342900" rtl="0" algn="l">
              <a:spcBef>
                <a:spcPts val="36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p:txBody>
      </p:sp>
      <p:sp>
        <p:nvSpPr>
          <p:cNvPr id="429" name="Google Shape;429;p39"/>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pic>
        <p:nvPicPr>
          <p:cNvPr id="430" name="Google Shape;430;p39"/>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0"/>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Hill-Climbing Variations</a:t>
            </a:r>
            <a:endParaRPr/>
          </a:p>
        </p:txBody>
      </p:sp>
      <p:sp>
        <p:nvSpPr>
          <p:cNvPr id="436" name="Google Shape;436;p4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C00000"/>
              </a:buClr>
              <a:buSzPts val="3200"/>
              <a:buFont typeface="Arial"/>
              <a:buChar char="•"/>
            </a:pPr>
            <a:r>
              <a:rPr b="1" i="1" lang="en-US" sz="3200" u="none">
                <a:solidFill>
                  <a:schemeClr val="dk1"/>
                </a:solidFill>
                <a:latin typeface="Arial"/>
                <a:ea typeface="Arial"/>
                <a:cs typeface="Arial"/>
                <a:sym typeface="Arial"/>
              </a:rPr>
              <a:t>Stochastic hill-climbing</a:t>
            </a:r>
            <a:endParaRPr/>
          </a:p>
          <a:p>
            <a:pPr indent="-285750" lvl="1" marL="74295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Random selection among the uphill moves.</a:t>
            </a:r>
            <a:endParaRPr/>
          </a:p>
          <a:p>
            <a:pPr indent="-285750" lvl="1" marL="74295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The selection probability can vary with the steepness of the uphill move.</a:t>
            </a:r>
            <a:endParaRPr/>
          </a:p>
          <a:p>
            <a:pPr indent="-342900" lvl="0" marL="342900" rtl="0" algn="just">
              <a:lnSpc>
                <a:spcPct val="90000"/>
              </a:lnSpc>
              <a:spcBef>
                <a:spcPts val="640"/>
              </a:spcBef>
              <a:spcAft>
                <a:spcPts val="0"/>
              </a:spcAft>
              <a:buClr>
                <a:srgbClr val="C00000"/>
              </a:buClr>
              <a:buSzPts val="3200"/>
              <a:buFont typeface="Arial"/>
              <a:buChar char="•"/>
            </a:pPr>
            <a:r>
              <a:rPr b="1" i="1" lang="en-US" sz="3200" u="none">
                <a:solidFill>
                  <a:schemeClr val="dk1"/>
                </a:solidFill>
                <a:latin typeface="Arial"/>
                <a:ea typeface="Arial"/>
                <a:cs typeface="Arial"/>
                <a:sym typeface="Arial"/>
              </a:rPr>
              <a:t>First-choice hill-climbing</a:t>
            </a:r>
            <a:endParaRPr/>
          </a:p>
          <a:p>
            <a:pPr indent="-285750" lvl="1" marL="74295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implements stochastic hill climbing by generating successors randomly until a better one is found.</a:t>
            </a:r>
            <a:endParaRPr/>
          </a:p>
          <a:p>
            <a:pPr indent="-342900" lvl="0" marL="342900" rtl="0" algn="just">
              <a:lnSpc>
                <a:spcPct val="90000"/>
              </a:lnSpc>
              <a:spcBef>
                <a:spcPts val="640"/>
              </a:spcBef>
              <a:spcAft>
                <a:spcPts val="0"/>
              </a:spcAft>
              <a:buClr>
                <a:srgbClr val="C00000"/>
              </a:buClr>
              <a:buSzPts val="3200"/>
              <a:buFont typeface="Arial"/>
              <a:buChar char="•"/>
            </a:pPr>
            <a:r>
              <a:rPr b="1" i="1" lang="en-US" sz="3200" u="none">
                <a:solidFill>
                  <a:schemeClr val="dk1"/>
                </a:solidFill>
                <a:latin typeface="Arial"/>
                <a:ea typeface="Arial"/>
                <a:cs typeface="Arial"/>
                <a:sym typeface="Arial"/>
              </a:rPr>
              <a:t>Random-restart hill-climbing</a:t>
            </a:r>
            <a:endParaRPr/>
          </a:p>
          <a:p>
            <a:pPr indent="-285750" lvl="1" marL="74295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Tries to avoid getting stuck in local maxima.</a:t>
            </a:r>
            <a:endParaRPr/>
          </a:p>
        </p:txBody>
      </p:sp>
      <p:sp>
        <p:nvSpPr>
          <p:cNvPr id="437" name="Google Shape;437;p40"/>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pic>
        <p:nvPicPr>
          <p:cNvPr id="438" name="Google Shape;438;p40"/>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1"/>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Simulated Annealing</a:t>
            </a:r>
            <a:endParaRPr/>
          </a:p>
        </p:txBody>
      </p:sp>
      <p:sp>
        <p:nvSpPr>
          <p:cNvPr id="444" name="Google Shape;444;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600"/>
              <a:buFont typeface="Arial"/>
              <a:buChar char="•"/>
            </a:pPr>
            <a:r>
              <a:rPr b="0" i="0" lang="en-US" sz="2600" u="none">
                <a:solidFill>
                  <a:schemeClr val="dk1"/>
                </a:solidFill>
                <a:latin typeface="Arial"/>
                <a:ea typeface="Arial"/>
                <a:cs typeface="Arial"/>
                <a:sym typeface="Arial"/>
              </a:rPr>
              <a:t>Escape local maxima by allowing “bad” moves.</a:t>
            </a:r>
            <a:endParaRPr/>
          </a:p>
          <a:p>
            <a:pPr indent="-285750" lvl="1" marL="74295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Idea: but gradually decrease their size and frequency.</a:t>
            </a:r>
            <a:endParaRPr/>
          </a:p>
          <a:p>
            <a:pPr indent="-342900" lvl="0" marL="342900" rtl="0" algn="l">
              <a:lnSpc>
                <a:spcPct val="100000"/>
              </a:lnSpc>
              <a:spcBef>
                <a:spcPts val="520"/>
              </a:spcBef>
              <a:spcAft>
                <a:spcPts val="0"/>
              </a:spcAft>
              <a:buClr>
                <a:schemeClr val="dk1"/>
              </a:buClr>
              <a:buSzPts val="2600"/>
              <a:buFont typeface="Arial"/>
              <a:buChar char="•"/>
            </a:pPr>
            <a:r>
              <a:rPr b="0" i="0" lang="en-US" sz="2600" u="none">
                <a:solidFill>
                  <a:schemeClr val="dk1"/>
                </a:solidFill>
                <a:latin typeface="Arial"/>
                <a:ea typeface="Arial"/>
                <a:cs typeface="Arial"/>
                <a:sym typeface="Arial"/>
              </a:rPr>
              <a:t>Origin; metallurgical annealing</a:t>
            </a:r>
            <a:endParaRPr/>
          </a:p>
          <a:p>
            <a:pPr indent="-342900" lvl="0" marL="342900" rtl="0" algn="l">
              <a:lnSpc>
                <a:spcPct val="100000"/>
              </a:lnSpc>
              <a:spcBef>
                <a:spcPts val="520"/>
              </a:spcBef>
              <a:spcAft>
                <a:spcPts val="0"/>
              </a:spcAft>
              <a:buClr>
                <a:schemeClr val="dk1"/>
              </a:buClr>
              <a:buSzPts val="2600"/>
              <a:buFont typeface="Arial"/>
              <a:buChar char="•"/>
            </a:pPr>
            <a:r>
              <a:rPr b="0" i="0" lang="en-US" sz="2600" u="none">
                <a:solidFill>
                  <a:schemeClr val="dk1"/>
                </a:solidFill>
                <a:latin typeface="Arial"/>
                <a:ea typeface="Arial"/>
                <a:cs typeface="Arial"/>
                <a:sym typeface="Arial"/>
              </a:rPr>
              <a:t>Bouncing ball analogy:</a:t>
            </a:r>
            <a:endParaRPr/>
          </a:p>
          <a:p>
            <a:pPr indent="-285750" lvl="1" marL="74295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Shaking hard (= high temperature).</a:t>
            </a:r>
            <a:endParaRPr/>
          </a:p>
          <a:p>
            <a:pPr indent="-285750" lvl="1" marL="74295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Shaking less (= lower the temperature).</a:t>
            </a:r>
            <a:endParaRPr/>
          </a:p>
          <a:p>
            <a:pPr indent="-342900" lvl="0" marL="342900" rtl="0" algn="l">
              <a:lnSpc>
                <a:spcPct val="100000"/>
              </a:lnSpc>
              <a:spcBef>
                <a:spcPts val="520"/>
              </a:spcBef>
              <a:spcAft>
                <a:spcPts val="0"/>
              </a:spcAft>
              <a:buClr>
                <a:schemeClr val="dk1"/>
              </a:buClr>
              <a:buSzPts val="2600"/>
              <a:buFont typeface="Arial"/>
              <a:buChar char="•"/>
            </a:pPr>
            <a:r>
              <a:rPr b="0" i="0" lang="en-US" sz="2600" u="none">
                <a:solidFill>
                  <a:schemeClr val="dk1"/>
                </a:solidFill>
                <a:latin typeface="Arial"/>
                <a:ea typeface="Arial"/>
                <a:cs typeface="Arial"/>
                <a:sym typeface="Arial"/>
              </a:rPr>
              <a:t>If T decreases slowly enough, best state is reached.</a:t>
            </a:r>
            <a:endParaRPr/>
          </a:p>
          <a:p>
            <a:pPr indent="-342900" lvl="0" marL="342900" rtl="0" algn="l">
              <a:lnSpc>
                <a:spcPct val="100000"/>
              </a:lnSpc>
              <a:spcBef>
                <a:spcPts val="520"/>
              </a:spcBef>
              <a:spcAft>
                <a:spcPts val="0"/>
              </a:spcAft>
              <a:buClr>
                <a:schemeClr val="dk1"/>
              </a:buClr>
              <a:buSzPts val="2600"/>
              <a:buFont typeface="Arial"/>
              <a:buChar char="•"/>
            </a:pPr>
            <a:r>
              <a:rPr b="0" i="0" lang="en-US" sz="2600" u="none">
                <a:solidFill>
                  <a:schemeClr val="dk1"/>
                </a:solidFill>
                <a:latin typeface="Arial"/>
                <a:ea typeface="Arial"/>
                <a:cs typeface="Arial"/>
                <a:sym typeface="Arial"/>
              </a:rPr>
              <a:t>Applied for VLSI layout, airline scheduling, etc.</a:t>
            </a:r>
            <a:endParaRPr/>
          </a:p>
        </p:txBody>
      </p:sp>
      <p:pic>
        <p:nvPicPr>
          <p:cNvPr id="445" name="Google Shape;445;p41"/>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446" name="Google Shape;446;p41"/>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function</a:t>
            </a:r>
            <a:r>
              <a:rPr b="0" i="0" lang="en-US" sz="1600" u="none">
                <a:solidFill>
                  <a:schemeClr val="dk1"/>
                </a:solidFill>
                <a:latin typeface="Arial"/>
                <a:ea typeface="Arial"/>
                <a:cs typeface="Arial"/>
                <a:sym typeface="Arial"/>
              </a:rPr>
              <a:t> SIMULATED-ANNEALING( </a:t>
            </a:r>
            <a:r>
              <a:rPr b="0" i="1" lang="en-US" sz="1600" u="none">
                <a:solidFill>
                  <a:schemeClr val="dk1"/>
                </a:solidFill>
                <a:latin typeface="Arial"/>
                <a:ea typeface="Arial"/>
                <a:cs typeface="Arial"/>
                <a:sym typeface="Arial"/>
              </a:rPr>
              <a:t>problem, schedule</a:t>
            </a: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return</a:t>
            </a:r>
            <a:r>
              <a:rPr b="0" i="0" lang="en-US" sz="1600" u="none">
                <a:solidFill>
                  <a:schemeClr val="dk1"/>
                </a:solidFill>
                <a:latin typeface="Arial"/>
                <a:ea typeface="Arial"/>
                <a:cs typeface="Arial"/>
                <a:sym typeface="Arial"/>
              </a:rPr>
              <a:t> a solution state</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input:</a:t>
            </a: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problem</a:t>
            </a:r>
            <a:r>
              <a:rPr b="0" i="0" lang="en-US" sz="1600" u="none">
                <a:solidFill>
                  <a:schemeClr val="dk1"/>
                </a:solidFill>
                <a:latin typeface="Arial"/>
                <a:ea typeface="Arial"/>
                <a:cs typeface="Arial"/>
                <a:sym typeface="Arial"/>
              </a:rPr>
              <a:t>, a problem</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schedule</a:t>
            </a:r>
            <a:r>
              <a:rPr b="0" i="0" lang="en-US" sz="1600" u="none">
                <a:solidFill>
                  <a:schemeClr val="dk1"/>
                </a:solidFill>
                <a:latin typeface="Arial"/>
                <a:ea typeface="Arial"/>
                <a:cs typeface="Arial"/>
                <a:sym typeface="Arial"/>
              </a:rPr>
              <a:t>, a mapping from time to temperature</a:t>
            </a:r>
            <a:endParaRPr/>
          </a:p>
          <a:p>
            <a:pPr indent="-342900" lvl="0" marL="342900" rtl="0" algn="l">
              <a:lnSpc>
                <a:spcPct val="90000"/>
              </a:lnSpc>
              <a:spcBef>
                <a:spcPts val="320"/>
              </a:spcBef>
              <a:spcAft>
                <a:spcPts val="0"/>
              </a:spcAft>
              <a:buClr>
                <a:schemeClr val="dk1"/>
              </a:buClr>
              <a:buSzPts val="1600"/>
              <a:buFont typeface="Arial"/>
              <a:buNone/>
            </a:pPr>
            <a:r>
              <a:rPr b="0" i="1"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local variables: </a:t>
            </a:r>
            <a:r>
              <a:rPr b="0" i="1" lang="en-US" sz="1600" u="none">
                <a:solidFill>
                  <a:schemeClr val="dk1"/>
                </a:solidFill>
                <a:latin typeface="Arial"/>
                <a:ea typeface="Arial"/>
                <a:cs typeface="Arial"/>
                <a:sym typeface="Arial"/>
              </a:rPr>
              <a:t>current</a:t>
            </a:r>
            <a:r>
              <a:rPr b="1" i="0" lang="en-US" sz="1600" u="none">
                <a:solidFill>
                  <a:schemeClr val="dk1"/>
                </a:solidFill>
                <a:latin typeface="Arial"/>
                <a:ea typeface="Arial"/>
                <a:cs typeface="Arial"/>
                <a:sym typeface="Arial"/>
              </a:rPr>
              <a:t>, </a:t>
            </a:r>
            <a:r>
              <a:rPr b="0" i="0" lang="en-US" sz="1600" u="none">
                <a:solidFill>
                  <a:schemeClr val="dk1"/>
                </a:solidFill>
                <a:latin typeface="Arial"/>
                <a:ea typeface="Arial"/>
                <a:cs typeface="Arial"/>
                <a:sym typeface="Arial"/>
              </a:rPr>
              <a:t>a node.</a:t>
            </a:r>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next</a:t>
            </a:r>
            <a:r>
              <a:rPr b="1" i="0" lang="en-US" sz="1600" u="none">
                <a:solidFill>
                  <a:schemeClr val="dk1"/>
                </a:solidFill>
                <a:latin typeface="Arial"/>
                <a:ea typeface="Arial"/>
                <a:cs typeface="Arial"/>
                <a:sym typeface="Arial"/>
              </a:rPr>
              <a:t>, </a:t>
            </a:r>
            <a:r>
              <a:rPr b="0" i="0" lang="en-US" sz="1600" u="none">
                <a:solidFill>
                  <a:schemeClr val="dk1"/>
                </a:solidFill>
                <a:latin typeface="Arial"/>
                <a:ea typeface="Arial"/>
                <a:cs typeface="Arial"/>
                <a:sym typeface="Arial"/>
              </a:rPr>
              <a:t>a node.</a:t>
            </a:r>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T</a:t>
            </a:r>
            <a:r>
              <a:rPr b="1" i="0" lang="en-US" sz="1600" u="none">
                <a:solidFill>
                  <a:schemeClr val="dk1"/>
                </a:solidFill>
                <a:latin typeface="Arial"/>
                <a:ea typeface="Arial"/>
                <a:cs typeface="Arial"/>
                <a:sym typeface="Arial"/>
              </a:rPr>
              <a:t>, </a:t>
            </a:r>
            <a:r>
              <a:rPr b="0" i="0" lang="en-US" sz="1600" u="none">
                <a:solidFill>
                  <a:schemeClr val="dk1"/>
                </a:solidFill>
                <a:latin typeface="Arial"/>
                <a:ea typeface="Arial"/>
                <a:cs typeface="Arial"/>
                <a:sym typeface="Arial"/>
              </a:rPr>
              <a:t>a “temperature” controlling the probability of downward steps</a:t>
            </a:r>
            <a:endParaRPr/>
          </a:p>
          <a:p>
            <a:pPr indent="-342900" lvl="0" marL="342900" rtl="0" algn="l">
              <a:lnSpc>
                <a:spcPct val="90000"/>
              </a:lnSpc>
              <a:spcBef>
                <a:spcPts val="320"/>
              </a:spcBef>
              <a:spcAft>
                <a:spcPts val="0"/>
              </a:spcAft>
              <a:buClr>
                <a:schemeClr val="dk1"/>
              </a:buClr>
              <a:buSzPts val="1600"/>
              <a:buFont typeface="Arial"/>
              <a:buNone/>
            </a:pPr>
            <a:r>
              <a:rPr b="0" i="1" lang="en-US" sz="1600" u="none">
                <a:solidFill>
                  <a:schemeClr val="dk1"/>
                </a:solidFill>
                <a:latin typeface="Arial"/>
                <a:ea typeface="Arial"/>
                <a:cs typeface="Arial"/>
                <a:sym typeface="Arial"/>
              </a:rPr>
              <a:t>	</a:t>
            </a:r>
            <a:endParaRPr/>
          </a:p>
          <a:p>
            <a:pPr indent="-342900" lvl="0" marL="342900" rtl="0" algn="l">
              <a:lnSpc>
                <a:spcPct val="90000"/>
              </a:lnSpc>
              <a:spcBef>
                <a:spcPts val="320"/>
              </a:spcBef>
              <a:spcAft>
                <a:spcPts val="0"/>
              </a:spcAft>
              <a:buClr>
                <a:schemeClr val="dk1"/>
              </a:buClr>
              <a:buSzPts val="1600"/>
              <a:buFont typeface="Arial"/>
              <a:buNone/>
            </a:pPr>
            <a:r>
              <a:rPr b="0" i="1" lang="en-US" sz="1600" u="none">
                <a:solidFill>
                  <a:schemeClr val="dk1"/>
                </a:solidFill>
                <a:latin typeface="Arial"/>
                <a:ea typeface="Arial"/>
                <a:cs typeface="Arial"/>
                <a:sym typeface="Arial"/>
              </a:rPr>
              <a:t>	current ← </a:t>
            </a:r>
            <a:r>
              <a:rPr b="0" i="0" lang="en-US" sz="1600" u="none">
                <a:solidFill>
                  <a:schemeClr val="dk1"/>
                </a:solidFill>
                <a:latin typeface="Arial"/>
                <a:ea typeface="Arial"/>
                <a:cs typeface="Arial"/>
                <a:sym typeface="Arial"/>
              </a:rPr>
              <a:t>MAKE-NODE(INITIAL-STATE[</a:t>
            </a:r>
            <a:r>
              <a:rPr b="0" i="1" lang="en-US" sz="1600" u="none">
                <a:solidFill>
                  <a:schemeClr val="dk1"/>
                </a:solidFill>
                <a:latin typeface="Arial"/>
                <a:ea typeface="Arial"/>
                <a:cs typeface="Arial"/>
                <a:sym typeface="Arial"/>
              </a:rPr>
              <a:t>problem</a:t>
            </a:r>
            <a:r>
              <a:rPr b="0" i="0" lang="en-US" sz="1600" u="none">
                <a:solidFill>
                  <a:schemeClr val="dk1"/>
                </a:solidFill>
                <a:latin typeface="Arial"/>
                <a:ea typeface="Arial"/>
                <a:cs typeface="Arial"/>
                <a:sym typeface="Arial"/>
              </a:rPr>
              <a:t>])</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for t ← 1 to ∞ do</a:t>
            </a:r>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T ← schedule</a:t>
            </a:r>
            <a:r>
              <a:rPr b="0" i="0" lang="en-US" sz="1600" u="none">
                <a:solidFill>
                  <a:schemeClr val="dk1"/>
                </a:solidFill>
                <a:latin typeface="Arial"/>
                <a:ea typeface="Arial"/>
                <a:cs typeface="Arial"/>
                <a:sym typeface="Arial"/>
              </a:rPr>
              <a:t>[</a:t>
            </a:r>
            <a:r>
              <a:rPr b="0" i="1" lang="en-US" sz="1600" u="none">
                <a:solidFill>
                  <a:schemeClr val="dk1"/>
                </a:solidFill>
                <a:latin typeface="Arial"/>
                <a:ea typeface="Arial"/>
                <a:cs typeface="Arial"/>
                <a:sym typeface="Arial"/>
              </a:rPr>
              <a:t>t</a:t>
            </a:r>
            <a:r>
              <a:rPr b="0" i="0" lang="en-US" sz="1600" u="none">
                <a:solidFill>
                  <a:schemeClr val="dk1"/>
                </a:solidFill>
                <a:latin typeface="Arial"/>
                <a:ea typeface="Arial"/>
                <a:cs typeface="Arial"/>
                <a:sym typeface="Arial"/>
              </a:rPr>
              <a:t>]</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if</a:t>
            </a: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T = 0</a:t>
            </a: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then return</a:t>
            </a: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current</a:t>
            </a:r>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next</a:t>
            </a:r>
            <a:r>
              <a:rPr b="0" i="0" lang="en-US" sz="1600" u="none">
                <a:solidFill>
                  <a:schemeClr val="dk1"/>
                </a:solidFill>
                <a:latin typeface="Arial"/>
                <a:ea typeface="Arial"/>
                <a:cs typeface="Arial"/>
                <a:sym typeface="Arial"/>
              </a:rPr>
              <a:t> ← a randomly selected successor of </a:t>
            </a:r>
            <a:r>
              <a:rPr b="0" i="1" lang="en-US" sz="1600" u="none">
                <a:solidFill>
                  <a:schemeClr val="dk1"/>
                </a:solidFill>
                <a:latin typeface="Arial"/>
                <a:ea typeface="Arial"/>
                <a:cs typeface="Arial"/>
                <a:sym typeface="Arial"/>
              </a:rPr>
              <a:t>current</a:t>
            </a:r>
            <a:endParaRPr/>
          </a:p>
          <a:p>
            <a:pPr indent="-342900" lvl="0" marL="342900" rtl="0" algn="l">
              <a:lnSpc>
                <a:spcPct val="90000"/>
              </a:lnSpc>
              <a:spcBef>
                <a:spcPts val="320"/>
              </a:spcBef>
              <a:spcAft>
                <a:spcPts val="0"/>
              </a:spcAft>
              <a:buClr>
                <a:schemeClr val="dk1"/>
              </a:buClr>
              <a:buSzPts val="1600"/>
              <a:buFont typeface="Arial"/>
              <a:buNone/>
            </a:pPr>
            <a:r>
              <a:rPr b="0" i="1" lang="en-US" sz="1600" u="none">
                <a:solidFill>
                  <a:schemeClr val="dk1"/>
                </a:solidFill>
                <a:latin typeface="Arial"/>
                <a:ea typeface="Arial"/>
                <a:cs typeface="Arial"/>
                <a:sym typeface="Arial"/>
              </a:rPr>
              <a:t>		∆E</a:t>
            </a:r>
            <a:r>
              <a:rPr b="0" i="0" lang="en-US" sz="1600" u="none">
                <a:solidFill>
                  <a:schemeClr val="dk1"/>
                </a:solidFill>
                <a:latin typeface="Arial"/>
                <a:ea typeface="Arial"/>
                <a:cs typeface="Arial"/>
                <a:sym typeface="Arial"/>
              </a:rPr>
              <a:t> ← </a:t>
            </a:r>
            <a:r>
              <a:rPr b="0" i="1" lang="en-US" sz="1600" u="none">
                <a:solidFill>
                  <a:schemeClr val="dk1"/>
                </a:solidFill>
                <a:latin typeface="Arial"/>
                <a:ea typeface="Arial"/>
                <a:cs typeface="Arial"/>
                <a:sym typeface="Arial"/>
              </a:rPr>
              <a:t> </a:t>
            </a:r>
            <a:r>
              <a:rPr b="0" i="0" lang="en-US" sz="1600" u="none">
                <a:solidFill>
                  <a:schemeClr val="dk1"/>
                </a:solidFill>
                <a:latin typeface="Arial"/>
                <a:ea typeface="Arial"/>
                <a:cs typeface="Arial"/>
                <a:sym typeface="Arial"/>
              </a:rPr>
              <a:t>VALUE[</a:t>
            </a:r>
            <a:r>
              <a:rPr b="0" i="1" lang="en-US" sz="1600" u="none">
                <a:solidFill>
                  <a:schemeClr val="dk1"/>
                </a:solidFill>
                <a:latin typeface="Arial"/>
                <a:ea typeface="Arial"/>
                <a:cs typeface="Arial"/>
                <a:sym typeface="Arial"/>
              </a:rPr>
              <a:t>next</a:t>
            </a:r>
            <a:r>
              <a:rPr b="0" i="0" lang="en-US" sz="1600" u="none">
                <a:solidFill>
                  <a:schemeClr val="dk1"/>
                </a:solidFill>
                <a:latin typeface="Arial"/>
                <a:ea typeface="Arial"/>
                <a:cs typeface="Arial"/>
                <a:sym typeface="Arial"/>
              </a:rPr>
              <a:t>] - VALUE[</a:t>
            </a:r>
            <a:r>
              <a:rPr b="0" i="1" lang="en-US" sz="1600" u="none">
                <a:solidFill>
                  <a:schemeClr val="dk1"/>
                </a:solidFill>
                <a:latin typeface="Arial"/>
                <a:ea typeface="Arial"/>
                <a:cs typeface="Arial"/>
                <a:sym typeface="Arial"/>
              </a:rPr>
              <a:t>current</a:t>
            </a:r>
            <a:r>
              <a:rPr b="0" i="0" lang="en-US" sz="1600" u="none">
                <a:solidFill>
                  <a:schemeClr val="dk1"/>
                </a:solidFill>
                <a:latin typeface="Arial"/>
                <a:ea typeface="Arial"/>
                <a:cs typeface="Arial"/>
                <a:sym typeface="Arial"/>
              </a:rPr>
              <a:t>]</a:t>
            </a:r>
            <a:endParaRPr b="1" i="0" sz="1600" u="none">
              <a:solidFill>
                <a:schemeClr val="dk1"/>
              </a:solidFill>
              <a:latin typeface="Arial"/>
              <a:ea typeface="Arial"/>
              <a:cs typeface="Arial"/>
              <a:sym typeface="Arial"/>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if</a:t>
            </a: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∆E &gt; </a:t>
            </a:r>
            <a:r>
              <a:rPr b="0" i="0" lang="en-US" sz="1600" u="none">
                <a:solidFill>
                  <a:schemeClr val="dk1"/>
                </a:solidFill>
                <a:latin typeface="Arial"/>
                <a:ea typeface="Arial"/>
                <a:cs typeface="Arial"/>
                <a:sym typeface="Arial"/>
              </a:rPr>
              <a:t>0 </a:t>
            </a:r>
            <a:r>
              <a:rPr b="1" i="0" lang="en-US" sz="1600" u="none">
                <a:solidFill>
                  <a:schemeClr val="dk1"/>
                </a:solidFill>
                <a:latin typeface="Arial"/>
                <a:ea typeface="Arial"/>
                <a:cs typeface="Arial"/>
                <a:sym typeface="Arial"/>
              </a:rPr>
              <a:t>then </a:t>
            </a:r>
            <a:r>
              <a:rPr b="0" i="1" lang="en-US" sz="1600" u="none">
                <a:solidFill>
                  <a:schemeClr val="dk1"/>
                </a:solidFill>
                <a:latin typeface="Arial"/>
                <a:ea typeface="Arial"/>
                <a:cs typeface="Arial"/>
                <a:sym typeface="Arial"/>
              </a:rPr>
              <a:t>current</a:t>
            </a:r>
            <a:r>
              <a:rPr b="0" i="0" lang="en-US" sz="1600" u="none">
                <a:solidFill>
                  <a:schemeClr val="dk1"/>
                </a:solidFill>
                <a:latin typeface="Arial"/>
                <a:ea typeface="Arial"/>
                <a:cs typeface="Arial"/>
                <a:sym typeface="Arial"/>
              </a:rPr>
              <a:t> ← </a:t>
            </a:r>
            <a:r>
              <a:rPr b="0" i="1" lang="en-US" sz="1600" u="none">
                <a:solidFill>
                  <a:schemeClr val="dk1"/>
                </a:solidFill>
                <a:latin typeface="Arial"/>
                <a:ea typeface="Arial"/>
                <a:cs typeface="Arial"/>
                <a:sym typeface="Arial"/>
              </a:rPr>
              <a:t>next </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else</a:t>
            </a: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current</a:t>
            </a:r>
            <a:r>
              <a:rPr b="0" i="0" lang="en-US" sz="1600" u="none">
                <a:solidFill>
                  <a:schemeClr val="dk1"/>
                </a:solidFill>
                <a:latin typeface="Arial"/>
                <a:ea typeface="Arial"/>
                <a:cs typeface="Arial"/>
                <a:sym typeface="Arial"/>
              </a:rPr>
              <a:t> ← </a:t>
            </a:r>
            <a:r>
              <a:rPr b="0" i="1" lang="en-US" sz="1600" u="none">
                <a:solidFill>
                  <a:schemeClr val="dk1"/>
                </a:solidFill>
                <a:latin typeface="Arial"/>
                <a:ea typeface="Arial"/>
                <a:cs typeface="Arial"/>
                <a:sym typeface="Arial"/>
              </a:rPr>
              <a:t>next </a:t>
            </a:r>
            <a:r>
              <a:rPr b="0" i="0" lang="en-US" sz="1600" u="none">
                <a:solidFill>
                  <a:schemeClr val="dk1"/>
                </a:solidFill>
                <a:latin typeface="Arial"/>
                <a:ea typeface="Arial"/>
                <a:cs typeface="Arial"/>
                <a:sym typeface="Arial"/>
              </a:rPr>
              <a:t>only with probability </a:t>
            </a:r>
            <a:r>
              <a:rPr b="0" i="1" lang="en-US" sz="1600" u="none">
                <a:solidFill>
                  <a:schemeClr val="dk1"/>
                </a:solidFill>
                <a:latin typeface="Arial"/>
                <a:ea typeface="Arial"/>
                <a:cs typeface="Arial"/>
                <a:sym typeface="Arial"/>
              </a:rPr>
              <a:t>e</a:t>
            </a:r>
            <a:r>
              <a:rPr b="0" baseline="30000" i="1" lang="en-US" sz="1600" u="none">
                <a:solidFill>
                  <a:schemeClr val="dk1"/>
                </a:solidFill>
                <a:latin typeface="Arial"/>
                <a:ea typeface="Arial"/>
                <a:cs typeface="Arial"/>
                <a:sym typeface="Arial"/>
              </a:rPr>
              <a:t>∆E /T</a:t>
            </a:r>
            <a:endParaRPr b="0" i="0" sz="1600" u="none">
              <a:solidFill>
                <a:schemeClr val="dk1"/>
              </a:solidFill>
              <a:latin typeface="Arial"/>
              <a:ea typeface="Arial"/>
              <a:cs typeface="Arial"/>
              <a:sym typeface="Arial"/>
            </a:endParaRPr>
          </a:p>
          <a:p>
            <a:pPr indent="-241300" lvl="0" marL="342900" rtl="0" algn="l">
              <a:spcBef>
                <a:spcPts val="32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
        <p:nvSpPr>
          <p:cNvPr id="452" name="Google Shape;452;p4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Simulated Annealing</a:t>
            </a:r>
            <a:endParaRPr/>
          </a:p>
        </p:txBody>
      </p:sp>
      <p:sp>
        <p:nvSpPr>
          <p:cNvPr id="453" name="Google Shape;453;p42"/>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pic>
        <p:nvPicPr>
          <p:cNvPr id="454" name="Google Shape;454;p42"/>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3"/>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Local Beam Search</a:t>
            </a:r>
            <a:endParaRPr/>
          </a:p>
        </p:txBody>
      </p:sp>
      <p:sp>
        <p:nvSpPr>
          <p:cNvPr id="460" name="Google Shape;460;p4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Keep track of </a:t>
            </a:r>
            <a:r>
              <a:rPr b="0" i="1" lang="en-US" sz="2800" u="none">
                <a:solidFill>
                  <a:schemeClr val="dk1"/>
                </a:solidFill>
                <a:latin typeface="Arial"/>
                <a:ea typeface="Arial"/>
                <a:cs typeface="Arial"/>
                <a:sym typeface="Arial"/>
              </a:rPr>
              <a:t>k</a:t>
            </a:r>
            <a:r>
              <a:rPr b="0" i="0" lang="en-US" sz="2800" u="none">
                <a:solidFill>
                  <a:schemeClr val="dk1"/>
                </a:solidFill>
                <a:latin typeface="Arial"/>
                <a:ea typeface="Arial"/>
                <a:cs typeface="Arial"/>
                <a:sym typeface="Arial"/>
              </a:rPr>
              <a:t> states instead of one</a:t>
            </a:r>
            <a:endParaRPr/>
          </a:p>
          <a:p>
            <a:pPr indent="-285750" lvl="1" marL="742950" rtl="0" algn="just">
              <a:lnSpc>
                <a:spcPct val="9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Initially: </a:t>
            </a:r>
            <a:r>
              <a:rPr b="0" i="1" lang="en-US" sz="2000" u="none">
                <a:solidFill>
                  <a:schemeClr val="dk1"/>
                </a:solidFill>
                <a:latin typeface="Arial"/>
                <a:ea typeface="Arial"/>
                <a:cs typeface="Arial"/>
                <a:sym typeface="Arial"/>
              </a:rPr>
              <a:t>k</a:t>
            </a:r>
            <a:r>
              <a:rPr b="0" i="0" lang="en-US" sz="2000" u="none">
                <a:solidFill>
                  <a:schemeClr val="dk1"/>
                </a:solidFill>
                <a:latin typeface="Arial"/>
                <a:ea typeface="Arial"/>
                <a:cs typeface="Arial"/>
                <a:sym typeface="Arial"/>
              </a:rPr>
              <a:t> random states</a:t>
            </a:r>
            <a:endParaRPr/>
          </a:p>
          <a:p>
            <a:pPr indent="-285750" lvl="1" marL="742950" rtl="0" algn="just">
              <a:lnSpc>
                <a:spcPct val="9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Next: determine all  successors of </a:t>
            </a:r>
            <a:r>
              <a:rPr b="0" i="1" lang="en-US" sz="2000" u="none">
                <a:solidFill>
                  <a:schemeClr val="dk1"/>
                </a:solidFill>
                <a:latin typeface="Arial"/>
                <a:ea typeface="Arial"/>
                <a:cs typeface="Arial"/>
                <a:sym typeface="Arial"/>
              </a:rPr>
              <a:t>k</a:t>
            </a:r>
            <a:r>
              <a:rPr b="0" i="0" lang="en-US" sz="2000" u="none">
                <a:solidFill>
                  <a:schemeClr val="dk1"/>
                </a:solidFill>
                <a:latin typeface="Arial"/>
                <a:ea typeface="Arial"/>
                <a:cs typeface="Arial"/>
                <a:sym typeface="Arial"/>
              </a:rPr>
              <a:t> states</a:t>
            </a:r>
            <a:endParaRPr/>
          </a:p>
          <a:p>
            <a:pPr indent="-285750" lvl="1" marL="742950" rtl="0" algn="just">
              <a:lnSpc>
                <a:spcPct val="9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If any of successors is goal → finished</a:t>
            </a:r>
            <a:endParaRPr/>
          </a:p>
          <a:p>
            <a:pPr indent="-285750" lvl="1" marL="742950" rtl="0" algn="just">
              <a:lnSpc>
                <a:spcPct val="9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Else select </a:t>
            </a:r>
            <a:r>
              <a:rPr b="0" i="1" lang="en-US" sz="2000" u="none">
                <a:solidFill>
                  <a:schemeClr val="dk1"/>
                </a:solidFill>
                <a:latin typeface="Arial"/>
                <a:ea typeface="Arial"/>
                <a:cs typeface="Arial"/>
                <a:sym typeface="Arial"/>
              </a:rPr>
              <a:t>k</a:t>
            </a:r>
            <a:r>
              <a:rPr b="0" i="0" lang="en-US" sz="2000" u="none">
                <a:solidFill>
                  <a:schemeClr val="dk1"/>
                </a:solidFill>
                <a:latin typeface="Arial"/>
                <a:ea typeface="Arial"/>
                <a:cs typeface="Arial"/>
                <a:sym typeface="Arial"/>
              </a:rPr>
              <a:t> best  from successors and repeat.</a:t>
            </a:r>
            <a:endParaRPr/>
          </a:p>
          <a:p>
            <a:pPr indent="-342900" lvl="0" marL="34290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Major difference with random-restart search</a:t>
            </a:r>
            <a:endParaRPr/>
          </a:p>
          <a:p>
            <a:pPr indent="-285750" lvl="1" marL="742950" rtl="0" algn="just">
              <a:lnSpc>
                <a:spcPct val="9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Information is shared among </a:t>
            </a:r>
            <a:r>
              <a:rPr b="0" i="1" lang="en-US" sz="2000" u="none">
                <a:solidFill>
                  <a:schemeClr val="dk1"/>
                </a:solidFill>
                <a:latin typeface="Arial"/>
                <a:ea typeface="Arial"/>
                <a:cs typeface="Arial"/>
                <a:sym typeface="Arial"/>
              </a:rPr>
              <a:t>k</a:t>
            </a:r>
            <a:r>
              <a:rPr b="0" i="0" lang="en-US" sz="2000" u="none">
                <a:solidFill>
                  <a:schemeClr val="dk1"/>
                </a:solidFill>
                <a:latin typeface="Arial"/>
                <a:ea typeface="Arial"/>
                <a:cs typeface="Arial"/>
                <a:sym typeface="Arial"/>
              </a:rPr>
              <a:t> search threads.</a:t>
            </a:r>
            <a:endParaRPr/>
          </a:p>
          <a:p>
            <a:pPr indent="-342900" lvl="0" marL="342900" rtl="0" algn="just">
              <a:lnSpc>
                <a:spcPct val="90000"/>
              </a:lnSpc>
              <a:spcBef>
                <a:spcPts val="560"/>
              </a:spcBef>
              <a:spcAft>
                <a:spcPts val="0"/>
              </a:spcAft>
              <a:buClr>
                <a:srgbClr val="C00000"/>
              </a:buClr>
              <a:buSzPts val="2800"/>
              <a:buFont typeface="Arial"/>
              <a:buChar char="•"/>
            </a:pPr>
            <a:r>
              <a:rPr b="0" i="0" lang="en-US" sz="2800" u="none">
                <a:solidFill>
                  <a:schemeClr val="dk1"/>
                </a:solidFill>
                <a:latin typeface="Arial"/>
                <a:ea typeface="Arial"/>
                <a:cs typeface="Arial"/>
                <a:sym typeface="Arial"/>
              </a:rPr>
              <a:t>Can suffer from lack of diversity.</a:t>
            </a:r>
            <a:endParaRPr/>
          </a:p>
          <a:p>
            <a:pPr indent="-285750" lvl="1" marL="742950" rtl="0" algn="just">
              <a:lnSpc>
                <a:spcPct val="90000"/>
              </a:lnSpc>
              <a:spcBef>
                <a:spcPts val="400"/>
              </a:spcBef>
              <a:spcAft>
                <a:spcPts val="0"/>
              </a:spcAft>
              <a:buClr>
                <a:srgbClr val="C00000"/>
              </a:buClr>
              <a:buSzPts val="2000"/>
              <a:buFont typeface="Arial"/>
              <a:buChar char="–"/>
            </a:pPr>
            <a:r>
              <a:rPr b="0" i="0" lang="en-US" sz="2000" u="none">
                <a:solidFill>
                  <a:schemeClr val="dk1"/>
                </a:solidFill>
                <a:latin typeface="Arial"/>
                <a:ea typeface="Arial"/>
                <a:cs typeface="Arial"/>
                <a:sym typeface="Arial"/>
              </a:rPr>
              <a:t>Stochastic variant: choose k successors at proportionally to state success.</a:t>
            </a:r>
            <a:endParaRPr/>
          </a:p>
        </p:txBody>
      </p:sp>
      <p:pic>
        <p:nvPicPr>
          <p:cNvPr id="461" name="Google Shape;461;p43"/>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462" name="Google Shape;462;p43"/>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4"/>
          <p:cNvSpPr txBox="1"/>
          <p:nvPr>
            <p:ph type="title"/>
          </p:nvPr>
        </p:nvSpPr>
        <p:spPr>
          <a:xfrm>
            <a:off x="12192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468" name="Google Shape;468;p44"/>
          <p:cNvSpPr txBox="1"/>
          <p:nvPr>
            <p:ph idx="1" type="body"/>
          </p:nvPr>
        </p:nvSpPr>
        <p:spPr>
          <a:xfrm>
            <a:off x="152400" y="1600200"/>
            <a:ext cx="8839200" cy="838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C00000"/>
              </a:buClr>
              <a:buSzPts val="2860"/>
              <a:buFont typeface="Arial"/>
              <a:buChar char="•"/>
            </a:pPr>
            <a:r>
              <a:rPr b="0" i="0" lang="en-US" sz="2600" u="none">
                <a:solidFill>
                  <a:schemeClr val="dk1"/>
                </a:solidFill>
                <a:latin typeface="Arial"/>
                <a:ea typeface="Arial"/>
                <a:cs typeface="Arial"/>
                <a:sym typeface="Arial"/>
              </a:rPr>
              <a:t>Variant of local beam search with </a:t>
            </a:r>
            <a:r>
              <a:rPr b="0" i="1" lang="en-US" sz="2600" u="none">
                <a:solidFill>
                  <a:schemeClr val="dk1"/>
                </a:solidFill>
                <a:latin typeface="Arial"/>
                <a:ea typeface="Arial"/>
                <a:cs typeface="Arial"/>
                <a:sym typeface="Arial"/>
              </a:rPr>
              <a:t>sexual recombination.</a:t>
            </a:r>
            <a:endParaRPr/>
          </a:p>
        </p:txBody>
      </p:sp>
      <p:pic>
        <p:nvPicPr>
          <p:cNvPr descr="galoop2.jpg                                                    00105F05IRIDIA                         BC96F375:" id="469" name="Google Shape;469;p44"/>
          <p:cNvPicPr preferRelativeResize="0"/>
          <p:nvPr>
            <p:ph idx="1" type="body"/>
          </p:nvPr>
        </p:nvPicPr>
        <p:blipFill rotWithShape="1">
          <a:blip r:embed="rId3">
            <a:alphaModFix/>
          </a:blip>
          <a:srcRect b="0" l="0" r="0" t="0"/>
          <a:stretch/>
        </p:blipFill>
        <p:spPr>
          <a:xfrm>
            <a:off x="2057400" y="2590800"/>
            <a:ext cx="5105400" cy="3535362"/>
          </a:xfrm>
          <a:prstGeom prst="rect">
            <a:avLst/>
          </a:prstGeom>
          <a:noFill/>
          <a:ln>
            <a:noFill/>
          </a:ln>
        </p:spPr>
      </p:pic>
      <p:pic>
        <p:nvPicPr>
          <p:cNvPr id="470" name="Google Shape;470;p44"/>
          <p:cNvPicPr preferRelativeResize="0"/>
          <p:nvPr/>
        </p:nvPicPr>
        <p:blipFill rotWithShape="1">
          <a:blip r:embed="rId4">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471" name="Google Shape;471;p44"/>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5"/>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477" name="Google Shape;477;p45"/>
          <p:cNvSpPr txBox="1"/>
          <p:nvPr>
            <p:ph idx="1" type="body"/>
          </p:nvPr>
        </p:nvSpPr>
        <p:spPr>
          <a:xfrm>
            <a:off x="152400" y="990600"/>
            <a:ext cx="8839200" cy="5486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GAs begin with a set of </a:t>
            </a:r>
            <a:r>
              <a:rPr b="0" i="1" lang="en-US" sz="2400" u="none">
                <a:solidFill>
                  <a:schemeClr val="dk1"/>
                </a:solidFill>
                <a:latin typeface="Arial"/>
                <a:ea typeface="Arial"/>
                <a:cs typeface="Arial"/>
                <a:sym typeface="Arial"/>
              </a:rPr>
              <a:t>k</a:t>
            </a:r>
            <a:r>
              <a:rPr b="0" i="0" lang="en-US" sz="2400" u="none">
                <a:solidFill>
                  <a:schemeClr val="dk1"/>
                </a:solidFill>
                <a:latin typeface="Arial"/>
                <a:ea typeface="Arial"/>
                <a:cs typeface="Arial"/>
                <a:sym typeface="Arial"/>
              </a:rPr>
              <a:t> randomly generated states, called the </a:t>
            </a:r>
            <a:r>
              <a:rPr b="1" i="1" lang="en-US" sz="2400" u="none">
                <a:solidFill>
                  <a:schemeClr val="dk1"/>
                </a:solidFill>
                <a:latin typeface="Arial"/>
                <a:ea typeface="Arial"/>
                <a:cs typeface="Arial"/>
                <a:sym typeface="Arial"/>
              </a:rPr>
              <a:t>population</a:t>
            </a:r>
            <a:r>
              <a:rPr b="0" i="0" lang="en-US" sz="2400" u="none">
                <a:solidFill>
                  <a:schemeClr val="dk1"/>
                </a:solidFill>
                <a:latin typeface="Arial"/>
                <a:ea typeface="Arial"/>
                <a:cs typeface="Arial"/>
                <a:sym typeface="Arial"/>
              </a:rPr>
              <a:t>.</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Each state, or </a:t>
            </a:r>
            <a:r>
              <a:rPr b="1" i="1" lang="en-US" sz="2400" u="none">
                <a:solidFill>
                  <a:schemeClr val="dk1"/>
                </a:solidFill>
                <a:latin typeface="Arial"/>
                <a:ea typeface="Arial"/>
                <a:cs typeface="Arial"/>
                <a:sym typeface="Arial"/>
              </a:rPr>
              <a:t>individual</a:t>
            </a:r>
            <a:r>
              <a:rPr b="0" i="0" lang="en-US" sz="2400" u="none">
                <a:solidFill>
                  <a:schemeClr val="dk1"/>
                </a:solidFill>
                <a:latin typeface="Arial"/>
                <a:ea typeface="Arial"/>
                <a:cs typeface="Arial"/>
                <a:sym typeface="Arial"/>
              </a:rPr>
              <a:t>, is represented as a string over a finite alphabet—most commonly, a string of 0s and 1s.</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For example, an 8-queens state must specify the positions of 8 queens, each in a column of 8 squares, and so requires     8 x log</a:t>
            </a:r>
            <a:r>
              <a:rPr b="0" baseline="-25000" i="0" lang="en-US" sz="2400" u="none">
                <a:solidFill>
                  <a:schemeClr val="dk1"/>
                </a:solidFill>
                <a:latin typeface="Arial"/>
                <a:ea typeface="Arial"/>
                <a:cs typeface="Arial"/>
                <a:sym typeface="Arial"/>
              </a:rPr>
              <a:t>2</a:t>
            </a:r>
            <a:r>
              <a:rPr b="0" i="0" lang="en-US" sz="2400" u="none">
                <a:solidFill>
                  <a:schemeClr val="dk1"/>
                </a:solidFill>
                <a:latin typeface="Arial"/>
                <a:ea typeface="Arial"/>
                <a:cs typeface="Arial"/>
                <a:sym typeface="Arial"/>
              </a:rPr>
              <a:t> 8 = 24 bits.</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Alternatively, the state could be represented as 8 digits, each in the range from 1 to 8.</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Figure 4.6(a) shows a population of four 8-digit strings representing 8-queens states.</a:t>
            </a:r>
            <a:endParaRPr/>
          </a:p>
          <a:p>
            <a:pPr indent="-342900" lvl="0" marL="342900" rtl="0" algn="just">
              <a:lnSpc>
                <a:spcPct val="100000"/>
              </a:lnSpc>
              <a:spcBef>
                <a:spcPts val="480"/>
              </a:spcBef>
              <a:spcAft>
                <a:spcPts val="0"/>
              </a:spcAft>
              <a:buClr>
                <a:srgbClr val="C00000"/>
              </a:buClr>
              <a:buSzPts val="2640"/>
              <a:buFont typeface="Arial"/>
              <a:buChar char="•"/>
            </a:pPr>
            <a:r>
              <a:rPr b="0" i="1" lang="en-US" sz="2400" u="none">
                <a:solidFill>
                  <a:schemeClr val="dk1"/>
                </a:solidFill>
                <a:latin typeface="Arial"/>
                <a:ea typeface="Arial"/>
                <a:cs typeface="Arial"/>
                <a:sym typeface="Arial"/>
              </a:rPr>
              <a:t> </a:t>
            </a:r>
            <a:endParaRPr/>
          </a:p>
          <a:p>
            <a:pPr indent="-342900" lvl="0" marL="342900" rtl="0" algn="just">
              <a:lnSpc>
                <a:spcPct val="100000"/>
              </a:lnSpc>
              <a:spcBef>
                <a:spcPts val="480"/>
              </a:spcBef>
              <a:spcAft>
                <a:spcPts val="0"/>
              </a:spcAft>
              <a:buClr>
                <a:srgbClr val="C00000"/>
              </a:buClr>
              <a:buSzPts val="2640"/>
              <a:buFont typeface="Arial"/>
              <a:buChar char="•"/>
            </a:pPr>
            <a:r>
              <a:rPr b="0" i="1" lang="en-US" sz="2400" u="none">
                <a:solidFill>
                  <a:schemeClr val="dk1"/>
                </a:solidFill>
                <a:latin typeface="Arial"/>
                <a:ea typeface="Arial"/>
                <a:cs typeface="Arial"/>
                <a:sym typeface="Arial"/>
              </a:rPr>
              <a:t> </a:t>
            </a:r>
            <a:endParaRPr/>
          </a:p>
        </p:txBody>
      </p:sp>
      <p:pic>
        <p:nvPicPr>
          <p:cNvPr id="478" name="Google Shape;478;p45"/>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479" name="Google Shape;479;p45"/>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6"/>
          <p:cNvSpPr txBox="1"/>
          <p:nvPr>
            <p:ph idx="1" type="body"/>
          </p:nvPr>
        </p:nvSpPr>
        <p:spPr>
          <a:xfrm>
            <a:off x="76200" y="3505200"/>
            <a:ext cx="8839200" cy="2057400"/>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Figure 4.6:</a:t>
            </a:r>
            <a:r>
              <a:rPr b="0" i="0" lang="en-US" sz="2400" u="none">
                <a:solidFill>
                  <a:schemeClr val="dk1"/>
                </a:solidFill>
                <a:latin typeface="Arial"/>
                <a:ea typeface="Arial"/>
                <a:cs typeface="Arial"/>
                <a:sym typeface="Arial"/>
              </a:rPr>
              <a:t> The three major operations in genetic algorithm. The initial population in </a:t>
            </a:r>
            <a:r>
              <a:rPr b="1" i="0"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 is ranked by the fitness function in </a:t>
            </a:r>
            <a:r>
              <a:rPr b="1" i="0"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 resulting in pairs for mating in </a:t>
            </a:r>
            <a:r>
              <a:rPr b="1" i="0"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 They produce offspring in </a:t>
            </a:r>
            <a:r>
              <a:rPr b="1" i="0" lang="en-US" sz="2400" u="none">
                <a:solidFill>
                  <a:schemeClr val="dk1"/>
                </a:solidFill>
                <a:latin typeface="Arial"/>
                <a:ea typeface="Arial"/>
                <a:cs typeface="Arial"/>
                <a:sym typeface="Arial"/>
              </a:rPr>
              <a:t>(d)</a:t>
            </a:r>
            <a:r>
              <a:rPr b="0" i="0" lang="en-US" sz="2400" u="none">
                <a:solidFill>
                  <a:schemeClr val="dk1"/>
                </a:solidFill>
                <a:latin typeface="Arial"/>
                <a:ea typeface="Arial"/>
                <a:cs typeface="Arial"/>
                <a:sym typeface="Arial"/>
              </a:rPr>
              <a:t>, which are subject to mutation in </a:t>
            </a:r>
            <a:r>
              <a:rPr b="1" i="0" lang="en-US" sz="2400" u="none">
                <a:solidFill>
                  <a:schemeClr val="dk1"/>
                </a:solidFill>
                <a:latin typeface="Arial"/>
                <a:ea typeface="Arial"/>
                <a:cs typeface="Arial"/>
                <a:sym typeface="Arial"/>
              </a:rPr>
              <a:t>(e)</a:t>
            </a:r>
            <a:r>
              <a:rPr b="0" i="0" lang="en-US" sz="2400" u="none">
                <a:solidFill>
                  <a:schemeClr val="dk1"/>
                </a:solidFill>
                <a:latin typeface="Arial"/>
                <a:ea typeface="Arial"/>
                <a:cs typeface="Arial"/>
                <a:sym typeface="Arial"/>
              </a:rPr>
              <a:t>.</a:t>
            </a:r>
            <a:endParaRPr/>
          </a:p>
        </p:txBody>
      </p:sp>
      <p:pic>
        <p:nvPicPr>
          <p:cNvPr descr="genetic.jpg                                                    00105F05IRIDIA                         BC96F375:" id="485" name="Google Shape;485;p46"/>
          <p:cNvPicPr preferRelativeResize="0"/>
          <p:nvPr>
            <p:ph idx="1" type="body"/>
          </p:nvPr>
        </p:nvPicPr>
        <p:blipFill rotWithShape="1">
          <a:blip r:embed="rId3">
            <a:alphaModFix/>
          </a:blip>
          <a:srcRect b="0" l="0" r="0" t="0"/>
          <a:stretch/>
        </p:blipFill>
        <p:spPr>
          <a:xfrm>
            <a:off x="625475" y="990600"/>
            <a:ext cx="8137525" cy="2465387"/>
          </a:xfrm>
          <a:prstGeom prst="rect">
            <a:avLst/>
          </a:prstGeom>
          <a:noFill/>
          <a:ln>
            <a:noFill/>
          </a:ln>
        </p:spPr>
      </p:pic>
      <p:sp>
        <p:nvSpPr>
          <p:cNvPr id="486" name="Google Shape;486;p46"/>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
        <p:nvSpPr>
          <p:cNvPr id="487" name="Google Shape;487;p46"/>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pic>
        <p:nvPicPr>
          <p:cNvPr id="488" name="Google Shape;488;p46"/>
          <p:cNvPicPr preferRelativeResize="0"/>
          <p:nvPr/>
        </p:nvPicPr>
        <p:blipFill rotWithShape="1">
          <a:blip r:embed="rId4">
            <a:alphaModFix/>
          </a:blip>
          <a:srcRect b="0" l="0" r="0" t="0"/>
          <a:stretch/>
        </p:blipFill>
        <p:spPr>
          <a:xfrm>
            <a:off x="8229600" y="0"/>
            <a:ext cx="914400" cy="914400"/>
          </a:xfrm>
          <a:prstGeom prst="rect">
            <a:avLst/>
          </a:prstGeom>
          <a:noFill/>
          <a:ln>
            <a:noFill/>
          </a:ln>
          <a:effectLst>
            <a:reflection blurRad="0" dir="0" dist="0" endA="300" endPos="35000" kx="0" rotWithShape="0" algn="bl" stA="52000" stPos="0" sy="-100000" ky="0"/>
          </a:effectLst>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7"/>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494" name="Google Shape;494;p47"/>
          <p:cNvSpPr txBox="1"/>
          <p:nvPr>
            <p:ph idx="1" type="body"/>
          </p:nvPr>
        </p:nvSpPr>
        <p:spPr>
          <a:xfrm>
            <a:off x="152400" y="990600"/>
            <a:ext cx="8839200" cy="990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The 8-queens states involved in this reproduction step are shown in Figure 4.7.</a:t>
            </a:r>
            <a:endParaRPr/>
          </a:p>
        </p:txBody>
      </p:sp>
      <p:pic>
        <p:nvPicPr>
          <p:cNvPr id="495" name="Google Shape;495;p47"/>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496" name="Google Shape;496;p47"/>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
        <p:nvSpPr>
          <p:cNvPr id="497" name="Google Shape;497;p47"/>
          <p:cNvSpPr txBox="1"/>
          <p:nvPr/>
        </p:nvSpPr>
        <p:spPr>
          <a:xfrm>
            <a:off x="76200" y="4572000"/>
            <a:ext cx="8839200" cy="13716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Figure 4.7:</a:t>
            </a:r>
            <a:r>
              <a:rPr b="0" i="0" lang="en-US" sz="2400" u="none">
                <a:solidFill>
                  <a:schemeClr val="dk1"/>
                </a:solidFill>
                <a:latin typeface="Arial"/>
                <a:ea typeface="Arial"/>
                <a:cs typeface="Arial"/>
                <a:sym typeface="Arial"/>
              </a:rPr>
              <a:t> The 8-queens states corresponding to the first two parents in Figure 4.6(c) and the first offspring in     Figure 4.6(d).</a:t>
            </a:r>
            <a:endParaRPr/>
          </a:p>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8queens-crossover.jpg                                          00105F05IRIDIA                         BC96F375:" id="498" name="Google Shape;498;p47"/>
          <p:cNvPicPr preferRelativeResize="0"/>
          <p:nvPr/>
        </p:nvPicPr>
        <p:blipFill rotWithShape="1">
          <a:blip r:embed="rId4">
            <a:alphaModFix/>
          </a:blip>
          <a:srcRect b="0" l="0" r="0" t="0"/>
          <a:stretch/>
        </p:blipFill>
        <p:spPr>
          <a:xfrm>
            <a:off x="609600" y="1981200"/>
            <a:ext cx="8321675" cy="2435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8"/>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504" name="Google Shape;504;p48"/>
          <p:cNvSpPr txBox="1"/>
          <p:nvPr>
            <p:ph idx="1" type="body"/>
          </p:nvPr>
        </p:nvSpPr>
        <p:spPr>
          <a:xfrm>
            <a:off x="152400" y="990600"/>
            <a:ext cx="8839200" cy="5486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The production of the next generation of states is shown in Figure 4.6(b)–(e).</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In (b), each state is rated by the objective function, or (in GA terminology) the </a:t>
            </a:r>
            <a:r>
              <a:rPr b="1" i="0" lang="en-US" sz="2400" u="none">
                <a:solidFill>
                  <a:schemeClr val="dk1"/>
                </a:solidFill>
                <a:latin typeface="Arial"/>
                <a:ea typeface="Arial"/>
                <a:cs typeface="Arial"/>
                <a:sym typeface="Arial"/>
              </a:rPr>
              <a:t>fitness function</a:t>
            </a:r>
            <a:r>
              <a:rPr b="0" i="0" lang="en-US" sz="2400" u="none">
                <a:solidFill>
                  <a:schemeClr val="dk1"/>
                </a:solidFill>
                <a:latin typeface="Arial"/>
                <a:ea typeface="Arial"/>
                <a:cs typeface="Arial"/>
                <a:sym typeface="Arial"/>
              </a:rPr>
              <a:t>.</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A </a:t>
            </a:r>
            <a:r>
              <a:rPr b="1" i="1" lang="en-US" sz="2400" u="none">
                <a:solidFill>
                  <a:schemeClr val="dk1"/>
                </a:solidFill>
                <a:latin typeface="Arial"/>
                <a:ea typeface="Arial"/>
                <a:cs typeface="Arial"/>
                <a:sym typeface="Arial"/>
              </a:rPr>
              <a:t>fitness function</a:t>
            </a:r>
            <a:r>
              <a:rPr b="0" i="0" lang="en-US" sz="2400" u="none">
                <a:solidFill>
                  <a:schemeClr val="dk1"/>
                </a:solidFill>
                <a:latin typeface="Arial"/>
                <a:ea typeface="Arial"/>
                <a:cs typeface="Arial"/>
                <a:sym typeface="Arial"/>
              </a:rPr>
              <a:t> should return higher values for better states, so, for the 8-queens problem we use the number of </a:t>
            </a:r>
            <a:r>
              <a:rPr b="0" i="1" lang="en-US" sz="2400" u="none">
                <a:solidFill>
                  <a:schemeClr val="dk1"/>
                </a:solidFill>
                <a:latin typeface="Arial"/>
                <a:ea typeface="Arial"/>
                <a:cs typeface="Arial"/>
                <a:sym typeface="Arial"/>
              </a:rPr>
              <a:t>nonattacking</a:t>
            </a:r>
            <a:r>
              <a:rPr b="0" i="0" lang="en-US" sz="2400" u="none">
                <a:solidFill>
                  <a:schemeClr val="dk1"/>
                </a:solidFill>
                <a:latin typeface="Arial"/>
                <a:ea typeface="Arial"/>
                <a:cs typeface="Arial"/>
                <a:sym typeface="Arial"/>
              </a:rPr>
              <a:t> pairs of queens, which has a value of 28 for a solution.</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The values of the four states are 24, 23, 20, and 11.</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In this particular variant of the genetic algorithm, the probability of being chosen for reproducing is directly proportional to the fitness score, and the percentages are shown next to the raw scores.</a:t>
            </a:r>
            <a:endParaRPr/>
          </a:p>
        </p:txBody>
      </p:sp>
      <p:pic>
        <p:nvPicPr>
          <p:cNvPr id="505" name="Google Shape;505;p48"/>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506" name="Google Shape;506;p48"/>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9"/>
          <p:cNvSpPr txBox="1"/>
          <p:nvPr>
            <p:ph type="title"/>
          </p:nvPr>
        </p:nvSpPr>
        <p:spPr>
          <a:xfrm>
            <a:off x="152400" y="-1143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512" name="Google Shape;512;p49"/>
          <p:cNvSpPr txBox="1"/>
          <p:nvPr>
            <p:ph idx="1" type="body"/>
          </p:nvPr>
        </p:nvSpPr>
        <p:spPr>
          <a:xfrm>
            <a:off x="152400" y="990600"/>
            <a:ext cx="8839200" cy="5486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In (c), two pairs are selected at random for reproduction, in accordance with the probabilities in (b).</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Notice that one individual is selected twice and one not at all.</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For each pair to be mated, a crossover point is chosen randomly from the positions in the string.</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In Figure 4.6, the crossover points are after the third digit in the first pair and after the fifth digit in the second pair.</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In (d), the offspring themselves are created by crossing over the parent strings at the crossover point.</a:t>
            </a:r>
            <a:endParaRPr/>
          </a:p>
          <a:p>
            <a:pPr indent="-342900" lvl="0" marL="342900" rtl="0" algn="just">
              <a:lnSpc>
                <a:spcPct val="100000"/>
              </a:lnSpc>
              <a:spcBef>
                <a:spcPts val="48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For example, the first child of the first pair gets the first three digits from the first parent and the remaining digits from the second parent, whereas the second child gets the first three digits from the second parent and the rest from the first parent.</a:t>
            </a:r>
            <a:endParaRPr/>
          </a:p>
        </p:txBody>
      </p:sp>
      <p:pic>
        <p:nvPicPr>
          <p:cNvPr id="513" name="Google Shape;513;p49"/>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514" name="Google Shape;514;p49"/>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0"/>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520" name="Google Shape;520;p50"/>
          <p:cNvSpPr txBox="1"/>
          <p:nvPr>
            <p:ph idx="1" type="body"/>
          </p:nvPr>
        </p:nvSpPr>
        <p:spPr>
          <a:xfrm>
            <a:off x="152400" y="990600"/>
            <a:ext cx="8839200" cy="9906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C00000"/>
              </a:buClr>
              <a:buSzPts val="2640"/>
              <a:buFont typeface="Arial"/>
              <a:buChar char="•"/>
            </a:pPr>
            <a:r>
              <a:rPr b="0" i="0" lang="en-US" sz="2400" u="none">
                <a:solidFill>
                  <a:schemeClr val="dk1"/>
                </a:solidFill>
                <a:latin typeface="Arial"/>
                <a:ea typeface="Arial"/>
                <a:cs typeface="Arial"/>
                <a:sym typeface="Arial"/>
              </a:rPr>
              <a:t>The 8-queens states involved in this reproduction step are shown in Figure 4.7.</a:t>
            </a:r>
            <a:endParaRPr/>
          </a:p>
        </p:txBody>
      </p:sp>
      <p:pic>
        <p:nvPicPr>
          <p:cNvPr id="521" name="Google Shape;521;p50"/>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522" name="Google Shape;522;p50"/>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
        <p:nvSpPr>
          <p:cNvPr id="523" name="Google Shape;523;p50"/>
          <p:cNvSpPr txBox="1"/>
          <p:nvPr/>
        </p:nvSpPr>
        <p:spPr>
          <a:xfrm>
            <a:off x="76200" y="4572000"/>
            <a:ext cx="8839200" cy="13716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Figure 4.7:</a:t>
            </a:r>
            <a:r>
              <a:rPr b="0" i="0" lang="en-US" sz="2400" u="none">
                <a:solidFill>
                  <a:schemeClr val="dk1"/>
                </a:solidFill>
                <a:latin typeface="Arial"/>
                <a:ea typeface="Arial"/>
                <a:cs typeface="Arial"/>
                <a:sym typeface="Arial"/>
              </a:rPr>
              <a:t> The 8-queens states corresponding to the first two parents in Figure 4.6(c) and the first offspring in     Figure 4.6(d).</a:t>
            </a:r>
            <a:endParaRPr/>
          </a:p>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8queens-crossover.jpg                                          00105F05IRIDIA                         BC96F375:" id="524" name="Google Shape;524;p50"/>
          <p:cNvPicPr preferRelativeResize="0"/>
          <p:nvPr/>
        </p:nvPicPr>
        <p:blipFill rotWithShape="1">
          <a:blip r:embed="rId4">
            <a:alphaModFix/>
          </a:blip>
          <a:srcRect b="0" l="0" r="0" t="0"/>
          <a:stretch/>
        </p:blipFill>
        <p:spPr>
          <a:xfrm>
            <a:off x="609600" y="1981200"/>
            <a:ext cx="8321675" cy="2435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1"/>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530" name="Google Shape;530;p51"/>
          <p:cNvSpPr txBox="1"/>
          <p:nvPr>
            <p:ph idx="1" type="body"/>
          </p:nvPr>
        </p:nvSpPr>
        <p:spPr>
          <a:xfrm>
            <a:off x="152400" y="990600"/>
            <a:ext cx="8839200" cy="5486400"/>
          </a:xfrm>
          <a:prstGeom prst="rect">
            <a:avLst/>
          </a:prstGeom>
          <a:noFill/>
          <a:ln>
            <a:noFill/>
          </a:ln>
        </p:spPr>
        <p:txBody>
          <a:bodyPr anchorCtr="0" anchor="t" bIns="45700" lIns="91425" spcFirstLastPara="1" rIns="91425" wrap="square" tIns="45700">
            <a:noAutofit/>
          </a:bodyPr>
          <a:lstStyle/>
          <a:p>
            <a:pPr indent="-342900" lvl="0" marL="342900" rtl="0" algn="just">
              <a:lnSpc>
                <a:spcPct val="125000"/>
              </a:lnSpc>
              <a:spcBef>
                <a:spcPts val="0"/>
              </a:spcBef>
              <a:spcAft>
                <a:spcPts val="0"/>
              </a:spcAft>
              <a:buClr>
                <a:srgbClr val="C00000"/>
              </a:buClr>
              <a:buSzPts val="3080"/>
              <a:buFont typeface="Arial"/>
              <a:buChar char="•"/>
            </a:pPr>
            <a:r>
              <a:rPr b="0" i="0" lang="en-US" sz="2800" u="none">
                <a:solidFill>
                  <a:schemeClr val="dk1"/>
                </a:solidFill>
                <a:latin typeface="Arial"/>
                <a:ea typeface="Arial"/>
                <a:cs typeface="Arial"/>
                <a:sym typeface="Arial"/>
              </a:rPr>
              <a:t>The example shows that when two parent states are quite different, the crossover operation can produce a state that is a long way from either parent state.</a:t>
            </a:r>
            <a:endParaRPr/>
          </a:p>
          <a:p>
            <a:pPr indent="-342900" lvl="0" marL="342900" rtl="0" algn="just">
              <a:lnSpc>
                <a:spcPct val="125000"/>
              </a:lnSpc>
              <a:spcBef>
                <a:spcPts val="560"/>
              </a:spcBef>
              <a:spcAft>
                <a:spcPts val="0"/>
              </a:spcAft>
              <a:buClr>
                <a:srgbClr val="C00000"/>
              </a:buClr>
              <a:buSzPts val="3080"/>
              <a:buFont typeface="Arial"/>
              <a:buChar char="•"/>
            </a:pPr>
            <a:r>
              <a:rPr b="0" i="0" lang="en-US" sz="2800" u="none">
                <a:solidFill>
                  <a:schemeClr val="dk1"/>
                </a:solidFill>
                <a:latin typeface="Arial"/>
                <a:ea typeface="Arial"/>
                <a:cs typeface="Arial"/>
                <a:sym typeface="Arial"/>
              </a:rPr>
              <a:t>It is often the case that the population is quite diverse early on in the process, so crossover (like simulated annealing) frequently takes large steps in the state space early in the search process and smaller steps later on when must individuals are quite similar.</a:t>
            </a:r>
            <a:endParaRPr/>
          </a:p>
        </p:txBody>
      </p:sp>
      <p:pic>
        <p:nvPicPr>
          <p:cNvPr id="531" name="Google Shape;531;p51"/>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532" name="Google Shape;532;p51"/>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2"/>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538" name="Google Shape;538;p52"/>
          <p:cNvSpPr txBox="1"/>
          <p:nvPr>
            <p:ph idx="1" type="body"/>
          </p:nvPr>
        </p:nvSpPr>
        <p:spPr>
          <a:xfrm>
            <a:off x="152400" y="990600"/>
            <a:ext cx="8839200" cy="3810000"/>
          </a:xfrm>
          <a:prstGeom prst="rect">
            <a:avLst/>
          </a:prstGeom>
          <a:noFill/>
          <a:ln>
            <a:noFill/>
          </a:ln>
        </p:spPr>
        <p:txBody>
          <a:bodyPr anchorCtr="0" anchor="t" bIns="45700" lIns="91425" spcFirstLastPara="1" rIns="91425" wrap="square" tIns="45700">
            <a:noAutofit/>
          </a:bodyPr>
          <a:lstStyle/>
          <a:p>
            <a:pPr indent="-342900" lvl="0" marL="342900" rtl="0" algn="just">
              <a:lnSpc>
                <a:spcPct val="114000"/>
              </a:lnSpc>
              <a:spcBef>
                <a:spcPts val="0"/>
              </a:spcBef>
              <a:spcAft>
                <a:spcPts val="0"/>
              </a:spcAft>
              <a:buClr>
                <a:srgbClr val="C00000"/>
              </a:buClr>
              <a:buSzPts val="2860"/>
              <a:buFont typeface="Arial"/>
              <a:buChar char="•"/>
            </a:pPr>
            <a:r>
              <a:rPr b="0" i="0" lang="en-US" sz="2600" u="none">
                <a:solidFill>
                  <a:schemeClr val="dk1"/>
                </a:solidFill>
                <a:latin typeface="Arial"/>
                <a:ea typeface="Arial"/>
                <a:cs typeface="Arial"/>
                <a:sym typeface="Arial"/>
              </a:rPr>
              <a:t>Finally, in (e), each location is subject to random mutation with a small independent probability.</a:t>
            </a:r>
            <a:endParaRPr/>
          </a:p>
          <a:p>
            <a:pPr indent="-342900" lvl="0" marL="342900" rtl="0" algn="just">
              <a:lnSpc>
                <a:spcPct val="114000"/>
              </a:lnSpc>
              <a:spcBef>
                <a:spcPts val="520"/>
              </a:spcBef>
              <a:spcAft>
                <a:spcPts val="0"/>
              </a:spcAft>
              <a:buClr>
                <a:srgbClr val="C00000"/>
              </a:buClr>
              <a:buSzPts val="2860"/>
              <a:buFont typeface="Arial"/>
              <a:buChar char="•"/>
            </a:pPr>
            <a:r>
              <a:rPr b="0" i="0" lang="en-US" sz="2600" u="none">
                <a:solidFill>
                  <a:schemeClr val="dk1"/>
                </a:solidFill>
                <a:latin typeface="Arial"/>
                <a:ea typeface="Arial"/>
                <a:cs typeface="Arial"/>
                <a:sym typeface="Arial"/>
              </a:rPr>
              <a:t>One digit was mutated in the first, third, and fourth offspring.</a:t>
            </a:r>
            <a:endParaRPr/>
          </a:p>
          <a:p>
            <a:pPr indent="-342900" lvl="0" marL="342900" rtl="0" algn="just">
              <a:lnSpc>
                <a:spcPct val="114000"/>
              </a:lnSpc>
              <a:spcBef>
                <a:spcPts val="520"/>
              </a:spcBef>
              <a:spcAft>
                <a:spcPts val="0"/>
              </a:spcAft>
              <a:buClr>
                <a:srgbClr val="C00000"/>
              </a:buClr>
              <a:buSzPts val="2860"/>
              <a:buFont typeface="Arial"/>
              <a:buChar char="•"/>
            </a:pPr>
            <a:r>
              <a:rPr b="0" i="0" lang="en-US" sz="2600" u="none">
                <a:solidFill>
                  <a:schemeClr val="dk1"/>
                </a:solidFill>
                <a:latin typeface="Arial"/>
                <a:ea typeface="Arial"/>
                <a:cs typeface="Arial"/>
                <a:sym typeface="Arial"/>
              </a:rPr>
              <a:t>In the 8-queens problem, this corresponds to choosing a queen at random and moving it to a random square in its column.</a:t>
            </a:r>
            <a:endParaRPr/>
          </a:p>
        </p:txBody>
      </p:sp>
      <p:pic>
        <p:nvPicPr>
          <p:cNvPr id="539" name="Google Shape;539;p52"/>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
        <p:nvSpPr>
          <p:cNvPr id="540" name="Google Shape;540;p52"/>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pic>
        <p:nvPicPr>
          <p:cNvPr descr="8queens-crossover.jpg                                          00105F05IRIDIA                         BC96F375:" id="541" name="Google Shape;541;p52"/>
          <p:cNvPicPr preferRelativeResize="0"/>
          <p:nvPr/>
        </p:nvPicPr>
        <p:blipFill rotWithShape="1">
          <a:blip r:embed="rId4">
            <a:alphaModFix/>
          </a:blip>
          <a:srcRect b="0" l="0" r="0" t="0"/>
          <a:stretch/>
        </p:blipFill>
        <p:spPr>
          <a:xfrm>
            <a:off x="685800" y="4354512"/>
            <a:ext cx="7772400" cy="227488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3"/>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pic>
        <p:nvPicPr>
          <p:cNvPr id="547" name="Google Shape;547;p53"/>
          <p:cNvPicPr preferRelativeResize="0"/>
          <p:nvPr/>
        </p:nvPicPr>
        <p:blipFill rotWithShape="1">
          <a:blip r:embed="rId3">
            <a:alphaModFix/>
          </a:blip>
          <a:srcRect b="0" l="0" r="0" t="0"/>
          <a:stretch/>
        </p:blipFill>
        <p:spPr>
          <a:xfrm>
            <a:off x="9525" y="2754312"/>
            <a:ext cx="9144000" cy="2732087"/>
          </a:xfrm>
          <a:prstGeom prst="rect">
            <a:avLst/>
          </a:prstGeom>
          <a:noFill/>
          <a:ln>
            <a:noFill/>
          </a:ln>
        </p:spPr>
      </p:pic>
      <p:sp>
        <p:nvSpPr>
          <p:cNvPr id="548" name="Google Shape;548;p53"/>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sp>
        <p:nvSpPr>
          <p:cNvPr id="549" name="Google Shape;549;p53"/>
          <p:cNvSpPr txBox="1"/>
          <p:nvPr>
            <p:ph idx="1" type="body"/>
          </p:nvPr>
        </p:nvSpPr>
        <p:spPr>
          <a:xfrm>
            <a:off x="0" y="1066800"/>
            <a:ext cx="9144000" cy="16002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Comic Sans MS"/>
              <a:buChar char="•"/>
            </a:pPr>
            <a:r>
              <a:rPr b="0" i="0" lang="en-US" sz="2400" u="none">
                <a:solidFill>
                  <a:schemeClr val="dk1"/>
                </a:solidFill>
                <a:latin typeface="Comic Sans MS"/>
                <a:ea typeface="Comic Sans MS"/>
                <a:cs typeface="Comic Sans MS"/>
                <a:sym typeface="Comic Sans MS"/>
              </a:rPr>
              <a:t> Figure:</a:t>
            </a:r>
            <a:r>
              <a:rPr b="0" i="0" lang="en-US" sz="2400" u="none">
                <a:solidFill>
                  <a:schemeClr val="dk1"/>
                </a:solidFill>
                <a:latin typeface="Arial"/>
                <a:ea typeface="Arial"/>
                <a:cs typeface="Arial"/>
                <a:sym typeface="Arial"/>
              </a:rPr>
              <a:t> A genetic algorithm. The algorithm is the same as the one diagrammed in the figure in slide no. 45, with one variation: in this more popular version, each mating of two parents produces only one offspring, not two.</a:t>
            </a:r>
            <a:endParaRPr/>
          </a:p>
        </p:txBody>
      </p:sp>
      <p:pic>
        <p:nvPicPr>
          <p:cNvPr id="550" name="Google Shape;550;p53"/>
          <p:cNvPicPr preferRelativeResize="0"/>
          <p:nvPr/>
        </p:nvPicPr>
        <p:blipFill rotWithShape="1">
          <a:blip r:embed="rId4">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4"/>
          <p:cNvSpPr txBox="1"/>
          <p:nvPr>
            <p:ph idx="1" type="body"/>
          </p:nvPr>
        </p:nvSpPr>
        <p:spPr>
          <a:xfrm>
            <a:off x="457200" y="1600200"/>
            <a:ext cx="8229600" cy="3962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function</a:t>
            </a:r>
            <a:r>
              <a:rPr b="0" i="0" lang="en-US" sz="1600" u="none">
                <a:solidFill>
                  <a:schemeClr val="dk1"/>
                </a:solidFill>
                <a:latin typeface="Arial"/>
                <a:ea typeface="Arial"/>
                <a:cs typeface="Arial"/>
                <a:sym typeface="Arial"/>
              </a:rPr>
              <a:t> GENETIC_ALGORITHM( </a:t>
            </a:r>
            <a:r>
              <a:rPr b="0" i="1" lang="en-US" sz="1600" u="none">
                <a:solidFill>
                  <a:schemeClr val="dk1"/>
                </a:solidFill>
                <a:latin typeface="Arial"/>
                <a:ea typeface="Arial"/>
                <a:cs typeface="Arial"/>
                <a:sym typeface="Arial"/>
              </a:rPr>
              <a:t>population, </a:t>
            </a:r>
            <a:r>
              <a:rPr b="0" i="0" lang="en-US" sz="1600" u="none">
                <a:solidFill>
                  <a:schemeClr val="dk1"/>
                </a:solidFill>
                <a:latin typeface="Arial"/>
                <a:ea typeface="Arial"/>
                <a:cs typeface="Arial"/>
                <a:sym typeface="Arial"/>
              </a:rPr>
              <a:t>FITNESS-FN) </a:t>
            </a:r>
            <a:r>
              <a:rPr b="1" i="0" lang="en-US" sz="1600" u="none">
                <a:solidFill>
                  <a:schemeClr val="dk1"/>
                </a:solidFill>
                <a:latin typeface="Arial"/>
                <a:ea typeface="Arial"/>
                <a:cs typeface="Arial"/>
                <a:sym typeface="Arial"/>
              </a:rPr>
              <a:t>return</a:t>
            </a:r>
            <a:r>
              <a:rPr b="0" i="0" lang="en-US" sz="1600" u="none">
                <a:solidFill>
                  <a:schemeClr val="dk1"/>
                </a:solidFill>
                <a:latin typeface="Arial"/>
                <a:ea typeface="Arial"/>
                <a:cs typeface="Arial"/>
                <a:sym typeface="Arial"/>
              </a:rPr>
              <a:t> an individual</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input:</a:t>
            </a:r>
            <a:r>
              <a:rPr b="0"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population</a:t>
            </a:r>
            <a:r>
              <a:rPr b="0" i="0" lang="en-US" sz="1600" u="none">
                <a:solidFill>
                  <a:schemeClr val="dk1"/>
                </a:solidFill>
                <a:latin typeface="Arial"/>
                <a:ea typeface="Arial"/>
                <a:cs typeface="Arial"/>
                <a:sym typeface="Arial"/>
              </a:rPr>
              <a:t>, a set of individuals</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FITNESS-FN, a function which determines the quality of the individual</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repeat</a:t>
            </a:r>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new_population ← </a:t>
            </a:r>
            <a:r>
              <a:rPr b="0" i="0" lang="en-US" sz="1600" u="none">
                <a:solidFill>
                  <a:schemeClr val="dk1"/>
                </a:solidFill>
                <a:latin typeface="Arial"/>
                <a:ea typeface="Arial"/>
                <a:cs typeface="Arial"/>
                <a:sym typeface="Arial"/>
              </a:rPr>
              <a:t>empty set</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loop for</a:t>
            </a:r>
            <a:r>
              <a:rPr b="0" i="0" lang="en-US" sz="1600" u="none">
                <a:solidFill>
                  <a:schemeClr val="dk1"/>
                </a:solidFill>
                <a:latin typeface="Arial"/>
                <a:ea typeface="Arial"/>
                <a:cs typeface="Arial"/>
                <a:sym typeface="Arial"/>
              </a:rPr>
              <a:t> i </a:t>
            </a:r>
            <a:r>
              <a:rPr b="1" i="0" lang="en-US" sz="1600" u="none">
                <a:solidFill>
                  <a:schemeClr val="dk1"/>
                </a:solidFill>
                <a:latin typeface="Arial"/>
                <a:ea typeface="Arial"/>
                <a:cs typeface="Arial"/>
                <a:sym typeface="Arial"/>
              </a:rPr>
              <a:t>from</a:t>
            </a:r>
            <a:r>
              <a:rPr b="0" i="0" lang="en-US" sz="1600" u="none">
                <a:solidFill>
                  <a:schemeClr val="dk1"/>
                </a:solidFill>
                <a:latin typeface="Arial"/>
                <a:ea typeface="Arial"/>
                <a:cs typeface="Arial"/>
                <a:sym typeface="Arial"/>
              </a:rPr>
              <a:t> 1 </a:t>
            </a:r>
            <a:r>
              <a:rPr b="1" i="0" lang="en-US" sz="1600" u="none">
                <a:solidFill>
                  <a:schemeClr val="dk1"/>
                </a:solidFill>
                <a:latin typeface="Arial"/>
                <a:ea typeface="Arial"/>
                <a:cs typeface="Arial"/>
                <a:sym typeface="Arial"/>
              </a:rPr>
              <a:t>to</a:t>
            </a:r>
            <a:r>
              <a:rPr b="0" i="0" lang="en-US" sz="1600" u="none">
                <a:solidFill>
                  <a:schemeClr val="dk1"/>
                </a:solidFill>
                <a:latin typeface="Arial"/>
                <a:ea typeface="Arial"/>
                <a:cs typeface="Arial"/>
                <a:sym typeface="Arial"/>
              </a:rPr>
              <a:t> SIZE(</a:t>
            </a:r>
            <a:r>
              <a:rPr b="0" i="1" lang="en-US" sz="1600" u="none">
                <a:solidFill>
                  <a:schemeClr val="dk1"/>
                </a:solidFill>
                <a:latin typeface="Arial"/>
                <a:ea typeface="Arial"/>
                <a:cs typeface="Arial"/>
                <a:sym typeface="Arial"/>
              </a:rPr>
              <a:t>population</a:t>
            </a: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do</a:t>
            </a:r>
            <a:endParaRPr b="0" i="0" sz="1600" u="none">
              <a:solidFill>
                <a:schemeClr val="dk1"/>
              </a:solidFill>
              <a:latin typeface="Arial"/>
              <a:ea typeface="Arial"/>
              <a:cs typeface="Arial"/>
              <a:sym typeface="Arial"/>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x ← </a:t>
            </a:r>
            <a:r>
              <a:rPr b="0" i="0" lang="en-US" sz="1600" u="none">
                <a:solidFill>
                  <a:schemeClr val="dk1"/>
                </a:solidFill>
                <a:latin typeface="Arial"/>
                <a:ea typeface="Arial"/>
                <a:cs typeface="Arial"/>
                <a:sym typeface="Arial"/>
              </a:rPr>
              <a:t>RANDOM_SELECTION(</a:t>
            </a:r>
            <a:r>
              <a:rPr b="0" i="1" lang="en-US" sz="1600" u="none">
                <a:solidFill>
                  <a:schemeClr val="dk1"/>
                </a:solidFill>
                <a:latin typeface="Arial"/>
                <a:ea typeface="Arial"/>
                <a:cs typeface="Arial"/>
                <a:sym typeface="Arial"/>
              </a:rPr>
              <a:t>population</a:t>
            </a:r>
            <a:r>
              <a:rPr b="0" i="0" lang="en-US" sz="1600" u="none">
                <a:solidFill>
                  <a:schemeClr val="dk1"/>
                </a:solidFill>
                <a:latin typeface="Arial"/>
                <a:ea typeface="Arial"/>
                <a:cs typeface="Arial"/>
                <a:sym typeface="Arial"/>
              </a:rPr>
              <a:t>, FITNESS_FN)	</a:t>
            </a: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y ← </a:t>
            </a:r>
            <a:r>
              <a:rPr b="0" i="0" lang="en-US" sz="1600" u="none">
                <a:solidFill>
                  <a:schemeClr val="dk1"/>
                </a:solidFill>
                <a:latin typeface="Arial"/>
                <a:ea typeface="Arial"/>
                <a:cs typeface="Arial"/>
                <a:sym typeface="Arial"/>
              </a:rPr>
              <a:t>RANDOM_SELECTION(</a:t>
            </a:r>
            <a:r>
              <a:rPr b="0" i="1" lang="en-US" sz="1600" u="none">
                <a:solidFill>
                  <a:schemeClr val="dk1"/>
                </a:solidFill>
                <a:latin typeface="Arial"/>
                <a:ea typeface="Arial"/>
                <a:cs typeface="Arial"/>
                <a:sym typeface="Arial"/>
              </a:rPr>
              <a:t>population</a:t>
            </a:r>
            <a:r>
              <a:rPr b="0" i="0" lang="en-US" sz="1600" u="none">
                <a:solidFill>
                  <a:schemeClr val="dk1"/>
                </a:solidFill>
                <a:latin typeface="Arial"/>
                <a:ea typeface="Arial"/>
                <a:cs typeface="Arial"/>
                <a:sym typeface="Arial"/>
              </a:rPr>
              <a:t>, FITNESS_FN)</a:t>
            </a:r>
            <a:endParaRPr/>
          </a:p>
          <a:p>
            <a:pPr indent="-342900" lvl="0" marL="342900" rtl="0" algn="l">
              <a:lnSpc>
                <a:spcPct val="90000"/>
              </a:lnSpc>
              <a:spcBef>
                <a:spcPts val="32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1" lang="en-US" sz="1600" u="none">
                <a:solidFill>
                  <a:schemeClr val="dk1"/>
                </a:solidFill>
                <a:latin typeface="Arial"/>
                <a:ea typeface="Arial"/>
                <a:cs typeface="Arial"/>
                <a:sym typeface="Arial"/>
              </a:rPr>
              <a:t>child ← </a:t>
            </a:r>
            <a:r>
              <a:rPr b="0" i="0" lang="en-US" sz="1600" u="none">
                <a:solidFill>
                  <a:schemeClr val="dk1"/>
                </a:solidFill>
                <a:latin typeface="Arial"/>
                <a:ea typeface="Arial"/>
                <a:cs typeface="Arial"/>
                <a:sym typeface="Arial"/>
              </a:rPr>
              <a:t>REPRODUCE(</a:t>
            </a:r>
            <a:r>
              <a:rPr b="0" i="1" lang="en-US" sz="1600" u="none">
                <a:solidFill>
                  <a:schemeClr val="dk1"/>
                </a:solidFill>
                <a:latin typeface="Arial"/>
                <a:ea typeface="Arial"/>
                <a:cs typeface="Arial"/>
                <a:sym typeface="Arial"/>
              </a:rPr>
              <a:t>x,y</a:t>
            </a:r>
            <a:r>
              <a:rPr b="0" i="0" lang="en-US" sz="1600" u="none">
                <a:solidFill>
                  <a:schemeClr val="dk1"/>
                </a:solidFill>
                <a:latin typeface="Arial"/>
                <a:ea typeface="Arial"/>
                <a:cs typeface="Arial"/>
                <a:sym typeface="Arial"/>
              </a:rPr>
              <a:t>)</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if</a:t>
            </a:r>
            <a:r>
              <a:rPr b="0" i="0" lang="en-US" sz="1600" u="none">
                <a:solidFill>
                  <a:schemeClr val="dk1"/>
                </a:solidFill>
                <a:latin typeface="Arial"/>
                <a:ea typeface="Arial"/>
                <a:cs typeface="Arial"/>
                <a:sym typeface="Arial"/>
              </a:rPr>
              <a:t> (small random probability) </a:t>
            </a:r>
            <a:r>
              <a:rPr b="1" i="0" lang="en-US" sz="1600" u="none">
                <a:solidFill>
                  <a:schemeClr val="dk1"/>
                </a:solidFill>
                <a:latin typeface="Arial"/>
                <a:ea typeface="Arial"/>
                <a:cs typeface="Arial"/>
                <a:sym typeface="Arial"/>
              </a:rPr>
              <a:t>then </a:t>
            </a:r>
            <a:r>
              <a:rPr b="0" i="1" lang="en-US" sz="1600" u="none">
                <a:solidFill>
                  <a:schemeClr val="dk1"/>
                </a:solidFill>
                <a:latin typeface="Arial"/>
                <a:ea typeface="Arial"/>
                <a:cs typeface="Arial"/>
                <a:sym typeface="Arial"/>
              </a:rPr>
              <a:t>child  ← </a:t>
            </a:r>
            <a:r>
              <a:rPr b="0" i="0" lang="en-US" sz="1600" u="none">
                <a:solidFill>
                  <a:schemeClr val="dk1"/>
                </a:solidFill>
                <a:latin typeface="Arial"/>
                <a:ea typeface="Arial"/>
                <a:cs typeface="Arial"/>
                <a:sym typeface="Arial"/>
              </a:rPr>
              <a:t>MUTATE(</a:t>
            </a:r>
            <a:r>
              <a:rPr b="0" i="1" lang="en-US" sz="1600" u="none">
                <a:solidFill>
                  <a:schemeClr val="dk1"/>
                </a:solidFill>
                <a:latin typeface="Arial"/>
                <a:ea typeface="Arial"/>
                <a:cs typeface="Arial"/>
                <a:sym typeface="Arial"/>
              </a:rPr>
              <a:t>child </a:t>
            </a:r>
            <a:r>
              <a:rPr b="0" i="0" lang="en-US" sz="1600" u="none">
                <a:solidFill>
                  <a:schemeClr val="dk1"/>
                </a:solidFill>
                <a:latin typeface="Arial"/>
                <a:ea typeface="Arial"/>
                <a:cs typeface="Arial"/>
                <a:sym typeface="Arial"/>
              </a:rPr>
              <a:t>)</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add </a:t>
            </a:r>
            <a:r>
              <a:rPr b="0" i="1" lang="en-US" sz="1600" u="none">
                <a:solidFill>
                  <a:schemeClr val="dk1"/>
                </a:solidFill>
                <a:latin typeface="Arial"/>
                <a:ea typeface="Arial"/>
                <a:cs typeface="Arial"/>
                <a:sym typeface="Arial"/>
              </a:rPr>
              <a:t>child</a:t>
            </a:r>
            <a:r>
              <a:rPr b="0" i="0" lang="en-US" sz="1600" u="none">
                <a:solidFill>
                  <a:schemeClr val="dk1"/>
                </a:solidFill>
                <a:latin typeface="Arial"/>
                <a:ea typeface="Arial"/>
                <a:cs typeface="Arial"/>
                <a:sym typeface="Arial"/>
              </a:rPr>
              <a:t> to </a:t>
            </a:r>
            <a:r>
              <a:rPr b="0" i="1" lang="en-US" sz="1600" u="none">
                <a:solidFill>
                  <a:schemeClr val="dk1"/>
                </a:solidFill>
                <a:latin typeface="Arial"/>
                <a:ea typeface="Arial"/>
                <a:cs typeface="Arial"/>
                <a:sym typeface="Arial"/>
              </a:rPr>
              <a:t>new_population</a:t>
            </a:r>
            <a:endParaRPr b="0" i="0" sz="1600" u="none">
              <a:solidFill>
                <a:schemeClr val="dk1"/>
              </a:solidFill>
              <a:latin typeface="Arial"/>
              <a:ea typeface="Arial"/>
              <a:cs typeface="Arial"/>
              <a:sym typeface="Arial"/>
            </a:endParaRPr>
          </a:p>
          <a:p>
            <a:pPr indent="-342900" lvl="0" marL="342900" rtl="0" algn="l">
              <a:lnSpc>
                <a:spcPct val="90000"/>
              </a:lnSpc>
              <a:spcBef>
                <a:spcPts val="320"/>
              </a:spcBef>
              <a:spcAft>
                <a:spcPts val="0"/>
              </a:spcAft>
              <a:buClr>
                <a:schemeClr val="dk1"/>
              </a:buClr>
              <a:buSzPts val="1600"/>
              <a:buFont typeface="Arial"/>
              <a:buNone/>
            </a:pPr>
            <a:r>
              <a:rPr b="0" i="1" lang="en-US" sz="1600" u="none">
                <a:solidFill>
                  <a:schemeClr val="dk1"/>
                </a:solidFill>
                <a:latin typeface="Arial"/>
                <a:ea typeface="Arial"/>
                <a:cs typeface="Arial"/>
                <a:sym typeface="Arial"/>
              </a:rPr>
              <a:t>		population  ←  new_population</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until</a:t>
            </a:r>
            <a:r>
              <a:rPr b="0" i="0" lang="en-US" sz="1600" u="none">
                <a:solidFill>
                  <a:schemeClr val="dk1"/>
                </a:solidFill>
                <a:latin typeface="Arial"/>
                <a:ea typeface="Arial"/>
                <a:cs typeface="Arial"/>
                <a:sym typeface="Arial"/>
              </a:rPr>
              <a:t> some individual is fit enough or enough time has elapsed</a:t>
            </a:r>
            <a:endParaRPr/>
          </a:p>
          <a:p>
            <a:pPr indent="-342900" lvl="0" marL="342900" rtl="0" algn="l">
              <a:lnSpc>
                <a:spcPct val="90000"/>
              </a:lnSpc>
              <a:spcBef>
                <a:spcPts val="32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r>
              <a:rPr b="1" i="0" lang="en-US" sz="1600" u="none">
                <a:solidFill>
                  <a:schemeClr val="dk1"/>
                </a:solidFill>
                <a:latin typeface="Arial"/>
                <a:ea typeface="Arial"/>
                <a:cs typeface="Arial"/>
                <a:sym typeface="Arial"/>
              </a:rPr>
              <a:t>return</a:t>
            </a:r>
            <a:r>
              <a:rPr b="0" i="0" lang="en-US" sz="1600" u="none">
                <a:solidFill>
                  <a:schemeClr val="dk1"/>
                </a:solidFill>
                <a:latin typeface="Arial"/>
                <a:ea typeface="Arial"/>
                <a:cs typeface="Arial"/>
                <a:sym typeface="Arial"/>
              </a:rPr>
              <a:t> the best individual</a:t>
            </a:r>
            <a:endParaRPr/>
          </a:p>
        </p:txBody>
      </p:sp>
      <p:sp>
        <p:nvSpPr>
          <p:cNvPr id="556" name="Google Shape;556;p54"/>
          <p:cNvSpPr txBox="1"/>
          <p:nvPr/>
        </p:nvSpPr>
        <p:spPr>
          <a:xfrm>
            <a:off x="7239000" y="64008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C00000"/>
              </a:buClr>
              <a:buSzPts val="1500"/>
              <a:buFont typeface="Arial"/>
              <a:buNone/>
            </a:pPr>
            <a:fld id="{00000000-1234-1234-1234-123412341234}" type="slidenum">
              <a:rPr b="1" i="0" lang="en-US" sz="1500" u="none">
                <a:solidFill>
                  <a:srgbClr val="C00000"/>
                </a:solidFill>
                <a:latin typeface="Arial"/>
                <a:ea typeface="Arial"/>
                <a:cs typeface="Arial"/>
                <a:sym typeface="Arial"/>
              </a:rPr>
              <a:t>‹#›</a:t>
            </a:fld>
            <a:endParaRPr/>
          </a:p>
        </p:txBody>
      </p:sp>
      <p:sp>
        <p:nvSpPr>
          <p:cNvPr id="557" name="Google Shape;557;p54"/>
          <p:cNvSpPr txBox="1"/>
          <p:nvPr>
            <p:ph type="title"/>
          </p:nvPr>
        </p:nvSpPr>
        <p:spPr>
          <a:xfrm>
            <a:off x="685800" y="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4400"/>
              <a:buFont typeface="Arial"/>
              <a:buNone/>
            </a:pPr>
            <a:r>
              <a:rPr b="1" i="0" lang="en-US" sz="4400" u="none">
                <a:solidFill>
                  <a:srgbClr val="C00000"/>
                </a:solidFill>
                <a:latin typeface="Arial"/>
                <a:ea typeface="Arial"/>
                <a:cs typeface="Arial"/>
                <a:sym typeface="Arial"/>
              </a:rPr>
              <a:t>Genetic Algorithms</a:t>
            </a:r>
            <a:endParaRPr/>
          </a:p>
        </p:txBody>
      </p:sp>
      <p:pic>
        <p:nvPicPr>
          <p:cNvPr id="558" name="Google Shape;558;p54"/>
          <p:cNvPicPr preferRelativeResize="0"/>
          <p:nvPr/>
        </p:nvPicPr>
        <p:blipFill rotWithShape="1">
          <a:blip r:embed="rId3">
            <a:alphaModFix/>
          </a:blip>
          <a:srcRect b="0" l="0" r="0" t="0"/>
          <a:stretch/>
        </p:blipFill>
        <p:spPr>
          <a:xfrm>
            <a:off x="8229600" y="0"/>
            <a:ext cx="914400" cy="914400"/>
          </a:xfrm>
          <a:prstGeom prst="rect">
            <a:avLst/>
          </a:prstGeom>
          <a:noFill/>
          <a:ln>
            <a:noFill/>
          </a:ln>
          <a:effectLst>
            <a:reflection blurRad="0" dir="5400000" dist="50800" endA="300" endPos="55500" kx="0" rotWithShape="0" algn="bl" stA="50000" stPos="0" sy="-100000" ky="0"/>
          </a:effectLst>
        </p:spPr>
      </p:pic>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4_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2010-10-20T20:10:34Z</dcterms:created>
  <dc:creator>Md. Tarek Habib Mihir</dc:creator>
</cp:coreProperties>
</file>