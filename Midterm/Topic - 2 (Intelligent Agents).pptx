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6858000" cx="9144000"/>
  <p:notesSz cx="6742100" cy="9872650"/>
  <p:embeddedFontLst>
    <p:embeddedFont>
      <p:font typeface="EB Garamon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110">
          <p15:clr>
            <a:srgbClr val="000000"/>
          </p15:clr>
        </p15:guide>
        <p15:guide id="2" pos="2124">
          <p15:clr>
            <a:srgbClr val="000000"/>
          </p15:clr>
        </p15:guide>
      </p15:notesGuideLst>
    </p:ext>
    <p:ext uri="GoogleSlidesCustomDataVersion2">
      <go:slidesCustomData xmlns:go="http://customooxmlschemas.google.com/" r:id="rId46" roundtripDataSignature="AMtx7mjPkCAva2nNrkrLUX4Klc4XaLIS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D17119-956D-4826-90A0-7947BE7099A4}">
  <a:tblStyle styleId="{F8D17119-956D-4826-90A0-7947BE7099A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10" orient="horz"/>
        <p:guide pos="212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font" Target="fonts/EBGaramond-regular.fntdata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font" Target="fonts/EBGaramond-italic.fntdata"/><Relationship Id="rId21" Type="http://schemas.openxmlformats.org/officeDocument/2006/relationships/slide" Target="slides/slide14.xml"/><Relationship Id="rId43" Type="http://schemas.openxmlformats.org/officeDocument/2006/relationships/font" Target="fonts/EBGaramond-bold.fntdata"/><Relationship Id="rId24" Type="http://schemas.openxmlformats.org/officeDocument/2006/relationships/slide" Target="slides/slide17.xml"/><Relationship Id="rId46" Type="http://customschemas.google.com/relationships/presentationmetadata" Target="metadata"/><Relationship Id="rId23" Type="http://schemas.openxmlformats.org/officeDocument/2006/relationships/slide" Target="slides/slide16.xml"/><Relationship Id="rId45" Type="http://schemas.openxmlformats.org/officeDocument/2006/relationships/font" Target="fonts/EBGaramon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17937" y="0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7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Volledige observeerbare omgevingen zijn handig omdat de agent geen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Interne staat moet bijhouden over de omgeving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Partieel observeerbare omgevingen door noise of niet goed afgestelde sensoren of ontbrekende informatie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6" name="Google Shape;256;p19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7" name="Google Shape;257;p19:notes"/>
          <p:cNvSpPr txBox="1"/>
          <p:nvPr>
            <p:ph idx="1" type="body"/>
          </p:nvPr>
        </p:nvSpPr>
        <p:spPr>
          <a:xfrm>
            <a:off x="898525" y="4689475"/>
            <a:ext cx="4945062" cy="44434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Als de omgeving gedeeltelijk observeerbaar is kan deze stochastisch lijken.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Dus het is beter om te kijken of de omgebing determinitisch of stochastisch is vanuit het standpunt van de agent.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Als de omgeving deterministisch is behalve de acties van de andere agenten dan is de omgeving strategisch.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6" name="Google Shape;266;p20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7" name="Google Shape;267;p20:notes"/>
          <p:cNvSpPr txBox="1"/>
          <p:nvPr>
            <p:ph idx="1" type="body"/>
          </p:nvPr>
        </p:nvSpPr>
        <p:spPr>
          <a:xfrm>
            <a:off x="898525" y="4689475"/>
            <a:ext cx="4945062" cy="44434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6" name="Google Shape;276;p21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898525" y="4689475"/>
            <a:ext cx="4945062" cy="44434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6" name="Google Shape;286;p22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7" name="Google Shape;287;p22:notes"/>
          <p:cNvSpPr txBox="1"/>
          <p:nvPr>
            <p:ph idx="1" type="body"/>
          </p:nvPr>
        </p:nvSpPr>
        <p:spPr>
          <a:xfrm>
            <a:off x="898525" y="4689475"/>
            <a:ext cx="4945062" cy="44434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6" name="Google Shape;296;p23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7" name="Google Shape;297;p23:notes"/>
          <p:cNvSpPr txBox="1"/>
          <p:nvPr>
            <p:ph idx="1" type="body"/>
          </p:nvPr>
        </p:nvSpPr>
        <p:spPr>
          <a:xfrm>
            <a:off x="898525" y="4689475"/>
            <a:ext cx="4945062" cy="44434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If the agent performance score changes ahen time passes, the environment is semi-dynamic.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6" name="Google Shape;306;p24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898525" y="4689475"/>
            <a:ext cx="4945062" cy="44434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If the agent performance score changes ahen time passes, the environment is semi-dynamic.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6" name="Google Shape;316;p25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7" name="Google Shape;317;p25:notes"/>
          <p:cNvSpPr txBox="1"/>
          <p:nvPr>
            <p:ph idx="1" type="body"/>
          </p:nvPr>
        </p:nvSpPr>
        <p:spPr>
          <a:xfrm>
            <a:off x="898525" y="4689475"/>
            <a:ext cx="4945062" cy="44434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If the agent performance score changes ahen time passes, the environment is semi-dynamic.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6" name="Google Shape;326;p26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7" name="Google Shape;327;p26:notes"/>
          <p:cNvSpPr txBox="1"/>
          <p:nvPr>
            <p:ph idx="1" type="body"/>
          </p:nvPr>
        </p:nvSpPr>
        <p:spPr>
          <a:xfrm>
            <a:off x="898525" y="4689475"/>
            <a:ext cx="4945062" cy="44434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If the agent performance score changes ahen time passes, the environment is semi-dynamic.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:notes"/>
          <p:cNvSpPr txBox="1"/>
          <p:nvPr/>
        </p:nvSpPr>
        <p:spPr>
          <a:xfrm>
            <a:off x="3817937" y="9377362"/>
            <a:ext cx="2922587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50" spcFirstLastPara="1" rIns="92450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6" name="Google Shape;336;p27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7" name="Google Shape;337;p27:notes"/>
          <p:cNvSpPr txBox="1"/>
          <p:nvPr>
            <p:ph idx="1" type="body"/>
          </p:nvPr>
        </p:nvSpPr>
        <p:spPr>
          <a:xfrm>
            <a:off x="898525" y="4689475"/>
            <a:ext cx="4945062" cy="44434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If the agent performance score changes ahen time passes, the environment is semi-dynamic.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9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9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0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1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3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3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4:notes"/>
          <p:cNvSpPr txBox="1"/>
          <p:nvPr>
            <p:ph idx="1" type="body"/>
          </p:nvPr>
        </p:nvSpPr>
        <p:spPr>
          <a:xfrm>
            <a:off x="674687" y="4689475"/>
            <a:ext cx="5392737" cy="4443412"/>
          </a:xfrm>
          <a:prstGeom prst="rect">
            <a:avLst/>
          </a:prstGeom>
        </p:spPr>
        <p:txBody>
          <a:bodyPr anchorCtr="0" anchor="t" bIns="46225" lIns="92450" spcFirstLastPara="1" rIns="92450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4:notes"/>
          <p:cNvSpPr/>
          <p:nvPr>
            <p:ph idx="2" type="sldImg"/>
          </p:nvPr>
        </p:nvSpPr>
        <p:spPr>
          <a:xfrm>
            <a:off x="903287" y="739775"/>
            <a:ext cx="4935537" cy="3703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6" name="Google Shape;46;p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51" name="Google Shape;51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2" name="Google Shape;52;p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4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4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9" name="Google Shape;59;p4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0" name="Google Shape;60;p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4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6" name="Google Shape;66;p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4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0"/>
          <p:cNvSpPr txBox="1"/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0"/>
          <p:cNvSpPr txBox="1"/>
          <p:nvPr>
            <p:ph idx="1" type="body"/>
          </p:nvPr>
        </p:nvSpPr>
        <p:spPr>
          <a:xfrm>
            <a:off x="457200" y="1981200"/>
            <a:ext cx="82296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7" name="Google Shape;87;p40"/>
          <p:cNvSpPr txBox="1"/>
          <p:nvPr>
            <p:ph idx="2" type="body"/>
          </p:nvPr>
        </p:nvSpPr>
        <p:spPr>
          <a:xfrm>
            <a:off x="457200" y="4000500"/>
            <a:ext cx="82296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8" name="Google Shape;88;p4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2" type="sldNum"/>
          </p:nvPr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3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83" name="Google Shape;83;p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1.jp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304800" y="1066800"/>
            <a:ext cx="8534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CSE </a:t>
            </a:r>
            <a:r>
              <a:rPr b="1" lang="en-US" sz="4400">
                <a:solidFill>
                  <a:srgbClr val="FF0000"/>
                </a:solidFill>
              </a:rPr>
              <a:t>411</a:t>
            </a:r>
            <a:r>
              <a:rPr b="1" i="0" lang="en-US" sz="4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Artificial Intelligence`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685800" y="2667000"/>
            <a:ext cx="762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Topic - 2: Intelligent Agents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0" y="41148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Department</a:t>
            </a:r>
            <a:r>
              <a:rPr b="1" i="0" lang="en-US" sz="2600" u="none" cap="none" strike="noStrike">
                <a:solidFill>
                  <a:srgbClr val="A50021"/>
                </a:solidFill>
                <a:latin typeface="Arial"/>
                <a:ea typeface="Arial"/>
                <a:cs typeface="Arial"/>
                <a:sym typeface="Arial"/>
              </a:rPr>
              <a:t> of CSE</a:t>
            </a:r>
            <a:endParaRPr b="1" i="0" sz="2800" u="none" cap="none" strike="noStrike">
              <a:solidFill>
                <a:srgbClr val="A500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00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Daffodil</a:t>
            </a:r>
            <a:r>
              <a:rPr b="1" i="0" lang="en-US" sz="27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International</a:t>
            </a:r>
            <a:r>
              <a:rPr b="1" i="0" lang="en-US" sz="27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 University</a:t>
            </a:r>
            <a:endParaRPr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76200" y="1295400"/>
            <a:ext cx="8915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4287" lvl="1" marL="471487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ic Sans MS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30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Agents and Environments</a:t>
            </a:r>
            <a:endParaRPr/>
          </a:p>
          <a:p>
            <a:pPr indent="-14287" lvl="1" marL="471487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FF"/>
              </a:buClr>
              <a:buSzPts val="3000"/>
              <a:buFont typeface="Comic Sans MS"/>
              <a:buChar char="•"/>
            </a:pPr>
            <a:r>
              <a:rPr b="0" i="0" lang="en-US" sz="30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Good Behavior: The Concept of Rationality</a:t>
            </a:r>
            <a:endParaRPr/>
          </a:p>
          <a:p>
            <a:pPr indent="-14287" lvl="1" marL="471487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FF"/>
              </a:buClr>
              <a:buSzPts val="3000"/>
              <a:buFont typeface="Comic Sans MS"/>
              <a:buChar char="•"/>
            </a:pPr>
            <a:r>
              <a:rPr b="0" i="0" lang="en-US" sz="30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 Nature of Environments</a:t>
            </a:r>
            <a:endParaRPr/>
          </a:p>
          <a:p>
            <a:pPr indent="-14287" lvl="1" marL="471487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FF00FF"/>
              </a:buClr>
              <a:buSzPts val="3000"/>
              <a:buFont typeface="Comic Sans MS"/>
              <a:buChar char="•"/>
            </a:pPr>
            <a:r>
              <a:rPr b="0" i="0" lang="en-US" sz="3000" u="none" cap="none" strike="noStrike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 Structure of Agents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914400" y="76200"/>
            <a:ext cx="716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omic Sans MS"/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 Contents</a:t>
            </a:r>
            <a:endParaRPr/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Intelligent Agent</a:t>
            </a:r>
            <a:endParaRPr/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0" i="0" lang="en-US" sz="3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▪"/>
            </a:pPr>
            <a:r>
              <a:rPr b="1" i="0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perceives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its </a:t>
            </a:r>
            <a:r>
              <a:rPr b="1" i="0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i="0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r>
              <a:rPr b="1" i="0" lang="en-US" sz="28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▪"/>
            </a:pPr>
            <a:r>
              <a:rPr b="1" i="0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acts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upon that </a:t>
            </a:r>
            <a:r>
              <a:rPr b="1" i="0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its </a:t>
            </a:r>
            <a:r>
              <a:rPr b="1" i="0" lang="en-US" sz="28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actuators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agent gets percepts one at a time,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maps this percept sequence to actions.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An Agent</a:t>
            </a:r>
            <a:endParaRPr/>
          </a:p>
        </p:txBody>
      </p:sp>
      <p:pic>
        <p:nvPicPr>
          <p:cNvPr id="122" name="Google Shape;122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4775" y="1685925"/>
            <a:ext cx="6392862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Example of an Agent</a:t>
            </a:r>
            <a:endParaRPr/>
          </a:p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228600" y="1371600"/>
            <a:ext cx="8686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us consider a vacuum-cleaner agent that is shown in the figure below.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vacuum-cleaner world has just two locations: squares </a:t>
            </a:r>
            <a:r>
              <a:rPr b="1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31" name="Google Shape;131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657600"/>
            <a:ext cx="62166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Example of an Agent</a:t>
            </a:r>
            <a:endParaRPr/>
          </a:p>
        </p:txBody>
      </p:sp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228600" y="914400"/>
            <a:ext cx="86868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vacuum agent perceives which square it is in and whether there is dirt in the square.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can choose to move left, move right, suck up the dirt, or do nothing.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very simple agent function is the following: if the current square is dirty, then suck; otherwise, move to the other square.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4268787"/>
            <a:ext cx="5029200" cy="25892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Example of an Agent</a:t>
            </a:r>
            <a:endParaRPr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457200" y="1600200"/>
            <a:ext cx="8077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Environment: squares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Percepts: [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location, status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], e.g. [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Dirty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Actions: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suck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no-op</a:t>
            </a:r>
            <a:endParaRPr/>
          </a:p>
        </p:txBody>
      </p:sp>
      <p:pic>
        <p:nvPicPr>
          <p:cNvPr id="149" name="Google Shape;149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429000"/>
            <a:ext cx="57912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51" name="Google Shape;1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457200" y="4000500"/>
            <a:ext cx="82296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REFLEX-VACUUM-AGENT ([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location, status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]) return an action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status == Dirty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return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else if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 == 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return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else if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 == B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return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6375" y="1981200"/>
            <a:ext cx="3649662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 of an Agent</a:t>
            </a:r>
            <a:endParaRPr/>
          </a:p>
        </p:txBody>
      </p:sp>
      <p:pic>
        <p:nvPicPr>
          <p:cNvPr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Rational Agent</a:t>
            </a:r>
            <a:endParaRPr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possible percept sequence, a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rational agent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select an action (using an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function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that is expected to maximize its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measure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given the evidence provided by the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percept sequence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whatever built-in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 knowledge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agent has.</a:t>
            </a:r>
            <a:endParaRPr/>
          </a:p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percept sequence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complete history of anything the agent has ever perceived.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measure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means of calculating how well the agent has performed based on the sequence of percepts that it has received.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agent’s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 knowledge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environment is the knowledge that the agent designer has given to the agent before its introduction to the environment.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Rational Agent</a:t>
            </a:r>
            <a:endParaRPr/>
          </a:p>
        </p:txBody>
      </p:sp>
      <p:sp>
        <p:nvSpPr>
          <p:cNvPr id="173" name="Google Shape;173;p10"/>
          <p:cNvSpPr txBox="1"/>
          <p:nvPr>
            <p:ph idx="1" type="body"/>
          </p:nvPr>
        </p:nvSpPr>
        <p:spPr>
          <a:xfrm>
            <a:off x="457200" y="1447800"/>
            <a:ext cx="8229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500"/>
              <a:buFont typeface="Noto Sans Symbols"/>
              <a:buChar char="❑"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agent's behavior is described by the </a:t>
            </a:r>
            <a:r>
              <a:rPr b="0" i="1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function 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maps percept sequences to actions.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0" i="1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f 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seq(</a:t>
            </a:r>
            <a:r>
              <a:rPr b="0" i="1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→</a:t>
            </a:r>
            <a:r>
              <a:rPr b="0" i="1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500"/>
              <a:buFont typeface="Noto Sans Symbols"/>
              <a:buChar char="❑"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function for vacuum cleaner example:</a:t>
            </a:r>
            <a:endParaRPr/>
          </a:p>
        </p:txBody>
      </p:sp>
      <p:sp>
        <p:nvSpPr>
          <p:cNvPr id="174" name="Google Shape;174;p10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75" name="Google Shape;17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581400"/>
            <a:ext cx="8077200" cy="29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/>
        </p:nvSpPr>
        <p:spPr>
          <a:xfrm>
            <a:off x="381000" y="2432050"/>
            <a:ext cx="2289175" cy="434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i="0" lang="en-US" sz="24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erformance Measures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i="0" lang="en-US" sz="24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nvironment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24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ctuators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i="0" lang="en-US" sz="24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ensors</a:t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2898775" y="4570412"/>
            <a:ext cx="5407025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used by the agent to perform actions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2895600" y="3657600"/>
            <a:ext cx="6248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surroundings beyond the control of the agent</a:t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2897187" y="2438400"/>
            <a:ext cx="5027612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used to evaluate how well an agent solves the task at hand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2898775" y="5429250"/>
            <a:ext cx="609282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provide information about the current state of the environment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381000" y="1371600"/>
            <a:ext cx="86106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design a rational agent we must specify its task environment:</a:t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Task Environments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195" name="Google Shape;195;p12"/>
          <p:cNvSpPr txBox="1"/>
          <p:nvPr>
            <p:ph idx="1" type="body"/>
          </p:nvPr>
        </p:nvSpPr>
        <p:spPr>
          <a:xfrm>
            <a:off x="152400" y="1371600"/>
            <a:ext cx="8839200" cy="475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PEAS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 of the environment for an automated taxi: 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Safety, destination, profits, legality, comfort</a:t>
            </a:r>
            <a:endParaRPr/>
          </a:p>
          <a:p>
            <a:pPr indent="-285750" lvl="1" marL="74295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Streets/motorways, other traffic, pedestrians, weather</a:t>
            </a:r>
            <a:endParaRPr/>
          </a:p>
          <a:p>
            <a:pPr indent="-285750" lvl="1" marL="74295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Actuators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Steering, accelerator, brake, horn, speaker/display</a:t>
            </a:r>
            <a:endParaRPr/>
          </a:p>
          <a:p>
            <a:pPr indent="-285750" lvl="1" marL="74295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endParaRPr/>
          </a:p>
          <a:p>
            <a:pPr indent="-342900" lvl="0" marL="34290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Video, sonar, speedometer, engine sensors, keyboard, GPS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/>
          <p:nvPr>
            <p:ph type="title"/>
          </p:nvPr>
        </p:nvSpPr>
        <p:spPr>
          <a:xfrm>
            <a:off x="457200" y="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Example…</a:t>
            </a: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04" name="Google Shape;2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3"/>
          <p:cNvSpPr txBox="1"/>
          <p:nvPr/>
        </p:nvSpPr>
        <p:spPr>
          <a:xfrm>
            <a:off x="3124200" y="66294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omic Sans MS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Md. Tarek Habib</a:t>
            </a:r>
            <a:endParaRPr/>
          </a:p>
        </p:txBody>
      </p:sp>
      <p:pic>
        <p:nvPicPr>
          <p:cNvPr id="206" name="Google Shape;20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0" y="685800"/>
            <a:ext cx="6991350" cy="6215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/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sp>
        <p:nvSpPr>
          <p:cNvPr id="212" name="Google Shape;212;p14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environment for an agent may be 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Fully or partially observable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Deterministic or stochastic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Episodic or sequential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Static or dynamic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Discrete or continuous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Single or multi-agent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14" name="Google Shape;2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pic>
        <p:nvPicPr>
          <p:cNvPr id="221" name="Google Shape;2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5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23" name="Google Shape;2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1954212"/>
            <a:ext cx="3810000" cy="439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 txBox="1"/>
          <p:nvPr/>
        </p:nvSpPr>
        <p:spPr>
          <a:xfrm>
            <a:off x="6629400" y="6057900"/>
            <a:ext cx="1600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Backgammom</a:t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609600" y="6289675"/>
            <a:ext cx="1600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Solitaire</a:t>
            </a:r>
            <a:endParaRPr/>
          </a:p>
        </p:txBody>
      </p:sp>
      <p:pic>
        <p:nvPicPr>
          <p:cNvPr id="226" name="Google Shape;2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650" y="2543175"/>
            <a:ext cx="5060950" cy="3665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232" name="Google Shape;232;p16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3" name="Google Shape;2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6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241" name="Google Shape;241;p17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17"/>
          <p:cNvSpPr txBox="1"/>
          <p:nvPr/>
        </p:nvSpPr>
        <p:spPr>
          <a:xfrm>
            <a:off x="457200" y="2133600"/>
            <a:ext cx="81534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Fully vs. partially observable</a:t>
            </a: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an environment is full observable when the sensors can detect all aspects that are relevant to the choice of action. </a:t>
            </a:r>
            <a:endParaRPr/>
          </a:p>
        </p:txBody>
      </p:sp>
      <p:pic>
        <p:nvPicPr>
          <p:cNvPr id="243" name="Google Shape;2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250" name="Google Shape;250;p18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18"/>
          <p:cNvSpPr txBox="1"/>
          <p:nvPr/>
        </p:nvSpPr>
        <p:spPr>
          <a:xfrm>
            <a:off x="457200" y="2133600"/>
            <a:ext cx="81534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Fully vs. partially observable</a:t>
            </a: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an environment is full observable when the sensors can detect all aspects that are relevant to the choice of action. </a:t>
            </a:r>
            <a:endParaRPr/>
          </a:p>
        </p:txBody>
      </p:sp>
      <p:pic>
        <p:nvPicPr>
          <p:cNvPr id="252" name="Google Shape;2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8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260" name="Google Shape;260;p19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19"/>
          <p:cNvSpPr txBox="1"/>
          <p:nvPr/>
        </p:nvSpPr>
        <p:spPr>
          <a:xfrm>
            <a:off x="457200" y="1992312"/>
            <a:ext cx="81534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Deterministic vs. stochastic</a:t>
            </a: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if the next environment state is completely determined by the current state the executed action then the environment is deterministic.</a:t>
            </a:r>
            <a:endParaRPr/>
          </a:p>
        </p:txBody>
      </p:sp>
      <p:pic>
        <p:nvPicPr>
          <p:cNvPr id="262" name="Google Shape;2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9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270" name="Google Shape;270;p20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1" name="Google Shape;271;p20"/>
          <p:cNvSpPr txBox="1"/>
          <p:nvPr/>
        </p:nvSpPr>
        <p:spPr>
          <a:xfrm>
            <a:off x="381000" y="1981200"/>
            <a:ext cx="8229600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0" spcFirstLastPara="1" rIns="0" wrap="square" tIns="9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Deterministic vs. stochastic</a:t>
            </a: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if the next environment state is completely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determined by the current state the executed action then the environment is deterministic.</a:t>
            </a:r>
            <a:endParaRPr/>
          </a:p>
        </p:txBody>
      </p:sp>
      <p:pic>
        <p:nvPicPr>
          <p:cNvPr id="272" name="Google Shape;2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0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280" name="Google Shape;280;p21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21"/>
          <p:cNvSpPr txBox="1"/>
          <p:nvPr/>
        </p:nvSpPr>
        <p:spPr>
          <a:xfrm>
            <a:off x="381000" y="1676400"/>
            <a:ext cx="83058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Episodic vs. sequential</a:t>
            </a: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In an episodic environment the agent’s experience can be divided into atomic steps where the agents perceives and then performs  a single action. The choice of action depends only on the episode itself.</a:t>
            </a:r>
            <a:endParaRPr/>
          </a:p>
        </p:txBody>
      </p:sp>
      <p:pic>
        <p:nvPicPr>
          <p:cNvPr id="282" name="Google Shape;2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290" name="Google Shape;290;p22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22"/>
          <p:cNvSpPr txBox="1"/>
          <p:nvPr/>
        </p:nvSpPr>
        <p:spPr>
          <a:xfrm>
            <a:off x="457200" y="1752600"/>
            <a:ext cx="81534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Episodic vs. sequential</a:t>
            </a: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In an episodic environment the agent’s experience can be divided into atomic steps where the agents perceives and then performs a single action. The choice of action depends only on the episode itself </a:t>
            </a:r>
            <a:endParaRPr/>
          </a:p>
        </p:txBody>
      </p:sp>
      <p:pic>
        <p:nvPicPr>
          <p:cNvPr id="292" name="Google Shape;2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300" name="Google Shape;300;p23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1" name="Google Shape;301;p23"/>
          <p:cNvSpPr txBox="1"/>
          <p:nvPr/>
        </p:nvSpPr>
        <p:spPr>
          <a:xfrm>
            <a:off x="381000" y="1752600"/>
            <a:ext cx="83058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Static vs. dynamic</a:t>
            </a:r>
            <a:r>
              <a:rPr b="0" i="0" lang="en-US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If the environment can change while the agent is choosing an action, the environment is dynamic. Semi-dynamic if the agent’s performance changes even when the environment remains the same. </a:t>
            </a:r>
            <a:endParaRPr/>
          </a:p>
        </p:txBody>
      </p:sp>
      <p:pic>
        <p:nvPicPr>
          <p:cNvPr id="302" name="Google Shape;3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3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310" name="Google Shape;310;p24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SEMI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24"/>
          <p:cNvSpPr txBox="1"/>
          <p:nvPr/>
        </p:nvSpPr>
        <p:spPr>
          <a:xfrm>
            <a:off x="457200" y="1981200"/>
            <a:ext cx="82296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Static vs. dynamic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If the environment can change while the agent is choosing an action, the environment is dynamic.  Semi-dynamic if the agent’s performance  changes even when the environment remains the same. </a:t>
            </a:r>
            <a:endParaRPr/>
          </a:p>
        </p:txBody>
      </p:sp>
      <p:pic>
        <p:nvPicPr>
          <p:cNvPr id="312" name="Google Shape;3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320" name="Google Shape;320;p25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SEMI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accen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1" name="Google Shape;321;p25"/>
          <p:cNvSpPr txBox="1"/>
          <p:nvPr/>
        </p:nvSpPr>
        <p:spPr>
          <a:xfrm>
            <a:off x="457200" y="1981200"/>
            <a:ext cx="82296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Discrete vs. continuous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This distinction can be applied to the state of the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environment, the way time is handled and to the percepts/actions of the agent. </a:t>
            </a:r>
            <a:endParaRPr/>
          </a:p>
        </p:txBody>
      </p:sp>
      <p:pic>
        <p:nvPicPr>
          <p:cNvPr id="322" name="Google Shape;3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330" name="Google Shape;330;p26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SEMI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1" name="Google Shape;331;p26"/>
          <p:cNvSpPr txBox="1"/>
          <p:nvPr/>
        </p:nvSpPr>
        <p:spPr>
          <a:xfrm>
            <a:off x="449262" y="1981200"/>
            <a:ext cx="82375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Discrete vs. continuous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This distinction can be applied to the state of the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environment, the way time is handled and to the percepts/actions of the agent. </a:t>
            </a:r>
            <a:endParaRPr/>
          </a:p>
        </p:txBody>
      </p:sp>
      <p:pic>
        <p:nvPicPr>
          <p:cNvPr id="332" name="Google Shape;3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graphicFrame>
        <p:nvGraphicFramePr>
          <p:cNvPr id="340" name="Google Shape;340;p27"/>
          <p:cNvGraphicFramePr/>
          <p:nvPr/>
        </p:nvGraphicFramePr>
        <p:xfrm>
          <a:off x="457200" y="327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{F8D17119-956D-4826-90A0-7947BE7099A4}</a:tableStyleId>
              </a:tblPr>
              <a:tblGrid>
                <a:gridCol w="1706550"/>
                <a:gridCol w="1341425"/>
                <a:gridCol w="1828800"/>
                <a:gridCol w="1951025"/>
                <a:gridCol w="1325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Backgammom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Taxi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Observable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SEMI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Single-agent</a:t>
                      </a: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1" name="Google Shape;341;p27"/>
          <p:cNvSpPr txBox="1"/>
          <p:nvPr/>
        </p:nvSpPr>
        <p:spPr>
          <a:xfrm>
            <a:off x="457200" y="1981200"/>
            <a:ext cx="81534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Single vs. multi-agent</a:t>
            </a: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 Does the environment contain other agents who are also maximizing some performance measure that depends on the current agent’s actions?</a:t>
            </a:r>
            <a:endParaRPr/>
          </a:p>
        </p:txBody>
      </p:sp>
      <p:pic>
        <p:nvPicPr>
          <p:cNvPr id="342" name="Google Shape;3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7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Environment Types</a:t>
            </a:r>
            <a:endParaRPr/>
          </a:p>
        </p:txBody>
      </p:sp>
      <p:sp>
        <p:nvSpPr>
          <p:cNvPr id="349" name="Google Shape;349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simplest environment is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observable, deterministic, episodic, static, discrete and single-agent.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CC3300"/>
              </a:buClr>
              <a:buSzPts val="3200"/>
              <a:buFont typeface="Noto Sans Symbols"/>
              <a:buChar char="❑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real situations are: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Partially observable, stochastic, sequential, dynamic, continuous and multi-agent.</a:t>
            </a:r>
            <a:endParaRPr/>
          </a:p>
        </p:txBody>
      </p:sp>
      <p:pic>
        <p:nvPicPr>
          <p:cNvPr id="350" name="Google Shape;3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8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"/>
          <p:cNvSpPr txBox="1"/>
          <p:nvPr>
            <p:ph type="title"/>
          </p:nvPr>
        </p:nvSpPr>
        <p:spPr>
          <a:xfrm>
            <a:off x="381000" y="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Agent Types</a:t>
            </a:r>
            <a:endParaRPr/>
          </a:p>
        </p:txBody>
      </p:sp>
      <p:sp>
        <p:nvSpPr>
          <p:cNvPr id="357" name="Google Shape;357;p29"/>
          <p:cNvSpPr txBox="1"/>
          <p:nvPr>
            <p:ph idx="1" type="body"/>
          </p:nvPr>
        </p:nvSpPr>
        <p:spPr>
          <a:xfrm>
            <a:off x="228600" y="1600200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basic kinds of agent that embody the principles underlying almost all intelligent systems: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Simple reflex agents;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Model-based reflex agents;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Goal-based agents; 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Utility-based agents.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359" name="Google Shape;35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0"/>
          <p:cNvSpPr txBox="1"/>
          <p:nvPr>
            <p:ph type="title"/>
          </p:nvPr>
        </p:nvSpPr>
        <p:spPr>
          <a:xfrm>
            <a:off x="381000" y="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Agent Types: Simple Reflex</a:t>
            </a:r>
            <a:endParaRPr/>
          </a:p>
        </p:txBody>
      </p:sp>
      <p:sp>
        <p:nvSpPr>
          <p:cNvPr id="365" name="Google Shape;365;p30"/>
          <p:cNvSpPr txBox="1"/>
          <p:nvPr>
            <p:ph idx="1" type="body"/>
          </p:nvPr>
        </p:nvSpPr>
        <p:spPr>
          <a:xfrm>
            <a:off x="0" y="1295400"/>
            <a:ext cx="4572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3429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action on the basis of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the current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percept,</a:t>
            </a:r>
            <a:endParaRPr/>
          </a:p>
          <a:p>
            <a:pPr indent="-342900" lvl="0" marL="342900" rtl="0" algn="just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e.g. the vacuum-agent</a:t>
            </a:r>
            <a:endParaRPr/>
          </a:p>
          <a:p>
            <a:pPr indent="-342900" lvl="0" marL="342900" rtl="0" algn="just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reduction in possible percept/action situations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Implemented through    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condition-action rules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   </a:t>
            </a:r>
            <a:r>
              <a:rPr b="0" i="1" lang="en-US" sz="22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if dirty then suck</a:t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i="0" sz="2000" u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Agent: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Mail sorting robot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Conveyor belt of letters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Rule: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0" i="1" lang="en-US" sz="20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city = Edin → put Scotland bag</a:t>
            </a:r>
            <a:endParaRPr/>
          </a:p>
        </p:txBody>
      </p:sp>
      <p:pic>
        <p:nvPicPr>
          <p:cNvPr id="366" name="Google Shape;366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2133600"/>
            <a:ext cx="44958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0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368" name="Google Shape;36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1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Agent Types: Model-Based</a:t>
            </a:r>
            <a:endParaRPr/>
          </a:p>
        </p:txBody>
      </p:sp>
      <p:sp>
        <p:nvSpPr>
          <p:cNvPr id="374" name="Google Shape;374;p31"/>
          <p:cNvSpPr txBox="1"/>
          <p:nvPr>
            <p:ph idx="1" type="body"/>
          </p:nvPr>
        </p:nvSpPr>
        <p:spPr>
          <a:xfrm>
            <a:off x="0" y="1066800"/>
            <a:ext cx="45720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34290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tackle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partially observable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environments</a:t>
            </a:r>
            <a:endParaRPr/>
          </a:p>
          <a:p>
            <a:pPr indent="-342900" lvl="0" marL="34290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Maintain internal state that depends on percept history </a:t>
            </a:r>
            <a:endParaRPr/>
          </a:p>
          <a:p>
            <a:pPr indent="-342900" lvl="0" marL="34290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time update state using world knowledge</a:t>
            </a:r>
            <a:endParaRPr/>
          </a:p>
          <a:p>
            <a:pPr indent="-342900" lvl="0" marL="34290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the world change independently</a:t>
            </a:r>
            <a:endParaRPr/>
          </a:p>
          <a:p>
            <a:pPr indent="-342900" lvl="0" marL="34290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actions affect the world</a:t>
            </a:r>
            <a:endParaRPr/>
          </a:p>
          <a:p>
            <a:pPr indent="-342900" lvl="0" marL="342900" rtl="0" algn="just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i="0" sz="2000" u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Agent: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Robot vacuum cleaner</a:t>
            </a:r>
            <a:endParaRPr/>
          </a:p>
          <a:p>
            <a:pPr indent="-285750" lvl="1" marL="742950" rtl="0" algn="just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Dirty room, furniture</a:t>
            </a:r>
            <a:endParaRPr/>
          </a:p>
          <a:p>
            <a:pPr indent="-285750" lvl="1" marL="742950" rtl="0" algn="just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of room, which areas already cleaned</a:t>
            </a:r>
            <a:endParaRPr/>
          </a:p>
        </p:txBody>
      </p:sp>
      <p:pic>
        <p:nvPicPr>
          <p:cNvPr id="375" name="Google Shape;375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2057400"/>
            <a:ext cx="44577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1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377" name="Google Shape;37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Agent Types: Goal-Based</a:t>
            </a:r>
            <a:endParaRPr/>
          </a:p>
        </p:txBody>
      </p:sp>
      <p:sp>
        <p:nvSpPr>
          <p:cNvPr id="383" name="Google Shape;383;p32"/>
          <p:cNvSpPr txBox="1"/>
          <p:nvPr>
            <p:ph idx="1" type="body"/>
          </p:nvPr>
        </p:nvSpPr>
        <p:spPr>
          <a:xfrm>
            <a:off x="0" y="1066800"/>
            <a:ext cx="47244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34290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agent needs a goal to know which situations are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desirable</a:t>
            </a:r>
            <a:endParaRPr/>
          </a:p>
          <a:p>
            <a:pPr indent="-342900" lvl="0" marL="34290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Difficulties arise when long sequences of actions are required to find the goal</a:t>
            </a:r>
            <a:endParaRPr/>
          </a:p>
          <a:p>
            <a:pPr indent="-342900" lvl="0" marL="34290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Typically investigated in 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planning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/>
          </a:p>
          <a:p>
            <a:pPr indent="-342900" lvl="0" marL="34290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Major difference: future is taken into account</a:t>
            </a:r>
            <a:endParaRPr/>
          </a:p>
          <a:p>
            <a:pPr indent="-342900" lvl="0" marL="34290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i="0" sz="2000" u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Agent: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Robot maid</a:t>
            </a:r>
            <a:endParaRPr/>
          </a:p>
          <a:p>
            <a:pPr indent="-285750" lvl="1" marL="74295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House and people</a:t>
            </a:r>
            <a:endParaRPr/>
          </a:p>
          <a:p>
            <a:pPr indent="-285750" lvl="1" marL="742950" rtl="0" algn="just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 clothes, tidy room, table laid, etc</a:t>
            </a:r>
            <a:endParaRPr/>
          </a:p>
        </p:txBody>
      </p:sp>
      <p:pic>
        <p:nvPicPr>
          <p:cNvPr id="384" name="Google Shape;384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057400"/>
            <a:ext cx="4343400" cy="32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2"/>
          <p:cNvSpPr txBox="1"/>
          <p:nvPr/>
        </p:nvSpPr>
        <p:spPr>
          <a:xfrm>
            <a:off x="6934200" y="6550025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386" name="Google Shape;38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3"/>
          <p:cNvSpPr txBox="1"/>
          <p:nvPr/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2" name="Google Shape;392;p33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Agent Types: Utility-Based</a:t>
            </a:r>
            <a:endParaRPr/>
          </a:p>
        </p:txBody>
      </p:sp>
      <p:sp>
        <p:nvSpPr>
          <p:cNvPr id="393" name="Google Shape;393;p33"/>
          <p:cNvSpPr txBox="1"/>
          <p:nvPr>
            <p:ph idx="1" type="body"/>
          </p:nvPr>
        </p:nvSpPr>
        <p:spPr>
          <a:xfrm>
            <a:off x="0" y="838200"/>
            <a:ext cx="4572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Certain goals can be reached in different ways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are better: have a higher 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utility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Utility function maps a (sequence of) state(s) onto a real number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Improves on goals: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Selecting between conflicting goals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Selecting between several goals based on likelihood of success and importance of goals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❑"/>
            </a:pPr>
            <a:r>
              <a:rPr b="0" i="0" lang="en-US" sz="22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i="0" sz="2000" u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Agent: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Mars Lander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Environment: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surface of mars with obstacles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–"/>
            </a:pPr>
            <a:r>
              <a:rPr b="0" i="0" lang="en-US" sz="200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Utility: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Shortest and obstacle-free path</a:t>
            </a:r>
            <a:endParaRPr/>
          </a:p>
        </p:txBody>
      </p:sp>
      <p:pic>
        <p:nvPicPr>
          <p:cNvPr id="394" name="Google Shape;394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905000"/>
            <a:ext cx="4495800" cy="33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4"/>
          <p:cNvSpPr txBox="1"/>
          <p:nvPr>
            <p:ph idx="1" type="body"/>
          </p:nvPr>
        </p:nvSpPr>
        <p:spPr>
          <a:xfrm>
            <a:off x="1524000" y="381000"/>
            <a:ext cx="6172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600"/>
              <a:buFont typeface="EB Garamond"/>
              <a:buNone/>
            </a:pPr>
            <a:r>
              <a:rPr b="0" i="0" lang="en-US" sz="6600" u="none">
                <a:solidFill>
                  <a:srgbClr val="C00000"/>
                </a:solidFill>
                <a:latin typeface="EB Garamond"/>
                <a:ea typeface="EB Garamond"/>
                <a:cs typeface="EB Garamond"/>
                <a:sym typeface="EB Garamond"/>
              </a:rPr>
              <a:t>THANKS…</a:t>
            </a:r>
            <a:endParaRPr/>
          </a:p>
        </p:txBody>
      </p:sp>
      <p:pic>
        <p:nvPicPr>
          <p:cNvPr id="401" name="Google Shape;4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05000"/>
            <a:ext cx="7608887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720" y="0"/>
            <a:ext cx="1097280" cy="1097280"/>
          </a:xfrm>
          <a:prstGeom prst="rect">
            <a:avLst/>
          </a:prstGeom>
          <a:noFill/>
          <a:ln>
            <a:noFill/>
          </a:ln>
          <a:effectLst>
            <a:reflection blurRad="0" dir="0" dist="0" endA="300" endPos="55000" kx="0" rotWithShape="0" algn="bl" stA="50000" stPos="0" sy="-100000" ky="0"/>
          </a:effectLst>
        </p:spPr>
      </p:pic>
    </p:spTree>
  </p:cSld>
  <p:clrMapOvr>
    <a:masterClrMapping/>
  </p:clrMapOvr>
  <p:transition spd="med"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4">
      <a:dk1>
        <a:srgbClr val="000000"/>
      </a:dk1>
      <a:lt1>
        <a:srgbClr val="DEF6F1"/>
      </a:lt1>
      <a:dk2>
        <a:srgbClr val="000000"/>
      </a:dk2>
      <a:lt2>
        <a:srgbClr val="969696"/>
      </a:lt2>
      <a:accent1>
        <a:srgbClr val="FFFFFF"/>
      </a:accent1>
      <a:accent2>
        <a:srgbClr val="8DC6FF"/>
      </a:accent2>
      <a:accent3>
        <a:srgbClr val="ECFAF7"/>
      </a:accent3>
      <a:accent4>
        <a:srgbClr val="000000"/>
      </a:accent4>
      <a:accent5>
        <a:srgbClr val="FFFFFF"/>
      </a:accent5>
      <a:accent6>
        <a:srgbClr val="7FB3E7"/>
      </a:accent6>
      <a:hlink>
        <a:srgbClr val="0066CC"/>
      </a:hlink>
      <a:folHlink>
        <a:srgbClr val="00A8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Default Design">
  <a:themeElements>
    <a:clrScheme name="Default Design 4">
      <a:dk1>
        <a:srgbClr val="000000"/>
      </a:dk1>
      <a:lt1>
        <a:srgbClr val="DEF6F1"/>
      </a:lt1>
      <a:dk2>
        <a:srgbClr val="000000"/>
      </a:dk2>
      <a:lt2>
        <a:srgbClr val="969696"/>
      </a:lt2>
      <a:accent1>
        <a:srgbClr val="FFFFFF"/>
      </a:accent1>
      <a:accent2>
        <a:srgbClr val="8DC6FF"/>
      </a:accent2>
      <a:accent3>
        <a:srgbClr val="ECFAF7"/>
      </a:accent3>
      <a:accent4>
        <a:srgbClr val="000000"/>
      </a:accent4>
      <a:accent5>
        <a:srgbClr val="FFFFFF"/>
      </a:accent5>
      <a:accent6>
        <a:srgbClr val="7FB3E7"/>
      </a:accent6>
      <a:hlink>
        <a:srgbClr val="0066CC"/>
      </a:hlink>
      <a:folHlink>
        <a:srgbClr val="00A8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2010-10-20T20:10:34Z</dcterms:created>
  <dc:creator>Md. Tarek Habib Mihir</dc:creator>
</cp:coreProperties>
</file>